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90"/>
  </p:handoutMasterIdLst>
  <p:sldIdLst>
    <p:sldId id="256" r:id="rId2"/>
    <p:sldId id="257" r:id="rId3"/>
    <p:sldId id="258" r:id="rId4"/>
    <p:sldId id="273" r:id="rId5"/>
    <p:sldId id="259" r:id="rId6"/>
    <p:sldId id="284" r:id="rId7"/>
    <p:sldId id="285" r:id="rId8"/>
    <p:sldId id="286" r:id="rId9"/>
    <p:sldId id="287" r:id="rId10"/>
    <p:sldId id="288" r:id="rId11"/>
    <p:sldId id="289" r:id="rId12"/>
    <p:sldId id="260" r:id="rId13"/>
    <p:sldId id="261" r:id="rId14"/>
    <p:sldId id="262" r:id="rId15"/>
    <p:sldId id="266" r:id="rId16"/>
    <p:sldId id="274" r:id="rId17"/>
    <p:sldId id="267" r:id="rId18"/>
    <p:sldId id="268" r:id="rId19"/>
    <p:sldId id="269" r:id="rId20"/>
    <p:sldId id="270" r:id="rId21"/>
    <p:sldId id="271" r:id="rId22"/>
    <p:sldId id="272" r:id="rId23"/>
    <p:sldId id="265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91" r:id="rId34"/>
    <p:sldId id="290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300" r:id="rId43"/>
    <p:sldId id="299" r:id="rId44"/>
    <p:sldId id="301" r:id="rId45"/>
    <p:sldId id="302" r:id="rId46"/>
    <p:sldId id="303" r:id="rId47"/>
    <p:sldId id="304" r:id="rId48"/>
    <p:sldId id="319" r:id="rId49"/>
    <p:sldId id="320" r:id="rId50"/>
    <p:sldId id="321" r:id="rId51"/>
    <p:sldId id="322" r:id="rId52"/>
    <p:sldId id="323" r:id="rId53"/>
    <p:sldId id="324" r:id="rId54"/>
    <p:sldId id="325" r:id="rId55"/>
    <p:sldId id="326" r:id="rId56"/>
    <p:sldId id="327" r:id="rId57"/>
    <p:sldId id="329" r:id="rId58"/>
    <p:sldId id="328" r:id="rId59"/>
    <p:sldId id="330" r:id="rId60"/>
    <p:sldId id="333" r:id="rId61"/>
    <p:sldId id="331" r:id="rId62"/>
    <p:sldId id="332" r:id="rId63"/>
    <p:sldId id="334" r:id="rId64"/>
    <p:sldId id="336" r:id="rId65"/>
    <p:sldId id="337" r:id="rId66"/>
    <p:sldId id="338" r:id="rId67"/>
    <p:sldId id="339" r:id="rId68"/>
    <p:sldId id="340" r:id="rId69"/>
    <p:sldId id="341" r:id="rId70"/>
    <p:sldId id="342" r:id="rId71"/>
    <p:sldId id="343" r:id="rId72"/>
    <p:sldId id="344" r:id="rId73"/>
    <p:sldId id="345" r:id="rId74"/>
    <p:sldId id="346" r:id="rId75"/>
    <p:sldId id="347" r:id="rId76"/>
    <p:sldId id="348" r:id="rId77"/>
    <p:sldId id="349" r:id="rId78"/>
    <p:sldId id="350" r:id="rId79"/>
    <p:sldId id="351" r:id="rId80"/>
    <p:sldId id="352" r:id="rId81"/>
    <p:sldId id="353" r:id="rId82"/>
    <p:sldId id="354" r:id="rId83"/>
    <p:sldId id="355" r:id="rId84"/>
    <p:sldId id="356" r:id="rId85"/>
    <p:sldId id="357" r:id="rId86"/>
    <p:sldId id="358" r:id="rId87"/>
    <p:sldId id="359" r:id="rId88"/>
    <p:sldId id="318" r:id="rId8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D7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96"/>
    <p:restoredTop sz="97182"/>
  </p:normalViewPr>
  <p:slideViewPr>
    <p:cSldViewPr snapToGrid="0" snapToObjects="1">
      <p:cViewPr varScale="1">
        <p:scale>
          <a:sx n="117" d="100"/>
          <a:sy n="117" d="100"/>
        </p:scale>
        <p:origin x="-894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48"/>
    </p:cViewPr>
  </p:sorterViewPr>
  <p:notesViewPr>
    <p:cSldViewPr snapToGrid="0" snapToObjects="1">
      <p:cViewPr varScale="1">
        <p:scale>
          <a:sx n="100" d="100"/>
          <a:sy n="100" d="100"/>
        </p:scale>
        <p:origin x="355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handoutMaster" Target="handoutMasters/handout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xmlns="" id="{BF578E06-E69E-01E7-6A50-4FE45DFCDAE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52C33462-DDA0-8273-5D0A-4CD4C0A2A09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F6DF4-F5AD-48C0-84F0-9A355EC7E541}" type="datetimeFigureOut">
              <a:rPr lang="ru-RU" smtClean="0"/>
              <a:t>03.04.2026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4237F5B6-AA30-7B5B-FA42-C5C96CC09D9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24C86945-0C3F-802E-A6DA-9E66BCCB688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DE250D-436E-4D08-A4F3-3ACDBEF547F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90958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9C3ABAF-426A-A74A-8DE7-C2656DEE2C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A407D179-5355-B444-8209-BE2239B22B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1259317F-0A0A-8041-B9CD-70EE6A9BA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E317D-756E-D74B-8647-ED717DA47D5B}" type="datetimeFigureOut">
              <a:rPr lang="ru-RU" smtClean="0"/>
              <a:t>03.04.2026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E251313D-0466-D94B-AA34-60F9418E6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237AECBC-7DF0-D34A-9105-F5886EAC2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A172E-5662-A642-A0BF-BC541C19C31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874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BC0BF54-0FFA-3343-961C-FF8B9B5BD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95F13886-A4B0-9B42-B8D3-3C1BE2B44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11BC9FC9-526A-704E-AB53-6E48ED044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E317D-756E-D74B-8647-ED717DA47D5B}" type="datetimeFigureOut">
              <a:rPr lang="ru-RU" smtClean="0"/>
              <a:t>03.04.2026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752F1CD1-A474-BC4A-888A-5F4040535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BF6F0223-1DCC-4940-AE00-2A90631D1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A172E-5662-A642-A0BF-BC541C19C31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6434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F5EF228-1FBE-7643-B8D4-43A03D8C3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E97CAF97-943D-754B-AB67-C105246E6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1257AA7A-2A9C-8044-9AB1-1B590AC89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E317D-756E-D74B-8647-ED717DA47D5B}" type="datetimeFigureOut">
              <a:rPr lang="ru-RU" smtClean="0"/>
              <a:t>03.04.2026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73143C1B-BE31-E941-82CA-F292B7132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115B0B94-9BB0-574A-817E-13C1C1A36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A172E-5662-A642-A0BF-BC541C19C31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16071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CE88AED-A88E-734E-B585-1CC9A8DC0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D893127B-D5E8-F94B-B60E-A8C63CA3B6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98E3E720-FF84-4D44-B0B0-33DF3A02B1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4D35ACF6-8551-8C45-A8E2-29AB3A8FE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E317D-756E-D74B-8647-ED717DA47D5B}" type="datetimeFigureOut">
              <a:rPr lang="ru-RU" smtClean="0"/>
              <a:t>03.04.2026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88D62D2D-B57C-504F-A760-23D570CAF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29C66B8D-3574-5840-A156-10615AF55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A172E-5662-A642-A0BF-BC541C19C31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71154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6A6A8FA-96EF-744A-98B3-36EA72777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B2FA1909-277A-D141-AB60-F39653C6F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998C32EF-DADA-C74A-9E21-59799A26EE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F9DD7B70-D3AC-7F4A-9721-24BC9E8E39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A1851136-7C05-6947-B761-AF4179D301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xmlns="" id="{B4F4FCFF-E7A2-594A-86F3-BB9543563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E317D-756E-D74B-8647-ED717DA47D5B}" type="datetimeFigureOut">
              <a:rPr lang="ru-RU" smtClean="0"/>
              <a:t>03.04.2026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xmlns="" id="{FE40C0A7-2766-3848-9D60-38AC24CAB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4A62D844-A432-5548-ACF4-BB6D36E03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A172E-5662-A642-A0BF-BC541C19C31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23716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363EF9C-41FA-9546-9F45-7D2D3A23B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C411C073-4FF0-AD44-84B3-9DCC3BF3B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E317D-756E-D74B-8647-ED717DA47D5B}" type="datetimeFigureOut">
              <a:rPr lang="ru-RU" smtClean="0"/>
              <a:t>03.04.2026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B6938DE0-96C8-2C4D-B162-F15DCA853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D8F07E36-4F87-ED45-8BCC-7D3E5C1AA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A172E-5662-A642-A0BF-BC541C19C31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0510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xmlns="" id="{AC2CC54F-07F1-F044-8816-43C2ED080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E317D-756E-D74B-8647-ED717DA47D5B}" type="datetimeFigureOut">
              <a:rPr lang="ru-RU" smtClean="0"/>
              <a:t>03.04.2026</a:t>
            </a:fld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xmlns="" id="{D1D11D19-2C0B-F844-9CD1-AE1CDA8CE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255EE3B7-29DA-B24D-9C81-3DB84F618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A172E-5662-A642-A0BF-BC541C19C31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55601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A5D4775-F457-944C-9899-FAF600EBA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0409117B-37E7-3340-899C-CC93E48AB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C72A9C7E-0B3B-A34C-8312-557FA3B89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0E799E54-FAC3-DB41-80A1-65F19EB01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E317D-756E-D74B-8647-ED717DA47D5B}" type="datetimeFigureOut">
              <a:rPr lang="ru-RU" smtClean="0"/>
              <a:t>03.04.2026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A5CE3386-FBE0-9340-BA56-63A704B50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80FA3AB4-C268-1249-B875-12969FC9C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A172E-5662-A642-A0BF-BC541C19C31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5651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931C19E-0DE3-3347-854E-C0850843B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xmlns="" id="{E467559A-B9FB-5548-A815-1133AAF607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416EC28F-F8B8-6D4E-A80B-60E471DC89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B03C068B-C943-2943-838B-560BC382E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E317D-756E-D74B-8647-ED717DA47D5B}" type="datetimeFigureOut">
              <a:rPr lang="ru-RU" smtClean="0"/>
              <a:t>03.04.2026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01C888A5-B1EE-E74C-A5AD-886B1C90F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552144B3-9F36-C046-9E03-53A18743F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A172E-5662-A642-A0BF-BC541C19C31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7388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ADA5737-5B71-1545-A227-6A820D3FF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B662B8DE-BB88-C64C-977E-2BC1144518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41B2BA83-A0CC-8745-8005-76C55D722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E317D-756E-D74B-8647-ED717DA47D5B}" type="datetimeFigureOut">
              <a:rPr lang="ru-RU" smtClean="0"/>
              <a:t>03.04.2026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CDAD7C14-FB83-5C44-9787-C050CF237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44E9B508-4EE1-7E41-9F42-532A728D1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A172E-5662-A642-A0BF-BC541C19C31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53039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xmlns="" id="{CA5C2155-7D7B-664A-8357-43DCD8510C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BE87FF66-22DC-7646-AA33-9F1FFB09FB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2BC3556C-5300-4340-BB3E-07242DADE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E317D-756E-D74B-8647-ED717DA47D5B}" type="datetimeFigureOut">
              <a:rPr lang="ru-RU" smtClean="0"/>
              <a:t>03.04.2026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50569031-2277-7A48-B040-53767FAB7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F66560A2-A1EA-4047-849B-78D628C7A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A172E-5662-A642-A0BF-BC541C19C31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24525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E3332F4-4030-B64A-9BA4-CB0269533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D74ECAD3-766F-8E44-896D-FBA5C421F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26CEFBCF-95AD-174C-8889-64EBC48838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FE317D-756E-D74B-8647-ED717DA47D5B}" type="datetimeFigureOut">
              <a:rPr lang="ru-RU" smtClean="0"/>
              <a:t>03.04.2026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98290FCF-807B-4442-8ACF-010682BC85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F1DBA250-888A-314A-BE9D-177E5215A2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BA172E-5662-A642-A0BF-BC541C19C31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2829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04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829571C-1045-174A-AFAB-65AE5CF453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/>
          <a:p>
            <a:r>
              <a:rPr lang="ru-RU" sz="4400" dirty="0">
                <a:latin typeface="Montserrat" pitchFamily="2" charset="0"/>
                <a:cs typeface="Times New Roman" panose="02020603050405020304" pitchFamily="18" charset="0"/>
              </a:rPr>
              <a:t>ОСНОВЫ РАБОТЫ С </a:t>
            </a:r>
            <a:r>
              <a:rPr lang="en-US" sz="4400" dirty="0">
                <a:latin typeface="Montserrat" pitchFamily="2" charset="0"/>
                <a:cs typeface="Times New Roman" panose="02020603050405020304" pitchFamily="18" charset="0"/>
              </a:rPr>
              <a:t>DOCKER</a:t>
            </a:r>
            <a:endParaRPr lang="ru-RU" sz="4300" dirty="0">
              <a:latin typeface="Montserrat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551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Введение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446088" algn="just">
              <a:buNone/>
            </a:pPr>
            <a:r>
              <a:rPr lang="ru-RU" b="1" dirty="0">
                <a:latin typeface="Montserrat Light" panose="00000400000000000000" pitchFamily="2" charset="-52"/>
              </a:rPr>
              <a:t>Docker</a:t>
            </a:r>
            <a:r>
              <a:rPr lang="en-US" dirty="0">
                <a:latin typeface="Montserrat Light" panose="00000400000000000000" pitchFamily="2" charset="-52"/>
              </a:rPr>
              <a:t> </a:t>
            </a:r>
            <a:r>
              <a:rPr lang="ru-RU" dirty="0">
                <a:latin typeface="Montserrat Light" panose="00000400000000000000" pitchFamily="2" charset="-52"/>
              </a:rPr>
              <a:t>—</a:t>
            </a:r>
            <a:r>
              <a:rPr lang="en-US" dirty="0">
                <a:latin typeface="Montserrat Light" panose="00000400000000000000" pitchFamily="2" charset="-52"/>
              </a:rPr>
              <a:t> </a:t>
            </a:r>
            <a:r>
              <a:rPr lang="ru-RU" dirty="0">
                <a:latin typeface="Montserrat Light" panose="00000400000000000000" pitchFamily="2" charset="-52"/>
              </a:rPr>
              <a:t>это программное обеспечение с открытым исходным кодом, применяемое для разработки, тестирования, доставки и запуска веб-приложений в средах с поддержкой контейнеризации. </a:t>
            </a:r>
          </a:p>
          <a:p>
            <a:pPr marL="0" indent="446088" algn="just">
              <a:buNone/>
            </a:pPr>
            <a:r>
              <a:rPr lang="ru-RU" dirty="0">
                <a:latin typeface="Montserrat Light" panose="00000400000000000000" pitchFamily="2" charset="-52"/>
              </a:rPr>
              <a:t>Он нужен для более эффективного использования системы и ресурсов, быстрого развертывания готовых программных продуктов, а также для их масштабирования и переноса в другие среды с гарантированным сохранением стабильной работы.</a:t>
            </a:r>
          </a:p>
        </p:txBody>
      </p:sp>
    </p:spTree>
    <p:extLst>
      <p:ext uri="{BB962C8B-B14F-4D97-AF65-F5344CB8AC3E}">
        <p14:creationId xmlns:p14="http://schemas.microsoft.com/office/powerpoint/2010/main" val="1086073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Введение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269" y="1465861"/>
            <a:ext cx="10515600" cy="4351338"/>
          </a:xfrm>
        </p:spPr>
        <p:txBody>
          <a:bodyPr>
            <a:noAutofit/>
          </a:bodyPr>
          <a:lstStyle/>
          <a:p>
            <a:pPr marL="0" indent="446088" algn="just">
              <a:buNone/>
            </a:pPr>
            <a:r>
              <a:rPr lang="ru-RU" sz="2200" dirty="0">
                <a:latin typeface="Montserrat Light" panose="00000400000000000000" pitchFamily="2" charset="-52"/>
              </a:rPr>
              <a:t>Разработка </a:t>
            </a:r>
            <a:r>
              <a:rPr lang="ru-RU" sz="2200" b="1" dirty="0">
                <a:latin typeface="Montserrat Light" panose="00000400000000000000" pitchFamily="2" charset="-52"/>
              </a:rPr>
              <a:t>Docker</a:t>
            </a:r>
            <a:r>
              <a:rPr lang="ru-RU" sz="2200" dirty="0">
                <a:latin typeface="Montserrat Light" panose="00000400000000000000" pitchFamily="2" charset="-52"/>
              </a:rPr>
              <a:t> была начата в 2008 году, а в 2013 году он был опубликован как свободно распространяемое ПО под лицензией </a:t>
            </a:r>
            <a:r>
              <a:rPr lang="ru-RU" sz="2200" b="1" dirty="0">
                <a:latin typeface="Montserrat Light" panose="00000400000000000000" pitchFamily="2" charset="-52"/>
              </a:rPr>
              <a:t>Apache 2.0</a:t>
            </a:r>
            <a:r>
              <a:rPr lang="ru-RU" sz="2200" dirty="0">
                <a:latin typeface="Montserrat Light" panose="00000400000000000000" pitchFamily="2" charset="-52"/>
              </a:rPr>
              <a:t>. В качестве тестового приложения </a:t>
            </a:r>
            <a:r>
              <a:rPr lang="ru-RU" sz="2200" b="1" dirty="0">
                <a:latin typeface="Montserrat Light" panose="00000400000000000000" pitchFamily="2" charset="-52"/>
              </a:rPr>
              <a:t>Docker</a:t>
            </a:r>
            <a:r>
              <a:rPr lang="ru-RU" sz="2200" dirty="0">
                <a:latin typeface="Montserrat Light" panose="00000400000000000000" pitchFamily="2" charset="-52"/>
              </a:rPr>
              <a:t> был включен в дистрибутив </a:t>
            </a:r>
            <a:r>
              <a:rPr lang="ru-RU" sz="2200" b="1" dirty="0">
                <a:latin typeface="Montserrat Light" panose="00000400000000000000" pitchFamily="2" charset="-52"/>
              </a:rPr>
              <a:t>Red Hat Enterprise Linux 6.5</a:t>
            </a:r>
            <a:r>
              <a:rPr lang="ru-RU" sz="2200" dirty="0">
                <a:latin typeface="Montserrat Light" panose="00000400000000000000" pitchFamily="2" charset="-52"/>
              </a:rPr>
              <a:t>. В 2017 году была выпущена коммерческая версия </a:t>
            </a:r>
            <a:r>
              <a:rPr lang="ru-RU" sz="2200" b="1" dirty="0">
                <a:latin typeface="Montserrat Light" panose="00000400000000000000" pitchFamily="2" charset="-52"/>
              </a:rPr>
              <a:t>Docker</a:t>
            </a:r>
            <a:r>
              <a:rPr lang="ru-RU" sz="2200" dirty="0">
                <a:latin typeface="Montserrat Light" panose="00000400000000000000" pitchFamily="2" charset="-52"/>
              </a:rPr>
              <a:t> с расширенными возможностями. </a:t>
            </a:r>
            <a:endParaRPr lang="en-US" sz="2200" dirty="0">
              <a:latin typeface="Montserrat Light" panose="00000400000000000000" pitchFamily="2" charset="-52"/>
            </a:endParaRPr>
          </a:p>
          <a:p>
            <a:pPr marL="0" indent="446088" algn="just">
              <a:buNone/>
            </a:pPr>
            <a:r>
              <a:rPr lang="ru-RU" sz="2200" b="1" dirty="0">
                <a:latin typeface="Montserrat Light" panose="00000400000000000000" pitchFamily="2" charset="-52"/>
              </a:rPr>
              <a:t>Docker</a:t>
            </a:r>
            <a:r>
              <a:rPr lang="ru-RU" sz="2200" dirty="0">
                <a:latin typeface="Montserrat Light" panose="00000400000000000000" pitchFamily="2" charset="-52"/>
              </a:rPr>
              <a:t> работает в </a:t>
            </a:r>
            <a:r>
              <a:rPr lang="ru-RU" sz="2200" b="1" dirty="0">
                <a:latin typeface="Montserrat Light" panose="00000400000000000000" pitchFamily="2" charset="-52"/>
              </a:rPr>
              <a:t>Linux</a:t>
            </a:r>
            <a:r>
              <a:rPr lang="ru-RU" sz="2200" dirty="0">
                <a:latin typeface="Montserrat Light" panose="00000400000000000000" pitchFamily="2" charset="-52"/>
              </a:rPr>
              <a:t>, ядро которого поддерживает </a:t>
            </a:r>
            <a:r>
              <a:rPr lang="ru-RU" sz="2200" b="1" dirty="0" err="1">
                <a:latin typeface="Montserrat Light" panose="00000400000000000000" pitchFamily="2" charset="-52"/>
              </a:rPr>
              <a:t>cgroups</a:t>
            </a:r>
            <a:r>
              <a:rPr lang="ru-RU" sz="2200" dirty="0">
                <a:latin typeface="Montserrat Light" panose="00000400000000000000" pitchFamily="2" charset="-52"/>
              </a:rPr>
              <a:t>, а также изоляцию пространства имен</a:t>
            </a:r>
            <a:r>
              <a:rPr lang="en-US" sz="2200" dirty="0">
                <a:latin typeface="Montserrat Light" panose="00000400000000000000" pitchFamily="2" charset="-52"/>
              </a:rPr>
              <a:t>.</a:t>
            </a:r>
          </a:p>
          <a:p>
            <a:pPr marL="0" indent="446088" algn="just">
              <a:buNone/>
            </a:pPr>
            <a:r>
              <a:rPr lang="ru-RU" sz="2200" dirty="0">
                <a:latin typeface="Montserrat Light" panose="00000400000000000000" pitchFamily="2" charset="-52"/>
              </a:rPr>
              <a:t>Основной принцип работы </a:t>
            </a:r>
            <a:r>
              <a:rPr lang="ru-RU" sz="2200" b="1" dirty="0">
                <a:latin typeface="Montserrat Light" panose="00000400000000000000" pitchFamily="2" charset="-52"/>
              </a:rPr>
              <a:t>Docker</a:t>
            </a:r>
            <a:r>
              <a:rPr lang="ru-RU" sz="2200" dirty="0">
                <a:latin typeface="Montserrat Light" panose="00000400000000000000" pitchFamily="2" charset="-52"/>
              </a:rPr>
              <a:t> — контейнеризация приложений. Этот тип виртуализации позволяет упаковывать программное обеспечение по изолированным средам — контейнерам. Каждый из этих виртуальных блоков содержит все нужные элементы для работы приложения. Это дает возможность одновременного запуска большого количества контейнеров на одном хосте.</a:t>
            </a:r>
          </a:p>
          <a:p>
            <a:pPr marL="0" indent="446088" algn="just"/>
            <a:endParaRPr lang="ru-RU" sz="2200" dirty="0">
              <a:latin typeface="Montserrat Light" panose="000004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604575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Введение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6350" indent="0" algn="just">
              <a:buNone/>
            </a:pPr>
            <a:r>
              <a:rPr lang="ru-RU" sz="2050" dirty="0">
                <a:latin typeface="Montserrat Light" panose="00000400000000000000" pitchFamily="2" charset="-52"/>
              </a:rPr>
              <a:t>Преимущества </a:t>
            </a:r>
            <a:r>
              <a:rPr lang="en-US" sz="2050" b="1" dirty="0">
                <a:latin typeface="Montserrat Light" panose="00000400000000000000" pitchFamily="2" charset="-52"/>
              </a:rPr>
              <a:t>Docker</a:t>
            </a:r>
            <a:r>
              <a:rPr lang="en-US" sz="2050" dirty="0">
                <a:latin typeface="Montserrat Light" panose="00000400000000000000" pitchFamily="2" charset="-52"/>
              </a:rPr>
              <a:t>:</a:t>
            </a:r>
            <a:endParaRPr lang="ru-RU" sz="2050" b="1" dirty="0">
              <a:latin typeface="Montserrat Light" panose="00000400000000000000" pitchFamily="2" charset="-52"/>
            </a:endParaRPr>
          </a:p>
          <a:p>
            <a:pPr marL="6350" indent="439738" algn="just"/>
            <a:r>
              <a:rPr lang="ru-RU" sz="2050" dirty="0">
                <a:latin typeface="Montserrat Light" panose="00000400000000000000" pitchFamily="2" charset="-52"/>
              </a:rPr>
              <a:t>Минимальное потребление ресурсов — контейнеры не виртуализируют всю операционную систему, а используют ядро хоста и изолируют программу на уровне процесса. Последний потребляет намного меньше ресурсов локального компьютера, чем виртуальная машина. </a:t>
            </a:r>
            <a:endParaRPr lang="en-US" sz="2050" dirty="0">
              <a:latin typeface="Montserrat Light" panose="00000400000000000000" pitchFamily="2" charset="-52"/>
            </a:endParaRPr>
          </a:p>
          <a:p>
            <a:pPr marL="6350" indent="439738" algn="just"/>
            <a:r>
              <a:rPr lang="ru-RU" sz="2050" dirty="0">
                <a:latin typeface="Montserrat Light" panose="00000400000000000000" pitchFamily="2" charset="-52"/>
              </a:rPr>
              <a:t>Скоростное развертывание — вспомогательные компоненты можно не устанавливать, а использовать уже готовые </a:t>
            </a:r>
            <a:r>
              <a:rPr lang="ru-RU" sz="2050" b="1" dirty="0" err="1">
                <a:latin typeface="Montserrat Light" panose="00000400000000000000" pitchFamily="2" charset="-52"/>
              </a:rPr>
              <a:t>docker</a:t>
            </a:r>
            <a:r>
              <a:rPr lang="ru-RU" sz="2050" b="1" dirty="0">
                <a:latin typeface="Montserrat Light" panose="00000400000000000000" pitchFamily="2" charset="-52"/>
              </a:rPr>
              <a:t>-образы</a:t>
            </a:r>
            <a:r>
              <a:rPr lang="ru-RU" sz="2050" dirty="0">
                <a:latin typeface="Montserrat Light" panose="00000400000000000000" pitchFamily="2" charset="-52"/>
              </a:rPr>
              <a:t> (шаблоны). Например, не имеет смысла постоянно устанавливать и настраивать </a:t>
            </a:r>
            <a:r>
              <a:rPr lang="ru-RU" sz="2050" b="1" dirty="0">
                <a:latin typeface="Montserrat Light" panose="00000400000000000000" pitchFamily="2" charset="-52"/>
              </a:rPr>
              <a:t>Linux</a:t>
            </a:r>
            <a:r>
              <a:rPr lang="ru-RU" sz="2050" dirty="0">
                <a:latin typeface="Montserrat Light" panose="00000400000000000000" pitchFamily="2" charset="-52"/>
              </a:rPr>
              <a:t> </a:t>
            </a:r>
            <a:r>
              <a:rPr lang="ru-RU" sz="2050" b="1" dirty="0">
                <a:latin typeface="Montserrat Light" panose="00000400000000000000" pitchFamily="2" charset="-52"/>
              </a:rPr>
              <a:t>Ubuntu</a:t>
            </a:r>
            <a:r>
              <a:rPr lang="ru-RU" sz="2050" dirty="0">
                <a:latin typeface="Montserrat Light" panose="00000400000000000000" pitchFamily="2" charset="-52"/>
              </a:rPr>
              <a:t>. Достаточно 1 раз ее инсталлировать, создать образ и постоянно использовать, лишь обновляя версию при необходимости.</a:t>
            </a:r>
          </a:p>
          <a:p>
            <a:pPr marL="6350" indent="439738" algn="just"/>
            <a:r>
              <a:rPr lang="ru-RU" sz="2050" dirty="0">
                <a:latin typeface="Montserrat Light" panose="00000400000000000000" pitchFamily="2" charset="-52"/>
              </a:rPr>
              <a:t>Удобное скрытие процессов — для каждого контейнера можно использовать разные методы обработки данных, скрывая фоновые процессы.</a:t>
            </a:r>
          </a:p>
        </p:txBody>
      </p:sp>
    </p:spTree>
    <p:extLst>
      <p:ext uri="{BB962C8B-B14F-4D97-AF65-F5344CB8AC3E}">
        <p14:creationId xmlns:p14="http://schemas.microsoft.com/office/powerpoint/2010/main" val="2162723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Введение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6350" indent="439738" algn="just"/>
            <a:r>
              <a:rPr lang="ru-RU" sz="2500" dirty="0">
                <a:latin typeface="Montserrat Light" panose="00000400000000000000" pitchFamily="2" charset="-52"/>
              </a:rPr>
              <a:t>Работа с небезопасным кодом — технология изоляции контейнеров позволяет запускать любой код без вреда для ОС.</a:t>
            </a:r>
          </a:p>
          <a:p>
            <a:pPr marL="6350" indent="439738" algn="just"/>
            <a:r>
              <a:rPr lang="ru-RU" sz="2500" dirty="0">
                <a:latin typeface="Montserrat Light" panose="00000400000000000000" pitchFamily="2" charset="-52"/>
              </a:rPr>
              <a:t>Простое масштабирование — любой проект можно расширить, внедрив новые контейнеры.</a:t>
            </a:r>
          </a:p>
          <a:p>
            <a:pPr marL="6350" indent="439738" algn="just"/>
            <a:r>
              <a:rPr lang="ru-RU" sz="2500" dirty="0">
                <a:latin typeface="Montserrat Light" panose="00000400000000000000" pitchFamily="2" charset="-52"/>
              </a:rPr>
              <a:t>Удобный запуск — приложение, находящееся внутри контейнера, можно запустить на любом </a:t>
            </a:r>
            <a:r>
              <a:rPr lang="ru-RU" sz="2500" b="1" dirty="0" err="1">
                <a:latin typeface="Montserrat Light" panose="00000400000000000000" pitchFamily="2" charset="-52"/>
              </a:rPr>
              <a:t>docker</a:t>
            </a:r>
            <a:r>
              <a:rPr lang="ru-RU" sz="2500" b="1" dirty="0">
                <a:latin typeface="Montserrat Light" panose="00000400000000000000" pitchFamily="2" charset="-52"/>
              </a:rPr>
              <a:t>-хосте</a:t>
            </a:r>
            <a:r>
              <a:rPr lang="ru-RU" sz="2500" dirty="0">
                <a:latin typeface="Montserrat Light" panose="00000400000000000000" pitchFamily="2" charset="-52"/>
              </a:rPr>
              <a:t>.</a:t>
            </a:r>
          </a:p>
          <a:p>
            <a:pPr marL="6350" indent="439738" algn="just"/>
            <a:r>
              <a:rPr lang="ru-RU" sz="2500" dirty="0">
                <a:latin typeface="Montserrat Light" panose="00000400000000000000" pitchFamily="2" charset="-52"/>
              </a:rPr>
              <a:t>Оптимизация файловой системы — образ состоит из слоев, которые позволяют очень эффективно использовать файловую систему.</a:t>
            </a:r>
          </a:p>
        </p:txBody>
      </p:sp>
    </p:spTree>
    <p:extLst>
      <p:ext uri="{BB962C8B-B14F-4D97-AF65-F5344CB8AC3E}">
        <p14:creationId xmlns:p14="http://schemas.microsoft.com/office/powerpoint/2010/main" val="3164942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Введение</a:t>
            </a:r>
            <a:endParaRPr lang="ru-RU" dirty="0">
              <a:latin typeface="Montserrat" pitchFamily="2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044" y="1571047"/>
            <a:ext cx="7781187" cy="446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49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Введение</a:t>
            </a:r>
            <a:endParaRPr lang="ru-RU" dirty="0">
              <a:latin typeface="Montserrat" pitchFamily="2" charset="0"/>
            </a:endParaRP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6167" y="1690688"/>
            <a:ext cx="777966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425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Введение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6350" indent="439738" algn="just"/>
            <a:r>
              <a:rPr lang="ru-RU" sz="2400" dirty="0">
                <a:latin typeface="Montserrat Light" panose="00000400000000000000" pitchFamily="2" charset="-52"/>
              </a:rPr>
              <a:t>Ранее мы говорили, что контейнеры </a:t>
            </a:r>
            <a:r>
              <a:rPr lang="ru-RU" sz="2400" dirty="0" err="1">
                <a:latin typeface="Montserrat Light" panose="00000400000000000000" pitchFamily="2" charset="-52"/>
              </a:rPr>
              <a:t>Docker</a:t>
            </a:r>
            <a:r>
              <a:rPr lang="ru-RU" sz="2400" dirty="0">
                <a:latin typeface="Montserrat Light" panose="00000400000000000000" pitchFamily="2" charset="-52"/>
              </a:rPr>
              <a:t> совместно используют базовое ядро. Что это на </a:t>
            </a:r>
            <a:r>
              <a:rPr lang="ru-RU" sz="2400" dirty="0" smtClean="0">
                <a:latin typeface="Montserrat Light" panose="00000400000000000000" pitchFamily="2" charset="-52"/>
              </a:rPr>
              <a:t>самом</a:t>
            </a:r>
            <a:r>
              <a:rPr lang="en-US" sz="2400" dirty="0" smtClean="0">
                <a:latin typeface="Montserrat Light" panose="00000400000000000000" pitchFamily="2" charset="-52"/>
              </a:rPr>
              <a:t> </a:t>
            </a:r>
            <a:r>
              <a:rPr lang="ru-RU" sz="2400" dirty="0" smtClean="0">
                <a:latin typeface="Montserrat Light" panose="00000400000000000000" pitchFamily="2" charset="-52"/>
              </a:rPr>
              <a:t>деле </a:t>
            </a:r>
            <a:r>
              <a:rPr lang="ru-RU" sz="2400" dirty="0">
                <a:latin typeface="Montserrat Light" panose="00000400000000000000" pitchFamily="2" charset="-52"/>
              </a:rPr>
              <a:t>означает “совместное использование ядра</a:t>
            </a:r>
            <a:r>
              <a:rPr lang="ru-RU" sz="2400" dirty="0" smtClean="0">
                <a:latin typeface="Montserrat Light" panose="00000400000000000000" pitchFamily="2" charset="-52"/>
              </a:rPr>
              <a:t>”?</a:t>
            </a:r>
          </a:p>
          <a:p>
            <a:pPr marL="6350" indent="439738" algn="just"/>
            <a:r>
              <a:rPr lang="ru-RU" sz="2400" dirty="0">
                <a:latin typeface="Montserrat Light" panose="00000400000000000000" pitchFamily="2" charset="-52"/>
              </a:rPr>
              <a:t>Допустим, у нас есть система с ОС </a:t>
            </a:r>
            <a:r>
              <a:rPr lang="ru-RU" sz="2400" dirty="0" err="1">
                <a:latin typeface="Montserrat Light" panose="00000400000000000000" pitchFamily="2" charset="-52"/>
              </a:rPr>
              <a:t>Ubuntu</a:t>
            </a:r>
            <a:r>
              <a:rPr lang="ru-RU" sz="2400" dirty="0">
                <a:latin typeface="Montserrat Light" panose="00000400000000000000" pitchFamily="2" charset="-52"/>
              </a:rPr>
              <a:t> с установленным на ней </a:t>
            </a:r>
            <a:r>
              <a:rPr lang="ru-RU" sz="2400" dirty="0" err="1">
                <a:latin typeface="Montserrat Light" panose="00000400000000000000" pitchFamily="2" charset="-52"/>
              </a:rPr>
              <a:t>Docker</a:t>
            </a:r>
            <a:r>
              <a:rPr lang="ru-RU" sz="2400" dirty="0">
                <a:latin typeface="Montserrat Light" panose="00000400000000000000" pitchFamily="2" charset="-52"/>
              </a:rPr>
              <a:t>. </a:t>
            </a:r>
            <a:r>
              <a:rPr lang="ru-RU" sz="2400" dirty="0" err="1">
                <a:latin typeface="Montserrat Light" panose="00000400000000000000" pitchFamily="2" charset="-52"/>
              </a:rPr>
              <a:t>Docker</a:t>
            </a:r>
            <a:r>
              <a:rPr lang="ru-RU" sz="2400" dirty="0">
                <a:latin typeface="Montserrat Light" panose="00000400000000000000" pitchFamily="2" charset="-52"/>
              </a:rPr>
              <a:t> может запускать</a:t>
            </a:r>
          </a:p>
          <a:p>
            <a:pPr marL="6350" indent="439738" algn="just"/>
            <a:r>
              <a:rPr lang="ru-RU" sz="2400" dirty="0" smtClean="0">
                <a:latin typeface="Montserrat Light" panose="00000400000000000000" pitchFamily="2" charset="-52"/>
              </a:rPr>
              <a:t>поверх </a:t>
            </a:r>
            <a:r>
              <a:rPr lang="ru-RU" sz="2400" dirty="0">
                <a:latin typeface="Montserrat Light" panose="00000400000000000000" pitchFamily="2" charset="-52"/>
              </a:rPr>
              <a:t>себя любую версию ОС, если все они основаны на одном ядре. В данном случае </a:t>
            </a:r>
            <a:r>
              <a:rPr lang="ru-RU" sz="2400" dirty="0" err="1">
                <a:latin typeface="Montserrat Light" panose="00000400000000000000" pitchFamily="2" charset="-52"/>
              </a:rPr>
              <a:t>Linux</a:t>
            </a:r>
            <a:r>
              <a:rPr lang="ru-RU" sz="2400" dirty="0">
                <a:latin typeface="Montserrat Light" panose="00000400000000000000" pitchFamily="2" charset="-52"/>
              </a:rPr>
              <a:t>. Если</a:t>
            </a:r>
          </a:p>
          <a:p>
            <a:pPr marL="6350" indent="439738" algn="just"/>
            <a:r>
              <a:rPr lang="ru-RU" sz="2400" dirty="0">
                <a:latin typeface="Montserrat Light" panose="00000400000000000000" pitchFamily="2" charset="-52"/>
              </a:rPr>
              <a:t>базовой операционной системой является </a:t>
            </a:r>
            <a:r>
              <a:rPr lang="ru-RU" sz="2400" dirty="0" err="1">
                <a:latin typeface="Montserrat Light" panose="00000400000000000000" pitchFamily="2" charset="-52"/>
              </a:rPr>
              <a:t>Ubuntu</a:t>
            </a:r>
            <a:r>
              <a:rPr lang="ru-RU" sz="2400" dirty="0">
                <a:latin typeface="Montserrat Light" panose="00000400000000000000" pitchFamily="2" charset="-52"/>
              </a:rPr>
              <a:t>, </a:t>
            </a:r>
            <a:r>
              <a:rPr lang="ru-RU" sz="2400" dirty="0" err="1">
                <a:latin typeface="Montserrat Light" panose="00000400000000000000" pitchFamily="2" charset="-52"/>
              </a:rPr>
              <a:t>Docker</a:t>
            </a:r>
            <a:r>
              <a:rPr lang="ru-RU" sz="2400" dirty="0">
                <a:latin typeface="Montserrat Light" panose="00000400000000000000" pitchFamily="2" charset="-52"/>
              </a:rPr>
              <a:t> может запускать контейнер на основе</a:t>
            </a:r>
          </a:p>
          <a:p>
            <a:pPr marL="6350" indent="439738" algn="just"/>
            <a:r>
              <a:rPr lang="ru-RU" sz="2400" dirty="0">
                <a:latin typeface="Montserrat Light" panose="00000400000000000000" pitchFamily="2" charset="-52"/>
              </a:rPr>
              <a:t>другого дистрибутива, например </a:t>
            </a:r>
            <a:r>
              <a:rPr lang="ru-RU" sz="2400" dirty="0" err="1">
                <a:latin typeface="Montserrat Light" panose="00000400000000000000" pitchFamily="2" charset="-52"/>
              </a:rPr>
              <a:t>Debian</a:t>
            </a:r>
            <a:r>
              <a:rPr lang="ru-RU" sz="2400" dirty="0">
                <a:latin typeface="Montserrat Light" panose="00000400000000000000" pitchFamily="2" charset="-52"/>
              </a:rPr>
              <a:t>, </a:t>
            </a:r>
            <a:r>
              <a:rPr lang="ru-RU" sz="2400" dirty="0" err="1">
                <a:latin typeface="Montserrat Light" panose="00000400000000000000" pitchFamily="2" charset="-52"/>
              </a:rPr>
              <a:t>Fedora</a:t>
            </a:r>
            <a:r>
              <a:rPr lang="ru-RU" sz="2400" dirty="0">
                <a:latin typeface="Montserrat Light" panose="00000400000000000000" pitchFamily="2" charset="-52"/>
              </a:rPr>
              <a:t>, </a:t>
            </a:r>
            <a:r>
              <a:rPr lang="ru-RU" sz="2400" dirty="0" err="1">
                <a:latin typeface="Montserrat Light" panose="00000400000000000000" pitchFamily="2" charset="-52"/>
              </a:rPr>
              <a:t>Suse</a:t>
            </a:r>
            <a:r>
              <a:rPr lang="ru-RU" sz="2400" dirty="0">
                <a:latin typeface="Montserrat Light" panose="00000400000000000000" pitchFamily="2" charset="-52"/>
              </a:rPr>
              <a:t> или </a:t>
            </a:r>
            <a:r>
              <a:rPr lang="ru-RU" sz="2400" dirty="0" err="1">
                <a:latin typeface="Montserrat Light" panose="00000400000000000000" pitchFamily="2" charset="-52"/>
              </a:rPr>
              <a:t>CentOS</a:t>
            </a:r>
            <a:r>
              <a:rPr lang="ru-RU" sz="2400" dirty="0" smtClean="0">
                <a:latin typeface="Montserrat Light" panose="00000400000000000000" pitchFamily="2" charset="-52"/>
              </a:rPr>
              <a:t>.</a:t>
            </a:r>
            <a:endParaRPr lang="ru-RU" sz="2400" dirty="0">
              <a:latin typeface="Montserrat Light" panose="000004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674686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Введение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6350" indent="439738" algn="just"/>
            <a:r>
              <a:rPr lang="ru-RU" sz="2400" dirty="0">
                <a:latin typeface="Montserrat Light" panose="00000400000000000000" pitchFamily="2" charset="-52"/>
              </a:rPr>
              <a:t>В каждом докер-контейнере есть только дополнительное программное обеспечение, которое</a:t>
            </a:r>
          </a:p>
          <a:p>
            <a:pPr marL="6350" indent="439738" algn="just"/>
            <a:r>
              <a:rPr lang="ru-RU" sz="2400" dirty="0">
                <a:latin typeface="Montserrat Light" panose="00000400000000000000" pitchFamily="2" charset="-52"/>
              </a:rPr>
              <a:t>делает операционные системы разными. Это то, про что говорили на предыдущем слайде.</a:t>
            </a:r>
          </a:p>
          <a:p>
            <a:pPr marL="6350" indent="439738" algn="just"/>
            <a:r>
              <a:rPr lang="ru-RU" sz="2400" dirty="0">
                <a:latin typeface="Montserrat Light" panose="00000400000000000000" pitchFamily="2" charset="-52"/>
              </a:rPr>
              <a:t>И </a:t>
            </a:r>
            <a:r>
              <a:rPr lang="ru-RU" sz="2400" dirty="0" err="1">
                <a:latin typeface="Montserrat Light" panose="00000400000000000000" pitchFamily="2" charset="-52"/>
              </a:rPr>
              <a:t>Docker</a:t>
            </a:r>
            <a:r>
              <a:rPr lang="ru-RU" sz="2400" dirty="0">
                <a:latin typeface="Montserrat Light" panose="00000400000000000000" pitchFamily="2" charset="-52"/>
              </a:rPr>
              <a:t> использует базовое ядро ​своего ​хоста, которое работает со всеми перечисленными</a:t>
            </a:r>
          </a:p>
          <a:p>
            <a:pPr marL="6350" indent="439738" algn="just"/>
            <a:r>
              <a:rPr lang="ru-RU" sz="2400" dirty="0">
                <a:latin typeface="Montserrat Light" panose="00000400000000000000" pitchFamily="2" charset="-52"/>
              </a:rPr>
              <a:t>выше операционными системами. А какая ОС не имеет такого же ядра? </a:t>
            </a:r>
            <a:r>
              <a:rPr lang="ru-RU" sz="2400" dirty="0" err="1">
                <a:latin typeface="Montserrat Light" panose="00000400000000000000" pitchFamily="2" charset="-52"/>
              </a:rPr>
              <a:t>Windows</a:t>
            </a:r>
            <a:r>
              <a:rPr lang="ru-RU" sz="2400" dirty="0">
                <a:latin typeface="Montserrat Light" panose="00000400000000000000" pitchFamily="2" charset="-52"/>
              </a:rPr>
              <a:t>.</a:t>
            </a:r>
          </a:p>
          <a:p>
            <a:pPr marL="6350" indent="439738" algn="just"/>
            <a:r>
              <a:rPr lang="ru-RU" sz="2400" dirty="0">
                <a:latin typeface="Montserrat Light" panose="00000400000000000000" pitchFamily="2" charset="-52"/>
              </a:rPr>
              <a:t>И поэтому ты не сможешь запустить контейнер на базе </a:t>
            </a:r>
            <a:r>
              <a:rPr lang="ru-RU" sz="2400" dirty="0" err="1">
                <a:latin typeface="Montserrat Light" panose="00000400000000000000" pitchFamily="2" charset="-52"/>
              </a:rPr>
              <a:t>Windows</a:t>
            </a:r>
            <a:r>
              <a:rPr lang="ru-RU" sz="2400" dirty="0">
                <a:latin typeface="Montserrat Light" panose="00000400000000000000" pitchFamily="2" charset="-52"/>
              </a:rPr>
              <a:t> на докер-хосте с ОС </a:t>
            </a:r>
            <a:r>
              <a:rPr lang="ru-RU" sz="2400" dirty="0" err="1">
                <a:latin typeface="Montserrat Light" panose="00000400000000000000" pitchFamily="2" charset="-52"/>
              </a:rPr>
              <a:t>Linux</a:t>
            </a:r>
            <a:r>
              <a:rPr lang="ru-RU" sz="2400" dirty="0">
                <a:latin typeface="Montserrat Light" panose="00000400000000000000" pitchFamily="2" charset="-52"/>
              </a:rPr>
              <a:t>.</a:t>
            </a:r>
          </a:p>
          <a:p>
            <a:pPr marL="6350" indent="439738" algn="just"/>
            <a:r>
              <a:rPr lang="ru-RU" sz="2400" dirty="0">
                <a:latin typeface="Montserrat Light" panose="00000400000000000000" pitchFamily="2" charset="-52"/>
              </a:rPr>
              <a:t>Для этого нам потребуется </a:t>
            </a:r>
            <a:r>
              <a:rPr lang="ru-RU" sz="2400" dirty="0" err="1">
                <a:latin typeface="Montserrat Light" panose="00000400000000000000" pitchFamily="2" charset="-52"/>
              </a:rPr>
              <a:t>Docker</a:t>
            </a:r>
            <a:r>
              <a:rPr lang="ru-RU" sz="2400" dirty="0">
                <a:latin typeface="Montserrat Light" panose="00000400000000000000" pitchFamily="2" charset="-52"/>
              </a:rPr>
              <a:t> на сервере </a:t>
            </a:r>
            <a:r>
              <a:rPr lang="ru-RU" sz="2400" dirty="0" err="1">
                <a:latin typeface="Montserrat Light" panose="00000400000000000000" pitchFamily="2" charset="-52"/>
              </a:rPr>
              <a:t>Windows</a:t>
            </a:r>
            <a:r>
              <a:rPr lang="ru-RU" sz="2400" dirty="0" smtClean="0">
                <a:latin typeface="Montserrat Light" panose="00000400000000000000" pitchFamily="2" charset="-52"/>
              </a:rPr>
              <a:t>.</a:t>
            </a:r>
            <a:endParaRPr lang="ru-RU" sz="2400" dirty="0">
              <a:latin typeface="Montserrat Light" panose="000004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835919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Введение</a:t>
            </a:r>
            <a:endParaRPr lang="ru-RU" dirty="0">
              <a:latin typeface="Montserrat" pitchFamily="2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9653" y="1690688"/>
            <a:ext cx="7532693" cy="427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840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Введение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6350" indent="439738" algn="just"/>
            <a:r>
              <a:rPr lang="ru-RU" sz="2500" dirty="0">
                <a:latin typeface="Montserrat Light" panose="00000400000000000000" pitchFamily="2" charset="-52"/>
              </a:rPr>
              <a:t>Образ - это пакет или шаблон, аналогичный шаблону виртуальной </a:t>
            </a:r>
            <a:r>
              <a:rPr lang="ru-RU" sz="2500" dirty="0" smtClean="0">
                <a:latin typeface="Montserrat Light" panose="00000400000000000000" pitchFamily="2" charset="-52"/>
              </a:rPr>
              <a:t>машины. </a:t>
            </a:r>
            <a:r>
              <a:rPr lang="ru-RU" sz="2500" dirty="0">
                <a:latin typeface="Montserrat Light" panose="00000400000000000000" pitchFamily="2" charset="-52"/>
              </a:rPr>
              <a:t>Он используется для создания одного или </a:t>
            </a:r>
            <a:r>
              <a:rPr lang="ru-RU" sz="2500" dirty="0" smtClean="0">
                <a:latin typeface="Montserrat Light" panose="00000400000000000000" pitchFamily="2" charset="-52"/>
              </a:rPr>
              <a:t>нескольких</a:t>
            </a:r>
            <a:r>
              <a:rPr lang="en-US" sz="2500" dirty="0" smtClean="0">
                <a:latin typeface="Montserrat Light" panose="00000400000000000000" pitchFamily="2" charset="-52"/>
              </a:rPr>
              <a:t> </a:t>
            </a:r>
            <a:r>
              <a:rPr lang="ru-RU" sz="2500" dirty="0" smtClean="0">
                <a:latin typeface="Montserrat Light" panose="00000400000000000000" pitchFamily="2" charset="-52"/>
              </a:rPr>
              <a:t>контейнеров</a:t>
            </a:r>
            <a:r>
              <a:rPr lang="ru-RU" sz="2500" dirty="0">
                <a:latin typeface="Montserrat Light" panose="00000400000000000000" pitchFamily="2" charset="-52"/>
              </a:rPr>
              <a:t>. </a:t>
            </a:r>
            <a:endParaRPr lang="en-US" sz="2500" dirty="0" smtClean="0">
              <a:latin typeface="Montserrat Light" panose="00000400000000000000" pitchFamily="2" charset="-52"/>
            </a:endParaRPr>
          </a:p>
          <a:p>
            <a:pPr marL="6350" indent="439738" algn="just"/>
            <a:r>
              <a:rPr lang="ru-RU" sz="2500" dirty="0" err="1" smtClean="0">
                <a:latin typeface="Montserrat Light" panose="00000400000000000000" pitchFamily="2" charset="-52"/>
              </a:rPr>
              <a:t>Docker</a:t>
            </a:r>
            <a:r>
              <a:rPr lang="ru-RU" sz="2500" dirty="0" smtClean="0">
                <a:latin typeface="Montserrat Light" panose="00000400000000000000" pitchFamily="2" charset="-52"/>
              </a:rPr>
              <a:t> </a:t>
            </a:r>
            <a:r>
              <a:rPr lang="ru-RU" sz="2500" dirty="0">
                <a:latin typeface="Montserrat Light" panose="00000400000000000000" pitchFamily="2" charset="-52"/>
              </a:rPr>
              <a:t>запускает экземпляры образов, которые изолированы, имеют </a:t>
            </a:r>
            <a:r>
              <a:rPr lang="ru-RU" sz="2500" dirty="0" smtClean="0">
                <a:latin typeface="Montserrat Light" panose="00000400000000000000" pitchFamily="2" charset="-52"/>
              </a:rPr>
              <a:t>свои</a:t>
            </a:r>
            <a:r>
              <a:rPr lang="en-US" sz="2500" dirty="0" smtClean="0">
                <a:latin typeface="Montserrat Light" panose="00000400000000000000" pitchFamily="2" charset="-52"/>
              </a:rPr>
              <a:t> </a:t>
            </a:r>
            <a:r>
              <a:rPr lang="ru-RU" sz="2500" dirty="0" smtClean="0">
                <a:latin typeface="Montserrat Light" panose="00000400000000000000" pitchFamily="2" charset="-52"/>
              </a:rPr>
              <a:t>собственные </a:t>
            </a:r>
            <a:r>
              <a:rPr lang="ru-RU" sz="2500" dirty="0">
                <a:latin typeface="Montserrat Light" panose="00000400000000000000" pitchFamily="2" charset="-52"/>
              </a:rPr>
              <a:t>среды и процессы.</a:t>
            </a:r>
          </a:p>
        </p:txBody>
      </p:sp>
    </p:spTree>
    <p:extLst>
      <p:ext uri="{BB962C8B-B14F-4D97-AF65-F5344CB8AC3E}">
        <p14:creationId xmlns:p14="http://schemas.microsoft.com/office/powerpoint/2010/main" val="2463402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Определения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Autofit/>
          </a:bodyPr>
          <a:lstStyle/>
          <a:p>
            <a:pPr marL="6350" indent="615950" algn="just">
              <a:buAutoNum type="arabicPeriod"/>
            </a:pPr>
            <a:r>
              <a:rPr lang="ru-RU" sz="1700" b="1" dirty="0">
                <a:latin typeface="Montserrat Light" panose="00000400000000000000" pitchFamily="2" charset="-52"/>
              </a:rPr>
              <a:t>Docker-демон (Docker-</a:t>
            </a:r>
            <a:r>
              <a:rPr lang="ru-RU" sz="1700" b="1" dirty="0" err="1">
                <a:latin typeface="Montserrat Light" panose="00000400000000000000" pitchFamily="2" charset="-52"/>
              </a:rPr>
              <a:t>daemon</a:t>
            </a:r>
            <a:r>
              <a:rPr lang="ru-RU" sz="1700" b="1" dirty="0">
                <a:latin typeface="Montserrat Light" panose="00000400000000000000" pitchFamily="2" charset="-52"/>
              </a:rPr>
              <a:t>) </a:t>
            </a:r>
            <a:r>
              <a:rPr lang="ru-RU" sz="1700" dirty="0">
                <a:latin typeface="Montserrat Light" panose="00000400000000000000" pitchFamily="2" charset="-52"/>
              </a:rPr>
              <a:t>— сервер контейнеров, входящий в состав программных средств Docker. Демон управляет Docker-объектами (сети, хранилища, образы и контейнеры). Демон также может связываться с другими демонами для управления сервисами Docker.</a:t>
            </a:r>
            <a:endParaRPr lang="en-US" sz="1700" dirty="0">
              <a:latin typeface="Montserrat Light" panose="00000400000000000000" pitchFamily="2" charset="-52"/>
            </a:endParaRPr>
          </a:p>
          <a:p>
            <a:pPr marL="6350" indent="615950" algn="just">
              <a:buAutoNum type="arabicPeriod"/>
            </a:pPr>
            <a:r>
              <a:rPr lang="ru-RU" sz="1700" b="1" dirty="0">
                <a:latin typeface="Montserrat Light" panose="00000400000000000000" pitchFamily="2" charset="-52"/>
              </a:rPr>
              <a:t>Docker-клиент (Docker-</a:t>
            </a:r>
            <a:r>
              <a:rPr lang="ru-RU" sz="1700" b="1" dirty="0" err="1">
                <a:latin typeface="Montserrat Light" panose="00000400000000000000" pitchFamily="2" charset="-52"/>
              </a:rPr>
              <a:t>client</a:t>
            </a:r>
            <a:r>
              <a:rPr lang="ru-RU" sz="1700" b="1" dirty="0">
                <a:latin typeface="Montserrat Light" panose="00000400000000000000" pitchFamily="2" charset="-52"/>
              </a:rPr>
              <a:t> / CLI) </a:t>
            </a:r>
            <a:r>
              <a:rPr lang="ru-RU" sz="1700" dirty="0">
                <a:latin typeface="Montserrat Light" panose="00000400000000000000" pitchFamily="2" charset="-52"/>
              </a:rPr>
              <a:t>— интерфейс взаимодействия пользователя с Docker-демоном. Клиент и Демон — важнейшие компоненты «движка» Докера (Docker Engine). Клиент Docker может взаимодействовать с несколькими демонами.</a:t>
            </a:r>
          </a:p>
          <a:p>
            <a:pPr marL="6350" indent="615950" algn="just">
              <a:buAutoNum type="arabicPeriod"/>
            </a:pPr>
            <a:r>
              <a:rPr lang="ru-RU" sz="1700" b="1" dirty="0">
                <a:latin typeface="Montserrat Light" panose="00000400000000000000" pitchFamily="2" charset="-52"/>
              </a:rPr>
              <a:t>Docker-образ (Docker-</a:t>
            </a:r>
            <a:r>
              <a:rPr lang="ru-RU" sz="1700" b="1" dirty="0" err="1">
                <a:latin typeface="Montserrat Light" panose="00000400000000000000" pitchFamily="2" charset="-52"/>
              </a:rPr>
              <a:t>image</a:t>
            </a:r>
            <a:r>
              <a:rPr lang="en-US" sz="1700" b="1" dirty="0">
                <a:latin typeface="Montserrat Light" panose="00000400000000000000" pitchFamily="2" charset="-52"/>
              </a:rPr>
              <a:t>) </a:t>
            </a:r>
            <a:r>
              <a:rPr lang="ru-RU" sz="1700" dirty="0">
                <a:latin typeface="Montserrat Light" panose="00000400000000000000" pitchFamily="2" charset="-52"/>
              </a:rPr>
              <a:t>— файл, включающий зависимости, сведения, конфигурацию для дальнейшего развертывания и инициализации контейнера.</a:t>
            </a:r>
            <a:endParaRPr lang="en-US" sz="1700" dirty="0">
              <a:latin typeface="Montserrat Light" panose="00000400000000000000" pitchFamily="2" charset="-52"/>
            </a:endParaRPr>
          </a:p>
          <a:p>
            <a:pPr marL="6350" indent="615950" algn="just">
              <a:buAutoNum type="arabicPeriod"/>
            </a:pPr>
            <a:r>
              <a:rPr lang="ru-RU" sz="1700" b="1" dirty="0">
                <a:latin typeface="Montserrat Light" panose="00000400000000000000" pitchFamily="2" charset="-52"/>
              </a:rPr>
              <a:t>Docker-файл (Docker-</a:t>
            </a:r>
            <a:r>
              <a:rPr lang="ru-RU" sz="1700" b="1" dirty="0" err="1">
                <a:latin typeface="Montserrat Light" panose="00000400000000000000" pitchFamily="2" charset="-52"/>
              </a:rPr>
              <a:t>file</a:t>
            </a:r>
            <a:r>
              <a:rPr lang="ru-RU" sz="1700" b="1" dirty="0">
                <a:latin typeface="Montserrat Light" panose="00000400000000000000" pitchFamily="2" charset="-52"/>
              </a:rPr>
              <a:t>) </a:t>
            </a:r>
            <a:r>
              <a:rPr lang="ru-RU" sz="1700" dirty="0">
                <a:latin typeface="Montserrat Light" panose="00000400000000000000" pitchFamily="2" charset="-52"/>
              </a:rPr>
              <a:t>— описание правил по сборке образа, в котором первая строка указывает на базовый образ. Последующие команды выполняют копирование файлов и установку программ для создания определенной среды для разработки.</a:t>
            </a:r>
          </a:p>
          <a:p>
            <a:pPr marL="6350" indent="615950" algn="just">
              <a:buAutoNum type="arabicPeriod"/>
            </a:pPr>
            <a:r>
              <a:rPr lang="ru-RU" sz="1700" b="1" dirty="0">
                <a:latin typeface="Montserrat Light" panose="00000400000000000000" pitchFamily="2" charset="-52"/>
              </a:rPr>
              <a:t>Docker-контейнер (Docker-</a:t>
            </a:r>
            <a:r>
              <a:rPr lang="ru-RU" sz="1700" b="1" dirty="0" err="1">
                <a:latin typeface="Montserrat Light" panose="00000400000000000000" pitchFamily="2" charset="-52"/>
              </a:rPr>
              <a:t>container</a:t>
            </a:r>
            <a:r>
              <a:rPr lang="ru-RU" sz="1700" b="1" dirty="0">
                <a:latin typeface="Montserrat Light" panose="00000400000000000000" pitchFamily="2" charset="-52"/>
              </a:rPr>
              <a:t>) </a:t>
            </a:r>
            <a:r>
              <a:rPr lang="ru-RU" sz="1700" dirty="0">
                <a:latin typeface="Montserrat Light" panose="00000400000000000000" pitchFamily="2" charset="-52"/>
              </a:rPr>
              <a:t>— это легкий, автономный исполняемый пакет программного обеспечения, который включает в себя все необходимое для запуска приложения: код, среду выполнения, системные инструменты, системные библиотеки и настройки.</a:t>
            </a:r>
          </a:p>
        </p:txBody>
      </p:sp>
    </p:spTree>
    <p:extLst>
      <p:ext uri="{BB962C8B-B14F-4D97-AF65-F5344CB8AC3E}">
        <p14:creationId xmlns:p14="http://schemas.microsoft.com/office/powerpoint/2010/main" val="3154843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Определения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060" y="1687513"/>
            <a:ext cx="10515600" cy="4351338"/>
          </a:xfrm>
        </p:spPr>
        <p:txBody>
          <a:bodyPr>
            <a:noAutofit/>
          </a:bodyPr>
          <a:lstStyle/>
          <a:p>
            <a:pPr marL="6350" indent="439738" algn="just">
              <a:buNone/>
            </a:pPr>
            <a:r>
              <a:rPr lang="en-US" sz="2000" dirty="0">
                <a:latin typeface="Montserrat Light" panose="00000400000000000000" pitchFamily="2" charset="-52"/>
              </a:rPr>
              <a:t>6. </a:t>
            </a:r>
            <a:r>
              <a:rPr lang="ru-RU" sz="2000" b="1" dirty="0">
                <a:latin typeface="Montserrat Light" panose="00000400000000000000" pitchFamily="2" charset="-52"/>
              </a:rPr>
              <a:t>Том (</a:t>
            </a:r>
            <a:r>
              <a:rPr lang="ru-RU" sz="2000" b="1" dirty="0" err="1">
                <a:latin typeface="Montserrat Light" panose="00000400000000000000" pitchFamily="2" charset="-52"/>
              </a:rPr>
              <a:t>Volume</a:t>
            </a:r>
            <a:r>
              <a:rPr lang="ru-RU" sz="2000" b="1" dirty="0">
                <a:latin typeface="Montserrat Light" panose="00000400000000000000" pitchFamily="2" charset="-52"/>
              </a:rPr>
              <a:t>) </a:t>
            </a:r>
            <a:r>
              <a:rPr lang="ru-RU" sz="2000" dirty="0">
                <a:latin typeface="Montserrat Light" panose="00000400000000000000" pitchFamily="2" charset="-52"/>
              </a:rPr>
              <a:t>— эмуляция файловой системы для осуществления операций чтения и записи. Она создается автоматически с контейнером, поскольку некоторые приложения осуществляют сохранение данных.</a:t>
            </a:r>
          </a:p>
          <a:p>
            <a:pPr marL="6350" indent="439738" algn="just">
              <a:buNone/>
            </a:pPr>
            <a:r>
              <a:rPr lang="en-US" sz="2000" dirty="0">
                <a:latin typeface="Montserrat Light" panose="00000400000000000000" pitchFamily="2" charset="-52"/>
              </a:rPr>
              <a:t>7. </a:t>
            </a:r>
            <a:r>
              <a:rPr lang="ru-RU" sz="2000" b="1" dirty="0">
                <a:latin typeface="Montserrat Light" panose="00000400000000000000" pitchFamily="2" charset="-52"/>
              </a:rPr>
              <a:t>Реестр (Docker-</a:t>
            </a:r>
            <a:r>
              <a:rPr lang="ru-RU" sz="2000" b="1" dirty="0" err="1">
                <a:latin typeface="Montserrat Light" panose="00000400000000000000" pitchFamily="2" charset="-52"/>
              </a:rPr>
              <a:t>registry</a:t>
            </a:r>
            <a:r>
              <a:rPr lang="ru-RU" sz="2000" b="1" dirty="0">
                <a:latin typeface="Montserrat Light" panose="00000400000000000000" pitchFamily="2" charset="-52"/>
              </a:rPr>
              <a:t>) </a:t>
            </a:r>
            <a:r>
              <a:rPr lang="ru-RU" sz="2000" dirty="0">
                <a:latin typeface="Montserrat Light" panose="00000400000000000000" pitchFamily="2" charset="-52"/>
              </a:rPr>
              <a:t>— зарезервированный сервер, используемый для хранения </a:t>
            </a:r>
            <a:r>
              <a:rPr lang="ru-RU" sz="2000" dirty="0" err="1">
                <a:latin typeface="Montserrat Light" panose="00000400000000000000" pitchFamily="2" charset="-52"/>
              </a:rPr>
              <a:t>d</a:t>
            </a:r>
            <a:r>
              <a:rPr lang="ru-RU" sz="2000" b="1" dirty="0" err="1">
                <a:latin typeface="Montserrat Light" panose="00000400000000000000" pitchFamily="2" charset="-52"/>
              </a:rPr>
              <a:t>ocker</a:t>
            </a:r>
            <a:r>
              <a:rPr lang="ru-RU" sz="2000" b="1" dirty="0">
                <a:latin typeface="Montserrat Light" panose="00000400000000000000" pitchFamily="2" charset="-52"/>
              </a:rPr>
              <a:t>-образов</a:t>
            </a:r>
            <a:r>
              <a:rPr lang="ru-RU" sz="2000" dirty="0">
                <a:latin typeface="Montserrat Light" panose="00000400000000000000" pitchFamily="2" charset="-52"/>
              </a:rPr>
              <a:t>.</a:t>
            </a:r>
            <a:endParaRPr lang="en-US" sz="2000" dirty="0">
              <a:latin typeface="Montserrat Light" panose="00000400000000000000" pitchFamily="2" charset="-52"/>
            </a:endParaRPr>
          </a:p>
          <a:p>
            <a:pPr marL="6350" indent="439738" algn="just">
              <a:buNone/>
            </a:pPr>
            <a:r>
              <a:rPr lang="ru-RU" sz="2000" dirty="0">
                <a:latin typeface="Montserrat Light" panose="00000400000000000000" pitchFamily="2" charset="-52"/>
              </a:rPr>
              <a:t>Примеры реестров:</a:t>
            </a:r>
            <a:endParaRPr lang="en-US" sz="2000" dirty="0">
              <a:latin typeface="Montserrat Light" panose="00000400000000000000" pitchFamily="2" charset="-52"/>
            </a:endParaRPr>
          </a:p>
          <a:p>
            <a:pPr marL="6350" indent="439738" algn="just"/>
            <a:r>
              <a:rPr lang="ru-RU" sz="2000" dirty="0">
                <a:latin typeface="Montserrat Light" panose="00000400000000000000" pitchFamily="2" charset="-52"/>
              </a:rPr>
              <a:t>Центр </a:t>
            </a:r>
            <a:r>
              <a:rPr lang="ru-RU" sz="2000" b="1" dirty="0">
                <a:latin typeface="Montserrat Light" panose="00000400000000000000" pitchFamily="2" charset="-52"/>
              </a:rPr>
              <a:t>Docker</a:t>
            </a:r>
            <a:r>
              <a:rPr lang="ru-RU" sz="2000" dirty="0">
                <a:latin typeface="Montserrat Light" panose="00000400000000000000" pitchFamily="2" charset="-52"/>
              </a:rPr>
              <a:t> — реестр, используемый для загрузки </a:t>
            </a:r>
            <a:r>
              <a:rPr lang="ru-RU" sz="2000" b="1" dirty="0" err="1">
                <a:latin typeface="Montserrat Light" panose="00000400000000000000" pitchFamily="2" charset="-52"/>
              </a:rPr>
              <a:t>docker-image</a:t>
            </a:r>
            <a:r>
              <a:rPr lang="ru-RU" sz="2000" dirty="0">
                <a:latin typeface="Montserrat Light" panose="00000400000000000000" pitchFamily="2" charset="-52"/>
              </a:rPr>
              <a:t>. Он обеспечивает их размещение и интеграцию с </a:t>
            </a:r>
            <a:r>
              <a:rPr lang="ru-RU" sz="2000" b="1" dirty="0" err="1">
                <a:latin typeface="Montserrat Light" panose="00000400000000000000" pitchFamily="2" charset="-52"/>
              </a:rPr>
              <a:t>GitHub</a:t>
            </a:r>
            <a:r>
              <a:rPr lang="ru-RU" sz="2000" dirty="0">
                <a:latin typeface="Montserrat Light" panose="00000400000000000000" pitchFamily="2" charset="-52"/>
              </a:rPr>
              <a:t> и </a:t>
            </a:r>
            <a:r>
              <a:rPr lang="ru-RU" sz="2000" b="1" dirty="0" err="1">
                <a:latin typeface="Montserrat Light" panose="00000400000000000000" pitchFamily="2" charset="-52"/>
              </a:rPr>
              <a:t>Bitbucket</a:t>
            </a:r>
            <a:r>
              <a:rPr lang="ru-RU" sz="2000" dirty="0">
                <a:latin typeface="Montserrat Light" panose="00000400000000000000" pitchFamily="2" charset="-52"/>
              </a:rPr>
              <a:t>.</a:t>
            </a:r>
          </a:p>
          <a:p>
            <a:pPr marL="6350" indent="439738" algn="just"/>
            <a:r>
              <a:rPr lang="ru-RU" sz="2000" dirty="0">
                <a:latin typeface="Montserrat Light" panose="00000400000000000000" pitchFamily="2" charset="-52"/>
              </a:rPr>
              <a:t>Контейнеры </a:t>
            </a:r>
            <a:r>
              <a:rPr lang="ru-RU" sz="2000" b="1" dirty="0">
                <a:latin typeface="Montserrat Light" panose="00000400000000000000" pitchFamily="2" charset="-52"/>
              </a:rPr>
              <a:t>Azure</a:t>
            </a:r>
            <a:r>
              <a:rPr lang="ru-RU" sz="2000" dirty="0">
                <a:latin typeface="Montserrat Light" panose="00000400000000000000" pitchFamily="2" charset="-52"/>
              </a:rPr>
              <a:t> — предназначен для работы с образами и их компонентами в директории </a:t>
            </a:r>
            <a:r>
              <a:rPr lang="ru-RU" sz="2000" b="1" dirty="0" err="1">
                <a:latin typeface="Montserrat Light" panose="00000400000000000000" pitchFamily="2" charset="-52"/>
              </a:rPr>
              <a:t>Azure</a:t>
            </a:r>
            <a:r>
              <a:rPr lang="ru-RU" sz="2000" b="1" dirty="0">
                <a:latin typeface="Montserrat Light" panose="00000400000000000000" pitchFamily="2" charset="-52"/>
              </a:rPr>
              <a:t> (</a:t>
            </a:r>
            <a:r>
              <a:rPr lang="ru-RU" sz="2000" b="1" dirty="0" err="1">
                <a:latin typeface="Montserrat Light" panose="00000400000000000000" pitchFamily="2" charset="-52"/>
              </a:rPr>
              <a:t>Azure</a:t>
            </a:r>
            <a:r>
              <a:rPr lang="ru-RU" sz="2000" b="1" dirty="0">
                <a:latin typeface="Montserrat Light" panose="00000400000000000000" pitchFamily="2" charset="-52"/>
              </a:rPr>
              <a:t> </a:t>
            </a:r>
            <a:r>
              <a:rPr lang="ru-RU" sz="2000" b="1" dirty="0" err="1">
                <a:latin typeface="Montserrat Light" panose="00000400000000000000" pitchFamily="2" charset="-52"/>
              </a:rPr>
              <a:t>Active</a:t>
            </a:r>
            <a:r>
              <a:rPr lang="ru-RU" sz="2000" b="1" dirty="0">
                <a:latin typeface="Montserrat Light" panose="00000400000000000000" pitchFamily="2" charset="-52"/>
              </a:rPr>
              <a:t> </a:t>
            </a:r>
            <a:r>
              <a:rPr lang="ru-RU" sz="2000" b="1" dirty="0" err="1">
                <a:latin typeface="Montserrat Light" panose="00000400000000000000" pitchFamily="2" charset="-52"/>
              </a:rPr>
              <a:t>Directory</a:t>
            </a:r>
            <a:r>
              <a:rPr lang="ru-RU" sz="2000" b="1" dirty="0">
                <a:latin typeface="Montserrat Light" panose="00000400000000000000" pitchFamily="2" charset="-52"/>
              </a:rPr>
              <a:t>)</a:t>
            </a:r>
            <a:r>
              <a:rPr lang="ru-RU" sz="2000" dirty="0">
                <a:latin typeface="Montserrat Light" panose="00000400000000000000" pitchFamily="2" charset="-52"/>
              </a:rPr>
              <a:t>.</a:t>
            </a:r>
          </a:p>
          <a:p>
            <a:pPr marL="6350" indent="439738" algn="just"/>
            <a:r>
              <a:rPr lang="ru-RU" sz="2000" dirty="0">
                <a:latin typeface="Montserrat Light" panose="00000400000000000000" pitchFamily="2" charset="-52"/>
              </a:rPr>
              <a:t>Доверенный реестр </a:t>
            </a:r>
            <a:r>
              <a:rPr lang="ru-RU" sz="2000" b="1" dirty="0">
                <a:latin typeface="Montserrat Light" panose="00000400000000000000" pitchFamily="2" charset="-52"/>
              </a:rPr>
              <a:t>Docker</a:t>
            </a:r>
            <a:r>
              <a:rPr lang="ru-RU" sz="2000" dirty="0">
                <a:latin typeface="Montserrat Light" panose="00000400000000000000" pitchFamily="2" charset="-52"/>
              </a:rPr>
              <a:t> или </a:t>
            </a:r>
            <a:r>
              <a:rPr lang="ru-RU" sz="2000" b="1" dirty="0">
                <a:latin typeface="Montserrat Light" panose="00000400000000000000" pitchFamily="2" charset="-52"/>
              </a:rPr>
              <a:t>DTR</a:t>
            </a:r>
            <a:r>
              <a:rPr lang="ru-RU" sz="2000" dirty="0">
                <a:latin typeface="Montserrat Light" panose="00000400000000000000" pitchFamily="2" charset="-52"/>
              </a:rPr>
              <a:t> — служба </a:t>
            </a:r>
            <a:r>
              <a:rPr lang="ru-RU" sz="2000" b="1" dirty="0" err="1">
                <a:latin typeface="Montserrat Light" panose="00000400000000000000" pitchFamily="2" charset="-52"/>
              </a:rPr>
              <a:t>docker</a:t>
            </a:r>
            <a:r>
              <a:rPr lang="ru-RU" sz="2000" b="1" dirty="0">
                <a:latin typeface="Montserrat Light" panose="00000400000000000000" pitchFamily="2" charset="-52"/>
              </a:rPr>
              <a:t>-реестра</a:t>
            </a:r>
            <a:r>
              <a:rPr lang="ru-RU" sz="2000" dirty="0">
                <a:latin typeface="Montserrat Light" panose="00000400000000000000" pitchFamily="2" charset="-52"/>
              </a:rPr>
              <a:t> для инсталляции на локальном компьютере или сети компании.</a:t>
            </a:r>
          </a:p>
        </p:txBody>
      </p:sp>
    </p:spTree>
    <p:extLst>
      <p:ext uri="{BB962C8B-B14F-4D97-AF65-F5344CB8AC3E}">
        <p14:creationId xmlns:p14="http://schemas.microsoft.com/office/powerpoint/2010/main" val="4243377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Определения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446088" algn="just">
              <a:buNone/>
            </a:pPr>
            <a:r>
              <a:rPr lang="ru-RU" sz="2200" dirty="0">
                <a:latin typeface="Montserrat Light" panose="00000400000000000000" pitchFamily="2" charset="-52"/>
              </a:rPr>
              <a:t>8</a:t>
            </a:r>
            <a:r>
              <a:rPr lang="en-US" sz="2200" dirty="0">
                <a:latin typeface="Montserrat Light" panose="00000400000000000000" pitchFamily="2" charset="-52"/>
              </a:rPr>
              <a:t>. </a:t>
            </a:r>
            <a:r>
              <a:rPr lang="ru-RU" sz="2200" b="1" dirty="0">
                <a:latin typeface="Montserrat Light" panose="00000400000000000000" pitchFamily="2" charset="-52"/>
              </a:rPr>
              <a:t>Docker-хаб (Docker-</a:t>
            </a:r>
            <a:r>
              <a:rPr lang="ru-RU" sz="2200" b="1" dirty="0" err="1">
                <a:latin typeface="Montserrat Light" panose="00000400000000000000" pitchFamily="2" charset="-52"/>
              </a:rPr>
              <a:t>hub</a:t>
            </a:r>
            <a:r>
              <a:rPr lang="ru-RU" sz="2200" b="1" dirty="0">
                <a:latin typeface="Montserrat Light" panose="00000400000000000000" pitchFamily="2" charset="-52"/>
              </a:rPr>
              <a:t>) </a:t>
            </a:r>
            <a:r>
              <a:rPr lang="ru-RU" sz="2200" dirty="0">
                <a:latin typeface="Montserrat Light" panose="00000400000000000000" pitchFamily="2" charset="-52"/>
              </a:rPr>
              <a:t>или </a:t>
            </a:r>
            <a:r>
              <a:rPr lang="ru-RU" sz="2200" b="1" dirty="0">
                <a:latin typeface="Montserrat Light" panose="00000400000000000000" pitchFamily="2" charset="-52"/>
              </a:rPr>
              <a:t>хранилище данных </a:t>
            </a:r>
            <a:r>
              <a:rPr lang="ru-RU" sz="2200" dirty="0">
                <a:latin typeface="Montserrat Light" panose="00000400000000000000" pitchFamily="2" charset="-52"/>
              </a:rPr>
              <a:t>— репозиторий, предназначенный для хранения образов с различным программным обеспечением. Наличие готовых элементов влияет на скорость разработки.</a:t>
            </a:r>
          </a:p>
          <a:p>
            <a:pPr marL="0" indent="446088" algn="just">
              <a:buNone/>
            </a:pPr>
            <a:r>
              <a:rPr lang="ru-RU" sz="2200" dirty="0">
                <a:latin typeface="Montserrat Light" panose="00000400000000000000" pitchFamily="2" charset="-52"/>
              </a:rPr>
              <a:t>9</a:t>
            </a:r>
            <a:r>
              <a:rPr lang="en-US" sz="2200" dirty="0">
                <a:latin typeface="Montserrat Light" panose="00000400000000000000" pitchFamily="2" charset="-52"/>
              </a:rPr>
              <a:t>. </a:t>
            </a:r>
            <a:r>
              <a:rPr lang="ru-RU" sz="2200" b="1" dirty="0">
                <a:latin typeface="Montserrat Light" panose="00000400000000000000" pitchFamily="2" charset="-52"/>
              </a:rPr>
              <a:t>Docker-хост (Docker-</a:t>
            </a:r>
            <a:r>
              <a:rPr lang="ru-RU" sz="2200" b="1" dirty="0" err="1">
                <a:latin typeface="Montserrat Light" panose="00000400000000000000" pitchFamily="2" charset="-52"/>
              </a:rPr>
              <a:t>host</a:t>
            </a:r>
            <a:r>
              <a:rPr lang="ru-RU" sz="2200" b="1" dirty="0">
                <a:latin typeface="Montserrat Light" panose="00000400000000000000" pitchFamily="2" charset="-52"/>
              </a:rPr>
              <a:t>) </a:t>
            </a:r>
            <a:r>
              <a:rPr lang="ru-RU" sz="2200" dirty="0">
                <a:latin typeface="Montserrat Light" panose="00000400000000000000" pitchFamily="2" charset="-52"/>
              </a:rPr>
              <a:t>— машинная среда для запуска контейнеров с программным обеспечением.</a:t>
            </a:r>
          </a:p>
          <a:p>
            <a:pPr marL="0" indent="446088" algn="just">
              <a:buNone/>
            </a:pPr>
            <a:r>
              <a:rPr lang="ru-RU" sz="2200" dirty="0">
                <a:latin typeface="Montserrat Light" panose="00000400000000000000" pitchFamily="2" charset="-52"/>
              </a:rPr>
              <a:t>10</a:t>
            </a:r>
            <a:r>
              <a:rPr lang="en-US" sz="2200" dirty="0">
                <a:latin typeface="Montserrat Light" panose="00000400000000000000" pitchFamily="2" charset="-52"/>
              </a:rPr>
              <a:t>. </a:t>
            </a:r>
            <a:r>
              <a:rPr lang="ru-RU" sz="2200" b="1" dirty="0">
                <a:latin typeface="Montserrat Light" panose="00000400000000000000" pitchFamily="2" charset="-52"/>
              </a:rPr>
              <a:t>Docker-сети (Docker-</a:t>
            </a:r>
            <a:r>
              <a:rPr lang="ru-RU" sz="2200" b="1" dirty="0" err="1">
                <a:latin typeface="Montserrat Light" panose="00000400000000000000" pitchFamily="2" charset="-52"/>
              </a:rPr>
              <a:t>networks</a:t>
            </a:r>
            <a:r>
              <a:rPr lang="ru-RU" sz="2200" b="1" dirty="0">
                <a:latin typeface="Montserrat Light" panose="00000400000000000000" pitchFamily="2" charset="-52"/>
              </a:rPr>
              <a:t>) </a:t>
            </a:r>
            <a:r>
              <a:rPr lang="ru-RU" sz="2200" dirty="0">
                <a:latin typeface="Montserrat Light" panose="00000400000000000000" pitchFamily="2" charset="-52"/>
              </a:rPr>
              <a:t>— применяются для организации сетевого интерфейса между приложениями, развернутыми в контейнерах.</a:t>
            </a:r>
            <a:endParaRPr lang="en-US" sz="2200" dirty="0">
              <a:latin typeface="Montserrat Light" panose="00000400000000000000" pitchFamily="2" charset="-52"/>
            </a:endParaRPr>
          </a:p>
          <a:p>
            <a:pPr marL="0" indent="446088" algn="just">
              <a:buNone/>
            </a:pPr>
            <a:r>
              <a:rPr lang="en-US" sz="2200" dirty="0">
                <a:latin typeface="Montserrat Light" panose="00000400000000000000" pitchFamily="2" charset="-52"/>
              </a:rPr>
              <a:t>11. </a:t>
            </a:r>
            <a:r>
              <a:rPr lang="en-US" sz="2200" b="1" dirty="0">
                <a:latin typeface="Montserrat Light" panose="00000400000000000000" pitchFamily="2" charset="-52"/>
              </a:rPr>
              <a:t>Docker Engine («</a:t>
            </a:r>
            <a:r>
              <a:rPr lang="ru-RU" sz="2200" b="1" dirty="0">
                <a:latin typeface="Montserrat Light" panose="00000400000000000000" pitchFamily="2" charset="-52"/>
              </a:rPr>
              <a:t>Движок» </a:t>
            </a:r>
            <a:r>
              <a:rPr lang="en-US" sz="2200" b="1" dirty="0">
                <a:latin typeface="Montserrat Light" panose="00000400000000000000" pitchFamily="2" charset="-52"/>
              </a:rPr>
              <a:t>Docker) </a:t>
            </a:r>
            <a:r>
              <a:rPr lang="en-US" sz="2200" dirty="0">
                <a:latin typeface="Montserrat Light" panose="00000400000000000000" pitchFamily="2" charset="-52"/>
              </a:rPr>
              <a:t>— </a:t>
            </a:r>
            <a:r>
              <a:rPr lang="ru-RU" sz="2200" dirty="0">
                <a:latin typeface="Montserrat Light" panose="00000400000000000000" pitchFamily="2" charset="-52"/>
              </a:rPr>
              <a:t>ядро механизма Докера. «Движок» отвечает за функционирование и обеспечение связи между основными </a:t>
            </a:r>
            <a:r>
              <a:rPr lang="en-US" sz="2200" dirty="0">
                <a:latin typeface="Montserrat Light" panose="00000400000000000000" pitchFamily="2" charset="-52"/>
              </a:rPr>
              <a:t>Docker-</a:t>
            </a:r>
            <a:r>
              <a:rPr lang="ru-RU" sz="2200" dirty="0">
                <a:latin typeface="Montserrat Light" panose="00000400000000000000" pitchFamily="2" charset="-52"/>
              </a:rPr>
              <a:t>объектами (реестром, образами и контейнерами</a:t>
            </a:r>
            <a:r>
              <a:rPr lang="en-US" sz="2200" dirty="0">
                <a:latin typeface="Montserrat Light" panose="00000400000000000000" pitchFamily="2" charset="-52"/>
              </a:rPr>
              <a:t>.</a:t>
            </a:r>
            <a:endParaRPr lang="ru-RU" sz="2200" dirty="0">
              <a:latin typeface="Montserrat Light" panose="000004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718674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Введение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8490"/>
            <a:ext cx="10515600" cy="4351338"/>
          </a:xfrm>
        </p:spPr>
        <p:txBody>
          <a:bodyPr>
            <a:noAutofit/>
          </a:bodyPr>
          <a:lstStyle/>
          <a:p>
            <a:pPr marL="0" indent="446088" algn="just">
              <a:buNone/>
            </a:pPr>
            <a:r>
              <a:rPr lang="ru-RU" sz="2400" dirty="0">
                <a:latin typeface="Montserrat Light" panose="00000400000000000000" pitchFamily="2" charset="-52"/>
              </a:rPr>
              <a:t> Быстрая доставка приложений (команды </a:t>
            </a:r>
            <a:r>
              <a:rPr lang="ru-RU" sz="2400" b="1" dirty="0" err="1">
                <a:latin typeface="Montserrat Light" panose="00000400000000000000" pitchFamily="2" charset="-52"/>
              </a:rPr>
              <a:t>docker</a:t>
            </a:r>
            <a:r>
              <a:rPr lang="ru-RU" sz="2400" b="1" dirty="0">
                <a:latin typeface="Montserrat Light" panose="00000400000000000000" pitchFamily="2" charset="-52"/>
              </a:rPr>
              <a:t> </a:t>
            </a:r>
            <a:r>
              <a:rPr lang="ru-RU" sz="2400" b="1" dirty="0" err="1">
                <a:latin typeface="Montserrat Light" panose="00000400000000000000" pitchFamily="2" charset="-52"/>
              </a:rPr>
              <a:t>pull</a:t>
            </a:r>
            <a:r>
              <a:rPr lang="ru-RU" sz="2400" b="1" dirty="0">
                <a:latin typeface="Montserrat Light" panose="00000400000000000000" pitchFamily="2" charset="-52"/>
              </a:rPr>
              <a:t> </a:t>
            </a:r>
            <a:r>
              <a:rPr lang="ru-RU" sz="2400" dirty="0">
                <a:latin typeface="Montserrat Light" panose="00000400000000000000" pitchFamily="2" charset="-52"/>
              </a:rPr>
              <a:t>и </a:t>
            </a:r>
            <a:r>
              <a:rPr lang="ru-RU" sz="2400" b="1" dirty="0" err="1">
                <a:latin typeface="Montserrat Light" panose="00000400000000000000" pitchFamily="2" charset="-52"/>
              </a:rPr>
              <a:t>docker</a:t>
            </a:r>
            <a:r>
              <a:rPr lang="ru-RU" sz="2400" b="1" dirty="0">
                <a:latin typeface="Montserrat Light" panose="00000400000000000000" pitchFamily="2" charset="-52"/>
              </a:rPr>
              <a:t> </a:t>
            </a:r>
            <a:r>
              <a:rPr lang="ru-RU" sz="2400" b="1" dirty="0" err="1">
                <a:latin typeface="Montserrat Light" panose="00000400000000000000" pitchFamily="2" charset="-52"/>
              </a:rPr>
              <a:t>push</a:t>
            </a:r>
            <a:r>
              <a:rPr lang="ru-RU" sz="2400" dirty="0">
                <a:latin typeface="Montserrat Light" panose="00000400000000000000" pitchFamily="2" charset="-52"/>
              </a:rPr>
              <a:t>) позволяет организовать коллективную работу над проектом. Разработчики могут работать удаленно на локальных компьютерах и выполнять пересылку фрагментов кода в контейнер для тестов.</a:t>
            </a:r>
          </a:p>
          <a:p>
            <a:pPr marL="0" indent="446088" algn="just">
              <a:buNone/>
            </a:pPr>
            <a:r>
              <a:rPr lang="ru-RU" sz="2400" dirty="0">
                <a:latin typeface="Montserrat Light" panose="00000400000000000000" pitchFamily="2" charset="-52"/>
              </a:rPr>
              <a:t>Развертывание и масштабирование — контейнеры работоспособны на локальных компьютерах, серверах, в облачных онлайн-сервисах. Их можно загружать на хостинг для дальнейшего тестирования, создавать (</a:t>
            </a:r>
            <a:r>
              <a:rPr lang="ru-RU" sz="2400" b="1" dirty="0" err="1">
                <a:latin typeface="Montserrat Light" panose="00000400000000000000" pitchFamily="2" charset="-52"/>
              </a:rPr>
              <a:t>docker</a:t>
            </a:r>
            <a:r>
              <a:rPr lang="ru-RU" sz="2400" b="1" dirty="0">
                <a:latin typeface="Montserrat Light" panose="00000400000000000000" pitchFamily="2" charset="-52"/>
              </a:rPr>
              <a:t> </a:t>
            </a:r>
            <a:r>
              <a:rPr lang="ru-RU" sz="2400" b="1" dirty="0" err="1">
                <a:latin typeface="Montserrat Light" panose="00000400000000000000" pitchFamily="2" charset="-52"/>
              </a:rPr>
              <a:t>run</a:t>
            </a:r>
            <a:r>
              <a:rPr lang="ru-RU" sz="2400" dirty="0">
                <a:latin typeface="Montserrat Light" panose="00000400000000000000" pitchFamily="2" charset="-52"/>
              </a:rPr>
              <a:t>), останавливать (</a:t>
            </a:r>
            <a:r>
              <a:rPr lang="ru-RU" sz="2400" b="1" dirty="0" err="1">
                <a:latin typeface="Montserrat Light" panose="00000400000000000000" pitchFamily="2" charset="-52"/>
              </a:rPr>
              <a:t>docker</a:t>
            </a:r>
            <a:r>
              <a:rPr lang="ru-RU" sz="2400" b="1" dirty="0">
                <a:latin typeface="Montserrat Light" panose="00000400000000000000" pitchFamily="2" charset="-52"/>
              </a:rPr>
              <a:t> </a:t>
            </a:r>
            <a:r>
              <a:rPr lang="ru-RU" sz="2400" b="1" dirty="0" err="1">
                <a:latin typeface="Montserrat Light" panose="00000400000000000000" pitchFamily="2" charset="-52"/>
              </a:rPr>
              <a:t>stop</a:t>
            </a:r>
            <a:r>
              <a:rPr lang="ru-RU" sz="2400" dirty="0">
                <a:latin typeface="Montserrat Light" panose="00000400000000000000" pitchFamily="2" charset="-52"/>
              </a:rPr>
              <a:t>), запускать (</a:t>
            </a:r>
            <a:r>
              <a:rPr lang="ru-RU" sz="2400" b="1" dirty="0" err="1">
                <a:latin typeface="Montserrat Light" panose="00000400000000000000" pitchFamily="2" charset="-52"/>
              </a:rPr>
              <a:t>docker</a:t>
            </a:r>
            <a:r>
              <a:rPr lang="ru-RU" sz="2400" b="1" dirty="0">
                <a:latin typeface="Montserrat Light" panose="00000400000000000000" pitchFamily="2" charset="-52"/>
              </a:rPr>
              <a:t> </a:t>
            </a:r>
            <a:r>
              <a:rPr lang="ru-RU" sz="2400" b="1" dirty="0" err="1">
                <a:latin typeface="Montserrat Light" panose="00000400000000000000" pitchFamily="2" charset="-52"/>
              </a:rPr>
              <a:t>start</a:t>
            </a:r>
            <a:r>
              <a:rPr lang="ru-RU" sz="2400" dirty="0">
                <a:latin typeface="Montserrat Light" panose="00000400000000000000" pitchFamily="2" charset="-52"/>
              </a:rPr>
              <a:t>), приостанавливать и возобновлять (</a:t>
            </a:r>
            <a:r>
              <a:rPr lang="ru-RU" sz="2400" b="1" dirty="0" err="1">
                <a:latin typeface="Montserrat Light" panose="00000400000000000000" pitchFamily="2" charset="-52"/>
              </a:rPr>
              <a:t>docker</a:t>
            </a:r>
            <a:r>
              <a:rPr lang="ru-RU" sz="2400" b="1" dirty="0">
                <a:latin typeface="Montserrat Light" panose="00000400000000000000" pitchFamily="2" charset="-52"/>
              </a:rPr>
              <a:t> </a:t>
            </a:r>
            <a:r>
              <a:rPr lang="ru-RU" sz="2400" b="1" dirty="0" err="1">
                <a:latin typeface="Montserrat Light" panose="00000400000000000000" pitchFamily="2" charset="-52"/>
              </a:rPr>
              <a:t>pause</a:t>
            </a:r>
            <a:r>
              <a:rPr lang="ru-RU" sz="2400" b="1" dirty="0">
                <a:latin typeface="Montserrat Light" panose="00000400000000000000" pitchFamily="2" charset="-52"/>
              </a:rPr>
              <a:t> </a:t>
            </a:r>
            <a:r>
              <a:rPr lang="ru-RU" sz="2400" dirty="0">
                <a:latin typeface="Montserrat Light" panose="00000400000000000000" pitchFamily="2" charset="-52"/>
              </a:rPr>
              <a:t>и </a:t>
            </a:r>
            <a:r>
              <a:rPr lang="ru-RU" sz="2400" b="1" dirty="0" err="1">
                <a:latin typeface="Montserrat Light" panose="00000400000000000000" pitchFamily="2" charset="-52"/>
              </a:rPr>
              <a:t>docker</a:t>
            </a:r>
            <a:r>
              <a:rPr lang="ru-RU" sz="2400" b="1" dirty="0">
                <a:latin typeface="Montserrat Light" panose="00000400000000000000" pitchFamily="2" charset="-52"/>
              </a:rPr>
              <a:t> </a:t>
            </a:r>
            <a:r>
              <a:rPr lang="ru-RU" sz="2400" b="1" dirty="0" err="1">
                <a:latin typeface="Montserrat Light" panose="00000400000000000000" pitchFamily="2" charset="-52"/>
              </a:rPr>
              <a:t>unpause</a:t>
            </a:r>
            <a:r>
              <a:rPr lang="ru-RU" sz="2400" dirty="0">
                <a:latin typeface="Montserrat Light" panose="00000400000000000000" pitchFamily="2" charset="-52"/>
              </a:rPr>
              <a:t> соответственно).</a:t>
            </a:r>
          </a:p>
          <a:p>
            <a:pPr marL="0" indent="446088" algn="just"/>
            <a:endParaRPr lang="ru-RU" sz="2400" dirty="0">
              <a:latin typeface="Montserrat Light" panose="000004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732362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Введение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8490"/>
            <a:ext cx="10515600" cy="4351338"/>
          </a:xfrm>
        </p:spPr>
        <p:txBody>
          <a:bodyPr>
            <a:noAutofit/>
          </a:bodyPr>
          <a:lstStyle/>
          <a:p>
            <a:pPr marL="0" indent="360363" algn="just">
              <a:buNone/>
            </a:pPr>
            <a:r>
              <a:rPr lang="ru-RU" dirty="0">
                <a:latin typeface="Montserrat Light" panose="00000400000000000000" pitchFamily="2" charset="-52"/>
              </a:rPr>
              <a:t>Множественные нагрузки — осуществление запуска большого количества контейнеров на одном и том же оборудовании, поскольку Docker занимает небольшой объем дисковой памяти.</a:t>
            </a:r>
          </a:p>
          <a:p>
            <a:pPr marL="0" indent="360363" algn="just">
              <a:buNone/>
            </a:pPr>
            <a:r>
              <a:rPr lang="ru-RU" dirty="0">
                <a:latin typeface="Montserrat Light" panose="00000400000000000000" pitchFamily="2" charset="-52"/>
              </a:rPr>
              <a:t>Диспетчер процессов — возможность мониторинга процессов в Docker посредством команд </a:t>
            </a:r>
            <a:r>
              <a:rPr lang="ru-RU" b="1" dirty="0" err="1">
                <a:latin typeface="Montserrat Light" panose="00000400000000000000" pitchFamily="2" charset="-52"/>
              </a:rPr>
              <a:t>docker</a:t>
            </a:r>
            <a:r>
              <a:rPr lang="ru-RU" b="1" dirty="0">
                <a:latin typeface="Montserrat Light" panose="00000400000000000000" pitchFamily="2" charset="-52"/>
              </a:rPr>
              <a:t> </a:t>
            </a:r>
            <a:r>
              <a:rPr lang="ru-RU" b="1" dirty="0" err="1">
                <a:latin typeface="Montserrat Light" panose="00000400000000000000" pitchFamily="2" charset="-52"/>
              </a:rPr>
              <a:t>ps</a:t>
            </a:r>
            <a:r>
              <a:rPr lang="ru-RU" b="1" dirty="0">
                <a:latin typeface="Montserrat Light" panose="00000400000000000000" pitchFamily="2" charset="-52"/>
              </a:rPr>
              <a:t> </a:t>
            </a:r>
            <a:r>
              <a:rPr lang="ru-RU" dirty="0">
                <a:latin typeface="Montserrat Light" panose="00000400000000000000" pitchFamily="2" charset="-52"/>
              </a:rPr>
              <a:t>и </a:t>
            </a:r>
            <a:r>
              <a:rPr lang="ru-RU" b="1" dirty="0" err="1">
                <a:latin typeface="Montserrat Light" panose="00000400000000000000" pitchFamily="2" charset="-52"/>
              </a:rPr>
              <a:t>docker</a:t>
            </a:r>
            <a:r>
              <a:rPr lang="ru-RU" b="1" dirty="0">
                <a:latin typeface="Montserrat Light" panose="00000400000000000000" pitchFamily="2" charset="-52"/>
              </a:rPr>
              <a:t> </a:t>
            </a:r>
            <a:r>
              <a:rPr lang="ru-RU" b="1" dirty="0" err="1">
                <a:latin typeface="Montserrat Light" panose="00000400000000000000" pitchFamily="2" charset="-52"/>
              </a:rPr>
              <a:t>top</a:t>
            </a:r>
            <a:r>
              <a:rPr lang="ru-RU" dirty="0">
                <a:latin typeface="Montserrat Light" panose="00000400000000000000" pitchFamily="2" charset="-52"/>
              </a:rPr>
              <a:t>, имеющими схожий синтаксис с Linux.</a:t>
            </a:r>
          </a:p>
          <a:p>
            <a:pPr marL="0" indent="360363" algn="just">
              <a:buNone/>
            </a:pPr>
            <a:r>
              <a:rPr lang="ru-RU" dirty="0">
                <a:latin typeface="Montserrat Light" panose="00000400000000000000" pitchFamily="2" charset="-52"/>
              </a:rPr>
              <a:t>Удобный поиск — в реестрах </a:t>
            </a:r>
            <a:r>
              <a:rPr lang="ru-RU" b="1" dirty="0">
                <a:latin typeface="Montserrat Light" panose="00000400000000000000" pitchFamily="2" charset="-52"/>
              </a:rPr>
              <a:t>Docker</a:t>
            </a:r>
            <a:r>
              <a:rPr lang="ru-RU" dirty="0">
                <a:latin typeface="Montserrat Light" panose="00000400000000000000" pitchFamily="2" charset="-52"/>
              </a:rPr>
              <a:t> он осуществляется очень просто. Для этого следует использовать команду </a:t>
            </a:r>
            <a:r>
              <a:rPr lang="ru-RU" b="1" dirty="0" err="1">
                <a:latin typeface="Montserrat Light" panose="00000400000000000000" pitchFamily="2" charset="-52"/>
              </a:rPr>
              <a:t>docker</a:t>
            </a:r>
            <a:r>
              <a:rPr lang="ru-RU" b="1" dirty="0">
                <a:latin typeface="Montserrat Light" panose="00000400000000000000" pitchFamily="2" charset="-52"/>
              </a:rPr>
              <a:t> </a:t>
            </a:r>
            <a:r>
              <a:rPr lang="ru-RU" b="1" dirty="0" err="1">
                <a:latin typeface="Montserrat Light" panose="00000400000000000000" pitchFamily="2" charset="-52"/>
              </a:rPr>
              <a:t>search</a:t>
            </a:r>
            <a:r>
              <a:rPr lang="ru-RU" dirty="0">
                <a:latin typeface="Montserrat Light" panose="00000400000000000000" pitchFamily="2" charset="-5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79918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Установка </a:t>
            </a:r>
            <a:r>
              <a:rPr lang="en-US" sz="3200" dirty="0">
                <a:latin typeface="Montserrat" pitchFamily="2" charset="0"/>
              </a:rPr>
              <a:t>Docker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446088" algn="just">
              <a:buNone/>
            </a:pPr>
            <a:r>
              <a:rPr lang="ru-RU" sz="2400" dirty="0">
                <a:latin typeface="Montserrat Light" panose="00000400000000000000" pitchFamily="2" charset="-52"/>
              </a:rPr>
              <a:t>Для установки </a:t>
            </a:r>
            <a:r>
              <a:rPr lang="en-US" sz="2400" dirty="0">
                <a:latin typeface="Montserrat Light" panose="00000400000000000000" pitchFamily="2" charset="-52"/>
              </a:rPr>
              <a:t>Docker </a:t>
            </a:r>
            <a:r>
              <a:rPr lang="ru-RU" sz="2400" dirty="0">
                <a:latin typeface="Montserrat Light" panose="00000400000000000000" pitchFamily="2" charset="-52"/>
              </a:rPr>
              <a:t>необходимо настроить репозиторий</a:t>
            </a:r>
            <a:r>
              <a:rPr lang="en-US" sz="2400" dirty="0">
                <a:latin typeface="Montserrat Light" panose="00000400000000000000" pitchFamily="2" charset="-52"/>
              </a:rPr>
              <a:t>:</a:t>
            </a:r>
          </a:p>
          <a:p>
            <a:pPr marL="0" indent="446088" algn="just">
              <a:buNone/>
            </a:pPr>
            <a:r>
              <a:rPr lang="en-US" sz="2400" b="1" dirty="0">
                <a:latin typeface="Montserrat Light" panose="00000400000000000000" pitchFamily="2" charset="-52"/>
              </a:rPr>
              <a:t>apt update</a:t>
            </a:r>
          </a:p>
          <a:p>
            <a:pPr marL="0" indent="446088" algn="just">
              <a:buNone/>
            </a:pPr>
            <a:r>
              <a:rPr lang="ru-RU" sz="2400" dirty="0">
                <a:latin typeface="Montserrat Light" panose="00000400000000000000" pitchFamily="2" charset="-52"/>
              </a:rPr>
              <a:t>Установить дополнительные пакеты:</a:t>
            </a:r>
            <a:endParaRPr lang="en-US" sz="2400" dirty="0">
              <a:latin typeface="Montserrat Light" panose="00000400000000000000" pitchFamily="2" charset="-52"/>
            </a:endParaRPr>
          </a:p>
          <a:p>
            <a:pPr marL="0" indent="446088" algn="just">
              <a:buNone/>
            </a:pPr>
            <a:r>
              <a:rPr lang="en-US" sz="2400" b="1" dirty="0">
                <a:latin typeface="Montserrat Light" panose="00000400000000000000" pitchFamily="2" charset="-52"/>
              </a:rPr>
              <a:t>apt install  ca-certificates  curl  </a:t>
            </a:r>
            <a:r>
              <a:rPr lang="en-US" sz="2400" b="1" dirty="0" err="1">
                <a:latin typeface="Montserrat Light" panose="00000400000000000000" pitchFamily="2" charset="-52"/>
              </a:rPr>
              <a:t>gnupg</a:t>
            </a:r>
            <a:r>
              <a:rPr lang="en-US" sz="2400" b="1" dirty="0">
                <a:latin typeface="Montserrat Light" panose="00000400000000000000" pitchFamily="2" charset="-52"/>
              </a:rPr>
              <a:t>  </a:t>
            </a:r>
            <a:r>
              <a:rPr lang="en-US" sz="2400" b="1" dirty="0" err="1">
                <a:latin typeface="Montserrat Light" panose="00000400000000000000" pitchFamily="2" charset="-52"/>
              </a:rPr>
              <a:t>lsb</a:t>
            </a:r>
            <a:r>
              <a:rPr lang="en-US" sz="2400" b="1" dirty="0">
                <a:latin typeface="Montserrat Light" panose="00000400000000000000" pitchFamily="2" charset="-52"/>
              </a:rPr>
              <a:t>-release</a:t>
            </a:r>
            <a:endParaRPr lang="ru-RU" sz="2400" b="1" dirty="0">
              <a:latin typeface="Montserrat Light" panose="00000400000000000000" pitchFamily="2" charset="-52"/>
            </a:endParaRPr>
          </a:p>
          <a:p>
            <a:pPr marL="0" indent="446088" algn="just">
              <a:buNone/>
            </a:pPr>
            <a:r>
              <a:rPr lang="ru-RU" sz="2400" b="0" i="0" dirty="0">
                <a:solidFill>
                  <a:srgbClr val="0F161E"/>
                </a:solidFill>
                <a:effectLst/>
                <a:latin typeface="Montserrat Light" panose="00000400000000000000" pitchFamily="2" charset="-52"/>
              </a:rPr>
              <a:t>Добавьте официальный </a:t>
            </a:r>
            <a:r>
              <a:rPr lang="en-US" sz="2400" b="0" i="0" dirty="0">
                <a:solidFill>
                  <a:srgbClr val="0F161E"/>
                </a:solidFill>
                <a:effectLst/>
                <a:latin typeface="Montserrat Light" panose="00000400000000000000" pitchFamily="2" charset="-52"/>
              </a:rPr>
              <a:t>GPG-</a:t>
            </a:r>
            <a:r>
              <a:rPr lang="ru-RU" sz="2400" b="0" i="0" dirty="0">
                <a:solidFill>
                  <a:srgbClr val="0F161E"/>
                </a:solidFill>
                <a:effectLst/>
                <a:latin typeface="Montserrat Light" panose="00000400000000000000" pitchFamily="2" charset="-52"/>
              </a:rPr>
              <a:t>ключ </a:t>
            </a:r>
            <a:r>
              <a:rPr lang="en-US" sz="2400" b="0" i="0" dirty="0">
                <a:solidFill>
                  <a:srgbClr val="0F161E"/>
                </a:solidFill>
                <a:effectLst/>
                <a:latin typeface="Montserrat Light" panose="00000400000000000000" pitchFamily="2" charset="-52"/>
              </a:rPr>
              <a:t>Docker:</a:t>
            </a:r>
            <a:endParaRPr lang="ru-RU" sz="2400" b="0" i="0" dirty="0">
              <a:solidFill>
                <a:srgbClr val="0F161E"/>
              </a:solidFill>
              <a:effectLst/>
              <a:latin typeface="Montserrat Light" panose="00000400000000000000" pitchFamily="2" charset="-52"/>
            </a:endParaRPr>
          </a:p>
          <a:p>
            <a:pPr marL="0" indent="446088">
              <a:buNone/>
            </a:pPr>
            <a:r>
              <a:rPr lang="ru-RU" sz="2400" b="1" dirty="0">
                <a:latin typeface="Montserrat Light" panose="00000400000000000000" pitchFamily="2" charset="-52"/>
              </a:rPr>
              <a:t> </a:t>
            </a:r>
            <a:r>
              <a:rPr lang="en-US" sz="2400" b="1" dirty="0" err="1">
                <a:latin typeface="Montserrat Light" panose="00000400000000000000" pitchFamily="2" charset="-52"/>
              </a:rPr>
              <a:t>mkdir</a:t>
            </a:r>
            <a:r>
              <a:rPr lang="en-US" sz="2400" b="1" dirty="0">
                <a:latin typeface="Montserrat Light" panose="00000400000000000000" pitchFamily="2" charset="-52"/>
              </a:rPr>
              <a:t> -p /etc/apt/keyrings </a:t>
            </a:r>
            <a:endParaRPr lang="ru-RU" sz="2400" b="1" dirty="0">
              <a:latin typeface="Montserrat Light" panose="00000400000000000000" pitchFamily="2" charset="-52"/>
            </a:endParaRPr>
          </a:p>
          <a:p>
            <a:pPr marL="0" indent="446088">
              <a:buNone/>
            </a:pPr>
            <a:r>
              <a:rPr lang="en-US" sz="2400" b="1" dirty="0">
                <a:latin typeface="Montserrat Light" panose="00000400000000000000" pitchFamily="2" charset="-52"/>
              </a:rPr>
              <a:t>curl -fsSL https://download.docker.com/linux/debian/gpg | sudo gpg</a:t>
            </a:r>
            <a:endParaRPr lang="ru-RU" sz="2400" b="1" dirty="0">
              <a:latin typeface="Montserrat Light" panose="00000400000000000000" pitchFamily="2" charset="-52"/>
            </a:endParaRPr>
          </a:p>
          <a:p>
            <a:pPr marL="0" indent="446088">
              <a:buNone/>
            </a:pPr>
            <a:r>
              <a:rPr lang="en-US" sz="2400" b="1" dirty="0">
                <a:latin typeface="Montserrat Light" panose="00000400000000000000" pitchFamily="2" charset="-52"/>
              </a:rPr>
              <a:t>--dearmor -o /etc/apt/keyrings/docker.gpg</a:t>
            </a:r>
            <a:endParaRPr lang="ru-RU" sz="2400" b="1" dirty="0">
              <a:latin typeface="Montserrat Light" panose="000004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088560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Настройка репозитория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59256" cy="4351338"/>
          </a:xfrm>
        </p:spPr>
        <p:txBody>
          <a:bodyPr>
            <a:noAutofit/>
          </a:bodyPr>
          <a:lstStyle/>
          <a:p>
            <a:pPr marL="0" indent="446088">
              <a:buNone/>
            </a:pPr>
            <a:r>
              <a:rPr lang="ru-RU" b="0" i="0" dirty="0">
                <a:solidFill>
                  <a:srgbClr val="0F161E"/>
                </a:solidFill>
                <a:effectLst/>
                <a:latin typeface="Montserrat Light" panose="00000400000000000000" pitchFamily="2" charset="-52"/>
              </a:rPr>
              <a:t>Настройка репозитория</a:t>
            </a:r>
            <a:r>
              <a:rPr lang="en-US" b="0" i="0" dirty="0">
                <a:solidFill>
                  <a:srgbClr val="0F161E"/>
                </a:solidFill>
                <a:effectLst/>
                <a:latin typeface="Montserrat Light" panose="00000400000000000000" pitchFamily="2" charset="-52"/>
              </a:rPr>
              <a:t> Docker</a:t>
            </a:r>
            <a:r>
              <a:rPr lang="ru-RU" b="0" i="0" dirty="0">
                <a:solidFill>
                  <a:srgbClr val="0F161E"/>
                </a:solidFill>
                <a:effectLst/>
                <a:latin typeface="Montserrat Light" panose="00000400000000000000" pitchFamily="2" charset="-52"/>
              </a:rPr>
              <a:t>:</a:t>
            </a:r>
          </a:p>
          <a:p>
            <a:pPr marL="0" indent="446088">
              <a:buNone/>
            </a:pPr>
            <a:endParaRPr lang="ru-RU" b="0" i="0" dirty="0">
              <a:solidFill>
                <a:srgbClr val="0F161E"/>
              </a:solidFill>
              <a:effectLst/>
              <a:latin typeface="Montserrat Light" panose="00000400000000000000" pitchFamily="2" charset="-52"/>
            </a:endParaRPr>
          </a:p>
          <a:p>
            <a:pPr marL="0" indent="446088">
              <a:buNone/>
            </a:pPr>
            <a:r>
              <a:rPr lang="en-US" b="1">
                <a:latin typeface="Montserrat Light" panose="00000400000000000000" pitchFamily="2" charset="-52"/>
              </a:rPr>
              <a:t>echo </a:t>
            </a:r>
            <a:r>
              <a:rPr lang="en-US" b="1" smtClean="0">
                <a:latin typeface="Montserrat Light" panose="00000400000000000000" pitchFamily="2" charset="-52"/>
              </a:rPr>
              <a:t>\"</a:t>
            </a:r>
            <a:r>
              <a:rPr lang="en-US" b="1" dirty="0">
                <a:latin typeface="Montserrat Light" panose="00000400000000000000" pitchFamily="2" charset="-52"/>
              </a:rPr>
              <a:t>deb [arch=$(dpkg --print-architecture) </a:t>
            </a:r>
            <a:r>
              <a:rPr lang="en-US" b="1" dirty="0" smtClean="0">
                <a:latin typeface="Montserrat Light" panose="00000400000000000000" pitchFamily="2" charset="-52"/>
              </a:rPr>
              <a:t>signed-by</a:t>
            </a:r>
            <a:r>
              <a:rPr lang="en-US" b="1" dirty="0">
                <a:latin typeface="Montserrat Light" panose="00000400000000000000" pitchFamily="2" charset="-52"/>
              </a:rPr>
              <a:t>=/etc/apt/keyrings/docker.gpg] https://</a:t>
            </a:r>
            <a:r>
              <a:rPr lang="en-US" b="1" dirty="0" smtClean="0">
                <a:latin typeface="Montserrat Light" panose="00000400000000000000" pitchFamily="2" charset="-52"/>
              </a:rPr>
              <a:t>download.docker.com/linux/debian </a:t>
            </a:r>
            <a:r>
              <a:rPr lang="en-US" b="1" dirty="0">
                <a:latin typeface="Montserrat Light" panose="00000400000000000000" pitchFamily="2" charset="-52"/>
              </a:rPr>
              <a:t>$(lsb_release -cs) stable" | sudo tee /etc/apt/sources.list.d/docker.list &gt; /dev/null</a:t>
            </a:r>
            <a:endParaRPr lang="ru-RU" b="1" dirty="0">
              <a:latin typeface="Montserrat Light" panose="000004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769181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Установка </a:t>
            </a:r>
            <a:r>
              <a:rPr lang="en-US" sz="3200" dirty="0">
                <a:latin typeface="Montserrat" pitchFamily="2" charset="0"/>
              </a:rPr>
              <a:t>Engine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446088" algn="just">
              <a:buNone/>
            </a:pPr>
            <a:r>
              <a:rPr lang="ru-RU" dirty="0">
                <a:latin typeface="Montserrat Light" panose="00000400000000000000" pitchFamily="2" charset="-52"/>
              </a:rPr>
              <a:t>Установка </a:t>
            </a:r>
            <a:r>
              <a:rPr lang="en-US" b="1" i="0" dirty="0">
                <a:solidFill>
                  <a:srgbClr val="222222"/>
                </a:solidFill>
                <a:effectLst/>
                <a:latin typeface="Montserrat Light" panose="00000400000000000000" pitchFamily="2" charset="-52"/>
              </a:rPr>
              <a:t>Docker Engine</a:t>
            </a:r>
            <a:r>
              <a:rPr lang="en-US" b="0" i="0" dirty="0">
                <a:solidFill>
                  <a:srgbClr val="222222"/>
                </a:solidFill>
                <a:effectLst/>
                <a:latin typeface="Montserrat Light" panose="00000400000000000000" pitchFamily="2" charset="-52"/>
              </a:rPr>
              <a:t>:</a:t>
            </a:r>
            <a:endParaRPr lang="ru-RU" b="0" i="0" dirty="0">
              <a:solidFill>
                <a:srgbClr val="222222"/>
              </a:solidFill>
              <a:effectLst/>
              <a:latin typeface="Montserrat Light" panose="00000400000000000000" pitchFamily="2" charset="-52"/>
            </a:endParaRPr>
          </a:p>
          <a:p>
            <a:pPr marL="0" indent="446088" algn="just">
              <a:buNone/>
            </a:pPr>
            <a:endParaRPr lang="ru-RU" b="0" i="0" dirty="0">
              <a:solidFill>
                <a:srgbClr val="222222"/>
              </a:solidFill>
              <a:effectLst/>
              <a:latin typeface="Montserrat Light" panose="00000400000000000000" pitchFamily="2" charset="-52"/>
            </a:endParaRPr>
          </a:p>
          <a:p>
            <a:pPr marL="0" indent="446088" algn="just">
              <a:buNone/>
            </a:pPr>
            <a:r>
              <a:rPr lang="en-US" b="1" dirty="0">
                <a:latin typeface="Montserrat Light" panose="00000400000000000000" pitchFamily="2" charset="-52"/>
              </a:rPr>
              <a:t>apt update</a:t>
            </a:r>
            <a:endParaRPr lang="ru-RU" b="1" dirty="0">
              <a:latin typeface="Montserrat Light" panose="00000400000000000000" pitchFamily="2" charset="-52"/>
            </a:endParaRPr>
          </a:p>
          <a:p>
            <a:pPr marL="0" indent="446088" algn="just">
              <a:buNone/>
            </a:pPr>
            <a:r>
              <a:rPr lang="en-US" b="1" dirty="0">
                <a:latin typeface="Montserrat Light" panose="00000400000000000000" pitchFamily="2" charset="-52"/>
              </a:rPr>
              <a:t>sudo apt install docker-</a:t>
            </a:r>
            <a:r>
              <a:rPr lang="en-US" b="1" dirty="0" err="1">
                <a:latin typeface="Montserrat Light" panose="00000400000000000000" pitchFamily="2" charset="-52"/>
              </a:rPr>
              <a:t>ce</a:t>
            </a:r>
            <a:r>
              <a:rPr lang="en-US" b="1" dirty="0">
                <a:latin typeface="Montserrat Light" panose="00000400000000000000" pitchFamily="2" charset="-52"/>
              </a:rPr>
              <a:t> docker-</a:t>
            </a:r>
            <a:r>
              <a:rPr lang="en-US" b="1" dirty="0" err="1">
                <a:latin typeface="Montserrat Light" panose="00000400000000000000" pitchFamily="2" charset="-52"/>
              </a:rPr>
              <a:t>ce</a:t>
            </a:r>
            <a:r>
              <a:rPr lang="en-US" b="1" dirty="0">
                <a:latin typeface="Montserrat Light" panose="00000400000000000000" pitchFamily="2" charset="-52"/>
              </a:rPr>
              <a:t>-cli containerd.io docker-compose-plugin</a:t>
            </a:r>
            <a:endParaRPr lang="ru-RU" b="1" dirty="0">
              <a:latin typeface="Montserrat Light" panose="000004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904642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en-US" sz="3200" dirty="0">
                <a:latin typeface="Montserrat" pitchFamily="2" charset="0"/>
              </a:rPr>
              <a:t>Hello-World </a:t>
            </a:r>
            <a:r>
              <a:rPr lang="ru-RU" sz="3200" dirty="0">
                <a:latin typeface="Montserrat" pitchFamily="2" charset="0"/>
              </a:rPr>
              <a:t>образ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446088" algn="just">
              <a:buNone/>
            </a:pPr>
            <a:r>
              <a:rPr lang="ru-RU" dirty="0">
                <a:latin typeface="Montserrat Light" panose="00000400000000000000" pitchFamily="2" charset="-52"/>
              </a:rPr>
              <a:t>После установки необходимо убедиться, что установка </a:t>
            </a:r>
            <a:r>
              <a:rPr lang="ru-RU" b="1" dirty="0">
                <a:latin typeface="Montserrat Light" panose="00000400000000000000" pitchFamily="2" charset="-52"/>
              </a:rPr>
              <a:t>Docker Engine </a:t>
            </a:r>
            <a:r>
              <a:rPr lang="ru-RU" dirty="0">
                <a:latin typeface="Montserrat Light" panose="00000400000000000000" pitchFamily="2" charset="-52"/>
              </a:rPr>
              <a:t>прошла успешно, запустив </a:t>
            </a:r>
            <a:r>
              <a:rPr lang="ru-RU" b="1" dirty="0" err="1">
                <a:latin typeface="Montserrat Light" panose="00000400000000000000" pitchFamily="2" charset="-52"/>
              </a:rPr>
              <a:t>hello-world</a:t>
            </a:r>
            <a:r>
              <a:rPr lang="en-US" b="1" dirty="0">
                <a:latin typeface="Montserrat Light" panose="00000400000000000000" pitchFamily="2" charset="-52"/>
              </a:rPr>
              <a:t> </a:t>
            </a:r>
            <a:r>
              <a:rPr lang="ru-RU" b="1" dirty="0">
                <a:latin typeface="Montserrat Light" panose="00000400000000000000" pitchFamily="2" charset="-52"/>
              </a:rPr>
              <a:t>образ</a:t>
            </a:r>
            <a:r>
              <a:rPr lang="ru-RU" dirty="0">
                <a:latin typeface="Montserrat Light" panose="00000400000000000000" pitchFamily="2" charset="-52"/>
              </a:rPr>
              <a:t>:</a:t>
            </a:r>
          </a:p>
          <a:p>
            <a:pPr marL="0" indent="446088" algn="just">
              <a:buNone/>
            </a:pPr>
            <a:endParaRPr lang="en-US" dirty="0">
              <a:latin typeface="Montserrat Light" panose="00000400000000000000" pitchFamily="2" charset="-52"/>
            </a:endParaRPr>
          </a:p>
          <a:p>
            <a:pPr marL="0" indent="446088" algn="just">
              <a:buNone/>
            </a:pPr>
            <a:r>
              <a:rPr lang="en-US" b="1" dirty="0">
                <a:latin typeface="Montserrat Light" panose="00000400000000000000" pitchFamily="2" charset="-52"/>
              </a:rPr>
              <a:t>docker run hello-world</a:t>
            </a:r>
            <a:endParaRPr lang="ru-RU" b="1" dirty="0">
              <a:latin typeface="Montserrat Light" panose="000004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819415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en-US" sz="3200" dirty="0">
                <a:latin typeface="Montserrat" pitchFamily="2" charset="0"/>
              </a:rPr>
              <a:t>Hello-World </a:t>
            </a:r>
            <a:r>
              <a:rPr lang="ru-RU" sz="3200" dirty="0">
                <a:latin typeface="Montserrat" pitchFamily="2" charset="0"/>
              </a:rPr>
              <a:t>образ</a:t>
            </a:r>
            <a:endParaRPr lang="ru-RU" dirty="0">
              <a:latin typeface="Montserrat" pitchFamily="2" charset="0"/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xmlns="" id="{1C307AF7-D3F2-1B70-788A-28D06C22D7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0348" y="1690688"/>
            <a:ext cx="7171303" cy="4351338"/>
          </a:xfrm>
        </p:spPr>
      </p:pic>
    </p:spTree>
    <p:extLst>
      <p:ext uri="{BB962C8B-B14F-4D97-AF65-F5344CB8AC3E}">
        <p14:creationId xmlns:p14="http://schemas.microsoft.com/office/powerpoint/2010/main" val="1638887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marL="0" indent="444500" algn="ctr">
              <a:buNone/>
            </a:pPr>
            <a:r>
              <a:rPr lang="ru-RU" sz="3200" dirty="0">
                <a:latin typeface="Montserrat Light" panose="00000400000000000000" pitchFamily="2" charset="-52"/>
              </a:rPr>
              <a:t>Создание образа Docker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Autofit/>
          </a:bodyPr>
          <a:lstStyle/>
          <a:p>
            <a:pPr marL="0" indent="444500" algn="just">
              <a:buNone/>
            </a:pPr>
            <a:r>
              <a:rPr lang="ru-RU" sz="2500" dirty="0">
                <a:latin typeface="Montserrat Light" panose="00000400000000000000" pitchFamily="2" charset="-52"/>
              </a:rPr>
              <a:t>Развертывать образ можно любое количество раз на любом хосте. Для создания образа используется один из двух способов: интерактивный или через </a:t>
            </a:r>
            <a:r>
              <a:rPr lang="ru-RU" sz="2500" b="1" dirty="0" err="1">
                <a:latin typeface="Montserrat Light" panose="00000400000000000000" pitchFamily="2" charset="-52"/>
              </a:rPr>
              <a:t>Dockerfile</a:t>
            </a:r>
            <a:r>
              <a:rPr lang="ru-RU" sz="2500" dirty="0">
                <a:latin typeface="Montserrat Light" panose="00000400000000000000" pitchFamily="2" charset="-52"/>
              </a:rPr>
              <a:t>.</a:t>
            </a:r>
          </a:p>
          <a:p>
            <a:pPr marL="0" indent="444500" algn="just">
              <a:buNone/>
            </a:pPr>
            <a:endParaRPr lang="ru-RU" sz="2500" dirty="0">
              <a:latin typeface="Montserrat Light" panose="00000400000000000000" pitchFamily="2" charset="-52"/>
            </a:endParaRPr>
          </a:p>
          <a:p>
            <a:pPr marL="0" indent="444500" algn="just">
              <a:buNone/>
            </a:pPr>
            <a:r>
              <a:rPr lang="ru-RU" sz="2500" dirty="0">
                <a:latin typeface="Montserrat Light" panose="00000400000000000000" pitchFamily="2" charset="-52"/>
              </a:rPr>
              <a:t>Интерактивный — простой способ, при котором разработчик сам изменяет среду окружения во время запуска контейнера. После запуска Docker в сессии терминала запустите оболочку контейнера (</a:t>
            </a:r>
            <a:r>
              <a:rPr lang="ru-RU" sz="2500" dirty="0" err="1">
                <a:latin typeface="Montserrat Light" panose="00000400000000000000" pitchFamily="2" charset="-52"/>
              </a:rPr>
              <a:t>bash</a:t>
            </a:r>
            <a:r>
              <a:rPr lang="ru-RU" sz="2500" dirty="0">
                <a:latin typeface="Montserrat Light" panose="00000400000000000000" pitchFamily="2" charset="-52"/>
              </a:rPr>
              <a:t>) командой </a:t>
            </a:r>
            <a:r>
              <a:rPr lang="ru-RU" sz="2500" b="1" dirty="0" err="1">
                <a:latin typeface="Montserrat Light" panose="00000400000000000000" pitchFamily="2" charset="-52"/>
              </a:rPr>
              <a:t>docker</a:t>
            </a:r>
            <a:r>
              <a:rPr lang="ru-RU" sz="2500" b="1" dirty="0">
                <a:latin typeface="Montserrat Light" panose="00000400000000000000" pitchFamily="2" charset="-52"/>
              </a:rPr>
              <a:t> </a:t>
            </a:r>
            <a:r>
              <a:rPr lang="ru-RU" sz="2500" b="1" dirty="0" err="1">
                <a:latin typeface="Montserrat Light" panose="00000400000000000000" pitchFamily="2" charset="-52"/>
              </a:rPr>
              <a:t>run</a:t>
            </a:r>
            <a:r>
              <a:rPr lang="ru-RU" sz="2500" b="1" dirty="0">
                <a:latin typeface="Montserrat Light" panose="00000400000000000000" pitchFamily="2" charset="-52"/>
              </a:rPr>
              <a:t> </a:t>
            </a:r>
            <a:r>
              <a:rPr lang="ru-RU" sz="2500" b="1" dirty="0" err="1">
                <a:latin typeface="Montserrat Light" panose="00000400000000000000" pitchFamily="2" charset="-52"/>
              </a:rPr>
              <a:t>image_name</a:t>
            </a:r>
            <a:r>
              <a:rPr lang="ru-RU" sz="2500" b="1" dirty="0">
                <a:latin typeface="Montserrat Light" panose="00000400000000000000" pitchFamily="2" charset="-52"/>
              </a:rPr>
              <a:t>: </a:t>
            </a:r>
            <a:r>
              <a:rPr lang="ru-RU" sz="2500" b="1" dirty="0" err="1">
                <a:latin typeface="Montserrat Light" panose="00000400000000000000" pitchFamily="2" charset="-52"/>
              </a:rPr>
              <a:t>tag_name</a:t>
            </a:r>
            <a:r>
              <a:rPr lang="ru-RU" sz="2500" dirty="0">
                <a:latin typeface="Montserrat Light" panose="00000400000000000000" pitchFamily="2" charset="-52"/>
              </a:rPr>
              <a:t>. Имя тега можно не указывать, тогда задействуется текущая версия образа.</a:t>
            </a:r>
          </a:p>
        </p:txBody>
      </p:sp>
    </p:spTree>
    <p:extLst>
      <p:ext uri="{BB962C8B-B14F-4D97-AF65-F5344CB8AC3E}">
        <p14:creationId xmlns:p14="http://schemas.microsoft.com/office/powerpoint/2010/main" val="151155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Введение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444500" algn="just">
              <a:buNone/>
            </a:pPr>
            <a:r>
              <a:rPr lang="ru-RU" dirty="0">
                <a:latin typeface="Montserrat Light" panose="00000400000000000000" pitchFamily="2" charset="-52"/>
              </a:rPr>
              <a:t>Вариант с </a:t>
            </a:r>
            <a:r>
              <a:rPr lang="ru-RU" b="1" dirty="0" err="1">
                <a:latin typeface="Montserrat Light" panose="00000400000000000000" pitchFamily="2" charset="-52"/>
              </a:rPr>
              <a:t>Dockerfile</a:t>
            </a:r>
            <a:r>
              <a:rPr lang="ru-RU" dirty="0">
                <a:latin typeface="Montserrat Light" panose="00000400000000000000" pitchFamily="2" charset="-52"/>
              </a:rPr>
              <a:t> сложнее. </a:t>
            </a:r>
          </a:p>
          <a:p>
            <a:pPr marL="0" indent="444500" algn="just">
              <a:buNone/>
            </a:pPr>
            <a:r>
              <a:rPr lang="ru-RU" dirty="0">
                <a:latin typeface="Montserrat Light" panose="00000400000000000000" pitchFamily="2" charset="-52"/>
              </a:rPr>
              <a:t>Вы уже знаете, что каждому образу присваивается свой </a:t>
            </a:r>
            <a:r>
              <a:rPr lang="ru-RU" b="1" dirty="0" err="1">
                <a:latin typeface="Montserrat Light" panose="00000400000000000000" pitchFamily="2" charset="-52"/>
              </a:rPr>
              <a:t>Dockerfile</a:t>
            </a:r>
            <a:r>
              <a:rPr lang="ru-RU" dirty="0">
                <a:latin typeface="Montserrat Light" panose="00000400000000000000" pitchFamily="2" charset="-52"/>
              </a:rPr>
              <a:t>. После указания нужных команд в </a:t>
            </a:r>
            <a:r>
              <a:rPr lang="ru-RU" b="1" dirty="0" err="1">
                <a:latin typeface="Montserrat Light" panose="00000400000000000000" pitchFamily="2" charset="-52"/>
              </a:rPr>
              <a:t>Dockerfile</a:t>
            </a:r>
            <a:r>
              <a:rPr lang="ru-RU" dirty="0">
                <a:latin typeface="Montserrat Light" panose="00000400000000000000" pitchFamily="2" charset="-52"/>
              </a:rPr>
              <a:t>, исключите в </a:t>
            </a:r>
            <a:r>
              <a:rPr lang="ru-RU" b="1" dirty="0">
                <a:latin typeface="Montserrat Light" panose="00000400000000000000" pitchFamily="2" charset="-52"/>
              </a:rPr>
              <a:t>.</a:t>
            </a:r>
            <a:r>
              <a:rPr lang="ru-RU" b="1" dirty="0" err="1">
                <a:latin typeface="Montserrat Light" panose="00000400000000000000" pitchFamily="2" charset="-52"/>
              </a:rPr>
              <a:t>dockerignore</a:t>
            </a:r>
            <a:r>
              <a:rPr lang="ru-RU" b="1" dirty="0">
                <a:latin typeface="Montserrat Light" panose="00000400000000000000" pitchFamily="2" charset="-52"/>
              </a:rPr>
              <a:t> </a:t>
            </a:r>
            <a:r>
              <a:rPr lang="ru-RU" dirty="0">
                <a:latin typeface="Montserrat Light" panose="00000400000000000000" pitchFamily="2" charset="-52"/>
              </a:rPr>
              <a:t>все файлы, не используемые в сборке. Затем создайте образ командой </a:t>
            </a:r>
            <a:r>
              <a:rPr lang="ru-RU" b="1" dirty="0" err="1">
                <a:latin typeface="Montserrat Light" panose="00000400000000000000" pitchFamily="2" charset="-52"/>
              </a:rPr>
              <a:t>docker</a:t>
            </a:r>
            <a:r>
              <a:rPr lang="ru-RU" b="1" dirty="0">
                <a:latin typeface="Montserrat Light" panose="00000400000000000000" pitchFamily="2" charset="-52"/>
              </a:rPr>
              <a:t> </a:t>
            </a:r>
            <a:r>
              <a:rPr lang="ru-RU" b="1" dirty="0" err="1">
                <a:latin typeface="Montserrat Light" panose="00000400000000000000" pitchFamily="2" charset="-52"/>
              </a:rPr>
              <a:t>image</a:t>
            </a:r>
            <a:r>
              <a:rPr lang="ru-RU" b="1" dirty="0">
                <a:latin typeface="Montserrat Light" panose="00000400000000000000" pitchFamily="2" charset="-52"/>
              </a:rPr>
              <a:t> </a:t>
            </a:r>
            <a:r>
              <a:rPr lang="ru-RU" b="1" dirty="0" err="1">
                <a:latin typeface="Montserrat Light" panose="00000400000000000000" pitchFamily="2" charset="-52"/>
              </a:rPr>
              <a:t>build</a:t>
            </a:r>
            <a:r>
              <a:rPr lang="ru-RU" dirty="0">
                <a:latin typeface="Montserrat Light" panose="00000400000000000000" pitchFamily="2" charset="-52"/>
              </a:rPr>
              <a:t>, присвойте ему имя и тег.</a:t>
            </a:r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54309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Синтаксис команды </a:t>
            </a:r>
            <a:r>
              <a:rPr lang="en-US" sz="3200" dirty="0">
                <a:latin typeface="Montserrat" pitchFamily="2" charset="0"/>
              </a:rPr>
              <a:t>docker run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xmlns="" id="{26B39EEB-1DCC-68C9-EECE-5F0CECE06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360363">
              <a:buNone/>
            </a:pPr>
            <a:r>
              <a:rPr lang="en-US" b="1" dirty="0">
                <a:latin typeface="Montserrat Light" panose="00000400000000000000" pitchFamily="2" charset="-52"/>
              </a:rPr>
              <a:t>docker run [OPTIONS] IMAGE [COMMAND] [ARG...]</a:t>
            </a:r>
          </a:p>
          <a:p>
            <a:pPr marL="0" indent="360363">
              <a:buNone/>
            </a:pPr>
            <a:r>
              <a:rPr lang="ru-RU" dirty="0">
                <a:latin typeface="Montserrat Light" panose="00000400000000000000" pitchFamily="2" charset="-52"/>
              </a:rPr>
              <a:t> </a:t>
            </a:r>
          </a:p>
          <a:p>
            <a:pPr marL="0" indent="360363">
              <a:buNone/>
            </a:pPr>
            <a:r>
              <a:rPr lang="ru-RU" dirty="0">
                <a:latin typeface="Montserrat Light" panose="00000400000000000000" pitchFamily="2" charset="-52"/>
              </a:rPr>
              <a:t>Опции:</a:t>
            </a:r>
          </a:p>
          <a:p>
            <a:pPr marL="0" indent="360363">
              <a:buNone/>
            </a:pPr>
            <a:r>
              <a:rPr lang="ru-RU" b="1" dirty="0">
                <a:latin typeface="Montserrat Light" panose="00000400000000000000" pitchFamily="2" charset="-52"/>
              </a:rPr>
              <a:t>--</a:t>
            </a:r>
            <a:r>
              <a:rPr lang="ru-RU" b="1" dirty="0" err="1">
                <a:latin typeface="Montserrat Light" panose="00000400000000000000" pitchFamily="2" charset="-52"/>
              </a:rPr>
              <a:t>add-host</a:t>
            </a:r>
            <a:r>
              <a:rPr lang="ru-RU" b="1" dirty="0">
                <a:latin typeface="Montserrat Light" panose="00000400000000000000" pitchFamily="2" charset="-52"/>
              </a:rPr>
              <a:t> </a:t>
            </a:r>
            <a:r>
              <a:rPr lang="ru-RU" dirty="0">
                <a:latin typeface="Montserrat Light" panose="00000400000000000000" pitchFamily="2" charset="-52"/>
              </a:rPr>
              <a:t>– добавьте настраиваемое сопоставление хоста с IP (хост: </a:t>
            </a:r>
            <a:r>
              <a:rPr lang="ru-RU" dirty="0" err="1">
                <a:latin typeface="Montserrat Light" panose="00000400000000000000" pitchFamily="2" charset="-52"/>
              </a:rPr>
              <a:t>ip</a:t>
            </a:r>
            <a:r>
              <a:rPr lang="ru-RU" dirty="0">
                <a:latin typeface="Montserrat Light" panose="00000400000000000000" pitchFamily="2" charset="-52"/>
              </a:rPr>
              <a:t>)</a:t>
            </a:r>
            <a:r>
              <a:rPr lang="en-US" dirty="0">
                <a:latin typeface="Montserrat Light" panose="00000400000000000000" pitchFamily="2" charset="-52"/>
              </a:rPr>
              <a:t>;</a:t>
            </a:r>
            <a:endParaRPr lang="ru-RU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b="1" dirty="0">
                <a:latin typeface="Montserrat Light" panose="00000400000000000000" pitchFamily="2" charset="-52"/>
              </a:rPr>
              <a:t>--</a:t>
            </a:r>
            <a:r>
              <a:rPr lang="ru-RU" b="1" dirty="0" err="1">
                <a:latin typeface="Montserrat Light" panose="00000400000000000000" pitchFamily="2" charset="-52"/>
              </a:rPr>
              <a:t>attach</a:t>
            </a:r>
            <a:r>
              <a:rPr lang="ru-RU" b="1" dirty="0">
                <a:latin typeface="Montserrat Light" panose="00000400000000000000" pitchFamily="2" charset="-52"/>
              </a:rPr>
              <a:t> </a:t>
            </a:r>
            <a:r>
              <a:rPr lang="ru-RU" dirty="0">
                <a:latin typeface="Montserrat Light" panose="00000400000000000000" pitchFamily="2" charset="-52"/>
              </a:rPr>
              <a:t>, </a:t>
            </a:r>
            <a:r>
              <a:rPr lang="ru-RU" b="1" dirty="0">
                <a:latin typeface="Montserrat Light" panose="00000400000000000000" pitchFamily="2" charset="-52"/>
              </a:rPr>
              <a:t>-a </a:t>
            </a:r>
            <a:r>
              <a:rPr lang="ru-RU" dirty="0">
                <a:latin typeface="Montserrat Light" panose="00000400000000000000" pitchFamily="2" charset="-52"/>
              </a:rPr>
              <a:t>– прикрепить к STDIN, STDOUT или STDERR</a:t>
            </a:r>
            <a:r>
              <a:rPr lang="en-US" dirty="0">
                <a:latin typeface="Montserrat Light" panose="00000400000000000000" pitchFamily="2" charset="-52"/>
              </a:rPr>
              <a:t>;</a:t>
            </a:r>
            <a:endParaRPr lang="ru-RU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b="1" dirty="0">
                <a:latin typeface="Montserrat Light" panose="00000400000000000000" pitchFamily="2" charset="-52"/>
              </a:rPr>
              <a:t>--</a:t>
            </a:r>
            <a:r>
              <a:rPr lang="ru-RU" b="1" dirty="0" err="1">
                <a:latin typeface="Montserrat Light" panose="00000400000000000000" pitchFamily="2" charset="-52"/>
              </a:rPr>
              <a:t>blkio-weight</a:t>
            </a:r>
            <a:r>
              <a:rPr lang="ru-RU" b="1" dirty="0">
                <a:latin typeface="Montserrat Light" panose="00000400000000000000" pitchFamily="2" charset="-52"/>
              </a:rPr>
              <a:t> </a:t>
            </a:r>
            <a:r>
              <a:rPr lang="ru-RU" dirty="0">
                <a:latin typeface="Montserrat Light" panose="00000400000000000000" pitchFamily="2" charset="-52"/>
              </a:rPr>
              <a:t>– блок ввода-вывода (относительный вес) от 10 до 1000 или 0 для отключения (по умолчанию 0)</a:t>
            </a:r>
            <a:r>
              <a:rPr lang="en-US" dirty="0">
                <a:latin typeface="Montserrat Light" panose="00000400000000000000" pitchFamily="2" charset="-52"/>
              </a:rPr>
              <a:t>;</a:t>
            </a:r>
            <a:endParaRPr lang="ru-RU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b="1" dirty="0">
                <a:latin typeface="Montserrat Light" panose="00000400000000000000" pitchFamily="2" charset="-52"/>
              </a:rPr>
              <a:t>--</a:t>
            </a:r>
            <a:r>
              <a:rPr lang="ru-RU" b="1" dirty="0" err="1">
                <a:latin typeface="Montserrat Light" panose="00000400000000000000" pitchFamily="2" charset="-52"/>
              </a:rPr>
              <a:t>blkio-weight-device</a:t>
            </a:r>
            <a:r>
              <a:rPr lang="ru-RU" b="1" dirty="0">
                <a:latin typeface="Montserrat Light" panose="00000400000000000000" pitchFamily="2" charset="-52"/>
              </a:rPr>
              <a:t> </a:t>
            </a:r>
            <a:r>
              <a:rPr lang="ru-RU" dirty="0">
                <a:latin typeface="Montserrat Light" panose="00000400000000000000" pitchFamily="2" charset="-52"/>
              </a:rPr>
              <a:t>– вес блока ввода-вывода (относительный вес устройства)</a:t>
            </a:r>
            <a:r>
              <a:rPr lang="en-US" dirty="0">
                <a:latin typeface="Montserrat Light" panose="00000400000000000000" pitchFamily="2" charset="-52"/>
              </a:rPr>
              <a:t>;</a:t>
            </a:r>
            <a:endParaRPr lang="ru-RU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b="1" dirty="0">
                <a:latin typeface="Montserrat Light" panose="00000400000000000000" pitchFamily="2" charset="-52"/>
              </a:rPr>
              <a:t>--</a:t>
            </a:r>
            <a:r>
              <a:rPr lang="ru-RU" b="1" dirty="0" err="1">
                <a:latin typeface="Montserrat Light" panose="00000400000000000000" pitchFamily="2" charset="-52"/>
              </a:rPr>
              <a:t>cap-add</a:t>
            </a:r>
            <a:r>
              <a:rPr lang="ru-RU" b="1" dirty="0">
                <a:latin typeface="Montserrat Light" panose="00000400000000000000" pitchFamily="2" charset="-52"/>
              </a:rPr>
              <a:t> </a:t>
            </a:r>
            <a:r>
              <a:rPr lang="ru-RU" dirty="0">
                <a:latin typeface="Montserrat Light" panose="00000400000000000000" pitchFamily="2" charset="-52"/>
              </a:rPr>
              <a:t>– добавить возможности Linux</a:t>
            </a:r>
            <a:r>
              <a:rPr lang="en-US" dirty="0">
                <a:latin typeface="Montserrat Light" panose="00000400000000000000" pitchFamily="2" charset="-52"/>
              </a:rPr>
              <a:t>;</a:t>
            </a:r>
            <a:endParaRPr lang="ru-RU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b="1" dirty="0">
                <a:latin typeface="Montserrat Light" panose="00000400000000000000" pitchFamily="2" charset="-52"/>
              </a:rPr>
              <a:t>--</a:t>
            </a:r>
            <a:r>
              <a:rPr lang="ru-RU" b="1" dirty="0" err="1">
                <a:latin typeface="Montserrat Light" panose="00000400000000000000" pitchFamily="2" charset="-52"/>
              </a:rPr>
              <a:t>cap-drop</a:t>
            </a:r>
            <a:r>
              <a:rPr lang="ru-RU" b="1" dirty="0">
                <a:latin typeface="Montserrat Light" panose="00000400000000000000" pitchFamily="2" charset="-52"/>
              </a:rPr>
              <a:t> </a:t>
            </a:r>
            <a:r>
              <a:rPr lang="ru-RU" dirty="0">
                <a:latin typeface="Montserrat Light" panose="00000400000000000000" pitchFamily="2" charset="-52"/>
              </a:rPr>
              <a:t>– удалите возможности Linux</a:t>
            </a:r>
            <a:r>
              <a:rPr lang="en-US" dirty="0">
                <a:latin typeface="Montserrat Light" panose="00000400000000000000" pitchFamily="2" charset="-52"/>
              </a:rPr>
              <a:t>;</a:t>
            </a:r>
            <a:endParaRPr lang="ru-RU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b="1" dirty="0">
                <a:latin typeface="Montserrat Light" panose="00000400000000000000" pitchFamily="2" charset="-52"/>
              </a:rPr>
              <a:t>--</a:t>
            </a:r>
            <a:r>
              <a:rPr lang="ru-RU" b="1" dirty="0" err="1">
                <a:latin typeface="Montserrat Light" panose="00000400000000000000" pitchFamily="2" charset="-52"/>
              </a:rPr>
              <a:t>cgroup-parent</a:t>
            </a:r>
            <a:r>
              <a:rPr lang="ru-RU" b="1" dirty="0">
                <a:latin typeface="Montserrat Light" panose="00000400000000000000" pitchFamily="2" charset="-52"/>
              </a:rPr>
              <a:t> </a:t>
            </a:r>
            <a:r>
              <a:rPr lang="ru-RU" dirty="0">
                <a:latin typeface="Montserrat Light" panose="00000400000000000000" pitchFamily="2" charset="-52"/>
              </a:rPr>
              <a:t>– необязательная родительская группа для контейнера</a:t>
            </a:r>
            <a:r>
              <a:rPr lang="en-US" dirty="0">
                <a:latin typeface="Montserrat Light" panose="00000400000000000000" pitchFamily="2" charset="-52"/>
              </a:rPr>
              <a:t>;</a:t>
            </a:r>
            <a:endParaRPr lang="ru-RU" dirty="0">
              <a:latin typeface="Montserrat Light" panose="000004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528658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Синтаксис команды </a:t>
            </a:r>
            <a:r>
              <a:rPr lang="en-US" sz="3200" dirty="0">
                <a:latin typeface="Montserrat" pitchFamily="2" charset="0"/>
              </a:rPr>
              <a:t>docker run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xmlns="" id="{26B39EEB-1DCC-68C9-EECE-5F0CECE06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360363">
              <a:buNone/>
            </a:pPr>
            <a:r>
              <a:rPr lang="ru-RU" b="1" dirty="0">
                <a:latin typeface="Montserrat Light" panose="00000400000000000000" pitchFamily="2" charset="-52"/>
              </a:rPr>
              <a:t>--</a:t>
            </a:r>
            <a:r>
              <a:rPr lang="ru-RU" b="1" dirty="0" err="1">
                <a:latin typeface="Montserrat Light" panose="00000400000000000000" pitchFamily="2" charset="-52"/>
              </a:rPr>
              <a:t>cgroupns</a:t>
            </a:r>
            <a:r>
              <a:rPr lang="en-US" b="1" dirty="0">
                <a:latin typeface="Montserrat Light" panose="00000400000000000000" pitchFamily="2" charset="-52"/>
              </a:rPr>
              <a:t> </a:t>
            </a:r>
            <a:r>
              <a:rPr lang="en-US" dirty="0">
                <a:latin typeface="Montserrat Light" panose="00000400000000000000" pitchFamily="2" charset="-52"/>
              </a:rPr>
              <a:t>– </a:t>
            </a:r>
            <a:r>
              <a:rPr lang="ru-RU" dirty="0">
                <a:latin typeface="Montserrat Light" panose="00000400000000000000" pitchFamily="2" charset="-52"/>
              </a:rPr>
              <a:t>API 1.41+</a:t>
            </a:r>
            <a:r>
              <a:rPr lang="en-US" dirty="0">
                <a:latin typeface="Montserrat Light" panose="00000400000000000000" pitchFamily="2" charset="-52"/>
              </a:rPr>
              <a:t>;</a:t>
            </a:r>
            <a:endParaRPr lang="ru-RU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dirty="0">
                <a:latin typeface="Montserrat Light" panose="00000400000000000000" pitchFamily="2" charset="-52"/>
              </a:rPr>
              <a:t>Используемое пространство имен </a:t>
            </a:r>
            <a:r>
              <a:rPr lang="ru-RU" dirty="0" err="1">
                <a:latin typeface="Montserrat Light" panose="00000400000000000000" pitchFamily="2" charset="-52"/>
              </a:rPr>
              <a:t>Cgroup</a:t>
            </a:r>
            <a:r>
              <a:rPr lang="ru-RU" dirty="0">
                <a:latin typeface="Montserrat Light" panose="00000400000000000000" pitchFamily="2" charset="-52"/>
              </a:rPr>
              <a:t> (</a:t>
            </a:r>
            <a:r>
              <a:rPr lang="ru-RU" dirty="0" err="1">
                <a:latin typeface="Montserrat Light" panose="00000400000000000000" pitchFamily="2" charset="-52"/>
              </a:rPr>
              <a:t>host</a:t>
            </a:r>
            <a:r>
              <a:rPr lang="ru-RU" dirty="0">
                <a:latin typeface="Montserrat Light" panose="00000400000000000000" pitchFamily="2" charset="-52"/>
              </a:rPr>
              <a:t> | </a:t>
            </a:r>
            <a:r>
              <a:rPr lang="ru-RU" dirty="0" err="1">
                <a:latin typeface="Montserrat Light" panose="00000400000000000000" pitchFamily="2" charset="-52"/>
              </a:rPr>
              <a:t>private</a:t>
            </a:r>
            <a:r>
              <a:rPr lang="ru-RU" dirty="0">
                <a:latin typeface="Montserrat Light" panose="00000400000000000000" pitchFamily="2" charset="-52"/>
              </a:rPr>
              <a:t>) '</a:t>
            </a:r>
            <a:r>
              <a:rPr lang="ru-RU" dirty="0" err="1">
                <a:latin typeface="Montserrat Light" panose="00000400000000000000" pitchFamily="2" charset="-52"/>
              </a:rPr>
              <a:t>host</a:t>
            </a:r>
            <a:r>
              <a:rPr lang="ru-RU" dirty="0">
                <a:latin typeface="Montserrat Light" panose="00000400000000000000" pitchFamily="2" charset="-52"/>
              </a:rPr>
              <a:t>': запустите контейнер в пространстве имен </a:t>
            </a:r>
            <a:r>
              <a:rPr lang="ru-RU" dirty="0" err="1">
                <a:latin typeface="Montserrat Light" panose="00000400000000000000" pitchFamily="2" charset="-52"/>
              </a:rPr>
              <a:t>cgroup</a:t>
            </a:r>
            <a:r>
              <a:rPr lang="ru-RU" dirty="0">
                <a:latin typeface="Montserrat Light" panose="00000400000000000000" pitchFamily="2" charset="-52"/>
              </a:rPr>
              <a:t> хоста Docker '</a:t>
            </a:r>
            <a:r>
              <a:rPr lang="ru-RU" dirty="0" err="1">
                <a:latin typeface="Montserrat Light" panose="00000400000000000000" pitchFamily="2" charset="-52"/>
              </a:rPr>
              <a:t>private</a:t>
            </a:r>
            <a:r>
              <a:rPr lang="ru-RU" dirty="0">
                <a:latin typeface="Montserrat Light" panose="00000400000000000000" pitchFamily="2" charset="-52"/>
              </a:rPr>
              <a:t>': запустите контейнер в его собственном частном пространстве имен </a:t>
            </a:r>
            <a:r>
              <a:rPr lang="ru-RU" dirty="0" err="1">
                <a:latin typeface="Montserrat Light" panose="00000400000000000000" pitchFamily="2" charset="-52"/>
              </a:rPr>
              <a:t>cgroup</a:t>
            </a:r>
            <a:r>
              <a:rPr lang="ru-RU" dirty="0">
                <a:latin typeface="Montserrat Light" panose="00000400000000000000" pitchFamily="2" charset="-52"/>
              </a:rPr>
              <a:t> ": используйте пространство имен </a:t>
            </a:r>
            <a:r>
              <a:rPr lang="ru-RU" dirty="0" err="1">
                <a:latin typeface="Montserrat Light" panose="00000400000000000000" pitchFamily="2" charset="-52"/>
              </a:rPr>
              <a:t>cgroup</a:t>
            </a:r>
            <a:r>
              <a:rPr lang="ru-RU" dirty="0">
                <a:latin typeface="Montserrat Light" panose="00000400000000000000" pitchFamily="2" charset="-52"/>
              </a:rPr>
              <a:t>, настроенное параметром </a:t>
            </a:r>
            <a:r>
              <a:rPr lang="ru-RU" dirty="0" err="1">
                <a:latin typeface="Montserrat Light" panose="00000400000000000000" pitchFamily="2" charset="-52"/>
              </a:rPr>
              <a:t>default-cgroupns-mode</a:t>
            </a:r>
            <a:r>
              <a:rPr lang="ru-RU" dirty="0">
                <a:latin typeface="Montserrat Light" panose="00000400000000000000" pitchFamily="2" charset="-52"/>
              </a:rPr>
              <a:t> в демоне (по умолчанию)</a:t>
            </a:r>
          </a:p>
          <a:p>
            <a:pPr marL="0" indent="360363">
              <a:buNone/>
            </a:pPr>
            <a:r>
              <a:rPr lang="ru-RU" b="1" dirty="0">
                <a:latin typeface="Montserrat Light" panose="00000400000000000000" pitchFamily="2" charset="-52"/>
              </a:rPr>
              <a:t>--</a:t>
            </a:r>
            <a:r>
              <a:rPr lang="ru-RU" b="1" dirty="0" err="1">
                <a:latin typeface="Montserrat Light" panose="00000400000000000000" pitchFamily="2" charset="-52"/>
              </a:rPr>
              <a:t>cidfile</a:t>
            </a:r>
            <a:r>
              <a:rPr lang="en-US" b="1" dirty="0">
                <a:latin typeface="Montserrat Light" panose="00000400000000000000" pitchFamily="2" charset="-52"/>
              </a:rPr>
              <a:t> </a:t>
            </a:r>
            <a:r>
              <a:rPr lang="en-US" dirty="0">
                <a:latin typeface="Montserrat Light" panose="00000400000000000000" pitchFamily="2" charset="-52"/>
              </a:rPr>
              <a:t>– </a:t>
            </a:r>
            <a:r>
              <a:rPr lang="ru-RU" dirty="0">
                <a:latin typeface="Montserrat Light" panose="00000400000000000000" pitchFamily="2" charset="-52"/>
              </a:rPr>
              <a:t>запишите идентификатор контейнера в файл</a:t>
            </a:r>
            <a:r>
              <a:rPr lang="en-US" dirty="0">
                <a:latin typeface="Montserrat Light" panose="00000400000000000000" pitchFamily="2" charset="-52"/>
              </a:rPr>
              <a:t>;</a:t>
            </a:r>
            <a:endParaRPr lang="ru-RU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b="1" dirty="0">
                <a:latin typeface="Montserrat Light" panose="00000400000000000000" pitchFamily="2" charset="-52"/>
              </a:rPr>
              <a:t>--</a:t>
            </a:r>
            <a:r>
              <a:rPr lang="ru-RU" b="1" dirty="0" err="1">
                <a:latin typeface="Montserrat Light" panose="00000400000000000000" pitchFamily="2" charset="-52"/>
              </a:rPr>
              <a:t>cpu-count</a:t>
            </a:r>
            <a:r>
              <a:rPr lang="ru-RU" b="1" dirty="0">
                <a:latin typeface="Montserrat Light" panose="00000400000000000000" pitchFamily="2" charset="-52"/>
              </a:rPr>
              <a:t> </a:t>
            </a:r>
            <a:r>
              <a:rPr lang="ru-RU" dirty="0">
                <a:latin typeface="Montserrat Light" panose="00000400000000000000" pitchFamily="2" charset="-52"/>
              </a:rPr>
              <a:t>– количество процессоров (только для Windows)</a:t>
            </a:r>
            <a:r>
              <a:rPr lang="en-US" dirty="0">
                <a:latin typeface="Montserrat Light" panose="00000400000000000000" pitchFamily="2" charset="-52"/>
              </a:rPr>
              <a:t>;</a:t>
            </a:r>
            <a:endParaRPr lang="ru-RU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b="1" dirty="0">
                <a:latin typeface="Montserrat Light" panose="00000400000000000000" pitchFamily="2" charset="-52"/>
              </a:rPr>
              <a:t>--</a:t>
            </a:r>
            <a:r>
              <a:rPr lang="ru-RU" b="1" dirty="0" err="1">
                <a:latin typeface="Montserrat Light" panose="00000400000000000000" pitchFamily="2" charset="-52"/>
              </a:rPr>
              <a:t>cpu-percent</a:t>
            </a:r>
            <a:r>
              <a:rPr lang="ru-RU" b="1" dirty="0">
                <a:latin typeface="Montserrat Light" panose="00000400000000000000" pitchFamily="2" charset="-52"/>
              </a:rPr>
              <a:t> </a:t>
            </a:r>
            <a:r>
              <a:rPr lang="ru-RU" dirty="0">
                <a:latin typeface="Montserrat Light" panose="00000400000000000000" pitchFamily="2" charset="-52"/>
              </a:rPr>
              <a:t>– процент процессора (только для Windows)</a:t>
            </a:r>
            <a:r>
              <a:rPr lang="en-US" dirty="0">
                <a:latin typeface="Montserrat Light" panose="00000400000000000000" pitchFamily="2" charset="-52"/>
              </a:rPr>
              <a:t>;</a:t>
            </a:r>
            <a:endParaRPr lang="ru-RU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b="1" dirty="0">
                <a:latin typeface="Montserrat Light" panose="00000400000000000000" pitchFamily="2" charset="-52"/>
              </a:rPr>
              <a:t>--</a:t>
            </a:r>
            <a:r>
              <a:rPr lang="ru-RU" b="1" dirty="0" err="1">
                <a:latin typeface="Montserrat Light" panose="00000400000000000000" pitchFamily="2" charset="-52"/>
              </a:rPr>
              <a:t>cpu-period</a:t>
            </a:r>
            <a:r>
              <a:rPr lang="ru-RU" b="1" dirty="0">
                <a:latin typeface="Montserrat Light" panose="00000400000000000000" pitchFamily="2" charset="-52"/>
              </a:rPr>
              <a:t> </a:t>
            </a:r>
            <a:r>
              <a:rPr lang="ru-RU" dirty="0">
                <a:latin typeface="Montserrat Light" panose="00000400000000000000" pitchFamily="2" charset="-52"/>
              </a:rPr>
              <a:t>– ограничить период CFS процессора (полностью честный планировщик)</a:t>
            </a:r>
            <a:r>
              <a:rPr lang="en-US" dirty="0">
                <a:latin typeface="Montserrat Light" panose="00000400000000000000" pitchFamily="2" charset="-52"/>
              </a:rPr>
              <a:t>;</a:t>
            </a:r>
            <a:endParaRPr lang="ru-RU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b="1" dirty="0">
                <a:latin typeface="Montserrat Light" panose="00000400000000000000" pitchFamily="2" charset="-52"/>
              </a:rPr>
              <a:t>--</a:t>
            </a:r>
            <a:r>
              <a:rPr lang="ru-RU" b="1" dirty="0" err="1">
                <a:latin typeface="Montserrat Light" panose="00000400000000000000" pitchFamily="2" charset="-52"/>
              </a:rPr>
              <a:t>cpu-quota</a:t>
            </a:r>
            <a:r>
              <a:rPr lang="ru-RU" b="1" dirty="0">
                <a:latin typeface="Montserrat Light" panose="00000400000000000000" pitchFamily="2" charset="-52"/>
              </a:rPr>
              <a:t> </a:t>
            </a:r>
            <a:r>
              <a:rPr lang="ru-RU" dirty="0">
                <a:latin typeface="Montserrat Light" panose="00000400000000000000" pitchFamily="2" charset="-52"/>
              </a:rPr>
              <a:t>– ограничить квоту CPU CFS (полностью честный планировщик)</a:t>
            </a:r>
            <a:r>
              <a:rPr lang="en-US" dirty="0">
                <a:latin typeface="Montserrat Light" panose="00000400000000000000" pitchFamily="2" charset="-52"/>
              </a:rPr>
              <a:t>;</a:t>
            </a:r>
            <a:endParaRPr lang="ru-RU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b="1" dirty="0">
                <a:latin typeface="Montserrat Light" panose="00000400000000000000" pitchFamily="2" charset="-52"/>
              </a:rPr>
              <a:t>--</a:t>
            </a:r>
            <a:r>
              <a:rPr lang="ru-RU" b="1" dirty="0" err="1">
                <a:latin typeface="Montserrat Light" panose="00000400000000000000" pitchFamily="2" charset="-52"/>
              </a:rPr>
              <a:t>cpu-rt-period</a:t>
            </a:r>
            <a:r>
              <a:rPr lang="ru-RU" b="1" dirty="0">
                <a:latin typeface="Montserrat Light" panose="00000400000000000000" pitchFamily="2" charset="-52"/>
              </a:rPr>
              <a:t> </a:t>
            </a:r>
            <a:r>
              <a:rPr lang="ru-RU" dirty="0">
                <a:latin typeface="Montserrat Light" panose="00000400000000000000" pitchFamily="2" charset="-52"/>
              </a:rPr>
              <a:t>– ограничить период реального времени процессора в микросекундах</a:t>
            </a:r>
            <a:r>
              <a:rPr lang="en-US" dirty="0">
                <a:latin typeface="Montserrat Light" panose="00000400000000000000" pitchFamily="2" charset="-52"/>
              </a:rPr>
              <a:t>;</a:t>
            </a:r>
            <a:endParaRPr lang="ru-RU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b="1" dirty="0">
                <a:latin typeface="Montserrat Light" panose="00000400000000000000" pitchFamily="2" charset="-52"/>
              </a:rPr>
              <a:t>--</a:t>
            </a:r>
            <a:r>
              <a:rPr lang="ru-RU" b="1" dirty="0" err="1">
                <a:latin typeface="Montserrat Light" panose="00000400000000000000" pitchFamily="2" charset="-52"/>
              </a:rPr>
              <a:t>cpu-rt-runtime</a:t>
            </a:r>
            <a:r>
              <a:rPr lang="ru-RU" b="1" dirty="0">
                <a:latin typeface="Montserrat Light" panose="00000400000000000000" pitchFamily="2" charset="-52"/>
              </a:rPr>
              <a:t> </a:t>
            </a:r>
            <a:r>
              <a:rPr lang="ru-RU" dirty="0">
                <a:latin typeface="Montserrat Light" panose="00000400000000000000" pitchFamily="2" charset="-52"/>
              </a:rPr>
              <a:t>– ограничить время выполнения процессора в режиме реального времени в микросекундах</a:t>
            </a:r>
            <a:r>
              <a:rPr lang="en-US" dirty="0">
                <a:latin typeface="Montserrat Light" panose="00000400000000000000" pitchFamily="2" charset="-52"/>
              </a:rPr>
              <a:t>;</a:t>
            </a:r>
            <a:endParaRPr lang="ru-RU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b="1" dirty="0">
                <a:latin typeface="Montserrat Light" panose="00000400000000000000" pitchFamily="2" charset="-52"/>
              </a:rPr>
              <a:t>--</a:t>
            </a:r>
            <a:r>
              <a:rPr lang="ru-RU" b="1" dirty="0" err="1">
                <a:latin typeface="Montserrat Light" panose="00000400000000000000" pitchFamily="2" charset="-52"/>
              </a:rPr>
              <a:t>cpu-shares</a:t>
            </a:r>
            <a:r>
              <a:rPr lang="ru-RU" b="1" dirty="0">
                <a:latin typeface="Montserrat Light" panose="00000400000000000000" pitchFamily="2" charset="-52"/>
              </a:rPr>
              <a:t> </a:t>
            </a:r>
            <a:r>
              <a:rPr lang="ru-RU" dirty="0">
                <a:latin typeface="Montserrat Light" panose="00000400000000000000" pitchFamily="2" charset="-52"/>
              </a:rPr>
              <a:t>, </a:t>
            </a:r>
            <a:r>
              <a:rPr lang="ru-RU" b="1" dirty="0">
                <a:latin typeface="Montserrat Light" panose="00000400000000000000" pitchFamily="2" charset="-52"/>
              </a:rPr>
              <a:t>-c </a:t>
            </a:r>
            <a:r>
              <a:rPr lang="ru-RU" dirty="0">
                <a:latin typeface="Montserrat Light" panose="00000400000000000000" pitchFamily="2" charset="-52"/>
              </a:rPr>
              <a:t>– доли процессора (относительный вес)</a:t>
            </a:r>
            <a:r>
              <a:rPr lang="en-US" dirty="0">
                <a:latin typeface="Montserrat Light" panose="00000400000000000000" pitchFamily="2" charset="-52"/>
              </a:rPr>
              <a:t>;</a:t>
            </a:r>
            <a:endParaRPr lang="ru-RU" dirty="0">
              <a:latin typeface="Montserrat Light" panose="000004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042899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Синтаксис команды </a:t>
            </a:r>
            <a:r>
              <a:rPr lang="en-US" sz="3200" dirty="0">
                <a:latin typeface="Montserrat" pitchFamily="2" charset="0"/>
              </a:rPr>
              <a:t>docker run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xmlns="" id="{26B39EEB-1DCC-68C9-EECE-5F0CECE06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360363">
              <a:buNone/>
            </a:pPr>
            <a:r>
              <a:rPr lang="ru-RU" sz="1600" b="1" dirty="0">
                <a:latin typeface="Montserrat Light" panose="00000400000000000000" pitchFamily="2" charset="-52"/>
              </a:rPr>
              <a:t>--</a:t>
            </a:r>
            <a:r>
              <a:rPr lang="ru-RU" sz="1600" b="1" dirty="0" err="1">
                <a:latin typeface="Montserrat Light" panose="00000400000000000000" pitchFamily="2" charset="-52"/>
              </a:rPr>
              <a:t>cpus</a:t>
            </a:r>
            <a:r>
              <a:rPr lang="en-US" sz="1600" b="1" dirty="0">
                <a:latin typeface="Montserrat Light" panose="00000400000000000000" pitchFamily="2" charset="-52"/>
              </a:rPr>
              <a:t> </a:t>
            </a:r>
            <a:r>
              <a:rPr lang="en-US" sz="1600" dirty="0">
                <a:latin typeface="Montserrat Light" panose="00000400000000000000" pitchFamily="2" charset="-52"/>
              </a:rPr>
              <a:t>– </a:t>
            </a:r>
            <a:r>
              <a:rPr lang="ru-RU" sz="1600" dirty="0">
                <a:latin typeface="Montserrat Light" panose="00000400000000000000" pitchFamily="2" charset="-52"/>
              </a:rPr>
              <a:t>количество процессоров</a:t>
            </a:r>
            <a:r>
              <a:rPr lang="en-US" sz="1600" dirty="0">
                <a:latin typeface="Montserrat Light" panose="00000400000000000000" pitchFamily="2" charset="-52"/>
              </a:rPr>
              <a:t>;</a:t>
            </a:r>
            <a:endParaRPr lang="ru-RU" sz="16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1600" b="1" dirty="0">
                <a:latin typeface="Montserrat Light" panose="00000400000000000000" pitchFamily="2" charset="-52"/>
              </a:rPr>
              <a:t>--</a:t>
            </a:r>
            <a:r>
              <a:rPr lang="ru-RU" sz="1600" b="1" dirty="0" err="1">
                <a:latin typeface="Montserrat Light" panose="00000400000000000000" pitchFamily="2" charset="-52"/>
              </a:rPr>
              <a:t>cpuset-cpus</a:t>
            </a:r>
            <a:r>
              <a:rPr lang="ru-RU" sz="1600" b="1" dirty="0">
                <a:latin typeface="Montserrat Light" panose="00000400000000000000" pitchFamily="2" charset="-52"/>
              </a:rPr>
              <a:t> </a:t>
            </a:r>
            <a:r>
              <a:rPr lang="ru-RU" sz="1600" dirty="0">
                <a:latin typeface="Montserrat Light" panose="00000400000000000000" pitchFamily="2" charset="-52"/>
              </a:rPr>
              <a:t>– процессоры, в которых разрешено выполнение (0-3, 0,1)</a:t>
            </a:r>
            <a:r>
              <a:rPr lang="en-US" sz="1600" dirty="0">
                <a:latin typeface="Montserrat Light" panose="00000400000000000000" pitchFamily="2" charset="-52"/>
              </a:rPr>
              <a:t>;</a:t>
            </a:r>
            <a:endParaRPr lang="ru-RU" sz="16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1600" b="1" dirty="0">
                <a:latin typeface="Montserrat Light" panose="00000400000000000000" pitchFamily="2" charset="-52"/>
              </a:rPr>
              <a:t>--</a:t>
            </a:r>
            <a:r>
              <a:rPr lang="ru-RU" sz="1600" b="1" dirty="0" err="1">
                <a:latin typeface="Montserrat Light" panose="00000400000000000000" pitchFamily="2" charset="-52"/>
              </a:rPr>
              <a:t>cpuset-mems</a:t>
            </a:r>
            <a:r>
              <a:rPr lang="ru-RU" sz="1600" b="1" dirty="0">
                <a:latin typeface="Montserrat Light" panose="00000400000000000000" pitchFamily="2" charset="-52"/>
              </a:rPr>
              <a:t> </a:t>
            </a:r>
            <a:r>
              <a:rPr lang="ru-RU" sz="1600" dirty="0">
                <a:latin typeface="Montserrat Light" panose="00000400000000000000" pitchFamily="2" charset="-52"/>
              </a:rPr>
              <a:t>– </a:t>
            </a:r>
            <a:r>
              <a:rPr lang="ru-RU" sz="1600" dirty="0" err="1">
                <a:latin typeface="Montserrat Light" panose="00000400000000000000" pitchFamily="2" charset="-52"/>
              </a:rPr>
              <a:t>MEMs</a:t>
            </a:r>
            <a:r>
              <a:rPr lang="ru-RU" sz="1600" dirty="0">
                <a:latin typeface="Montserrat Light" panose="00000400000000000000" pitchFamily="2" charset="-52"/>
              </a:rPr>
              <a:t>, в которых разрешено выполнение (0-3, 0,1)</a:t>
            </a:r>
            <a:r>
              <a:rPr lang="en-US" sz="1600" dirty="0">
                <a:latin typeface="Montserrat Light" panose="00000400000000000000" pitchFamily="2" charset="-52"/>
              </a:rPr>
              <a:t>;</a:t>
            </a:r>
            <a:endParaRPr lang="ru-RU" sz="16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1600" b="1" dirty="0">
                <a:latin typeface="Montserrat Light" panose="00000400000000000000" pitchFamily="2" charset="-52"/>
              </a:rPr>
              <a:t>--</a:t>
            </a:r>
            <a:r>
              <a:rPr lang="ru-RU" sz="1600" b="1" dirty="0" err="1">
                <a:latin typeface="Montserrat Light" panose="00000400000000000000" pitchFamily="2" charset="-52"/>
              </a:rPr>
              <a:t>detach</a:t>
            </a:r>
            <a:r>
              <a:rPr lang="ru-RU" sz="1600" b="1" dirty="0">
                <a:latin typeface="Montserrat Light" panose="00000400000000000000" pitchFamily="2" charset="-52"/>
              </a:rPr>
              <a:t> </a:t>
            </a:r>
            <a:r>
              <a:rPr lang="ru-RU" sz="1600" dirty="0">
                <a:latin typeface="Montserrat Light" panose="00000400000000000000" pitchFamily="2" charset="-52"/>
              </a:rPr>
              <a:t>, </a:t>
            </a:r>
            <a:r>
              <a:rPr lang="ru-RU" sz="1600" b="1" dirty="0">
                <a:latin typeface="Montserrat Light" panose="00000400000000000000" pitchFamily="2" charset="-52"/>
              </a:rPr>
              <a:t>-d </a:t>
            </a:r>
            <a:r>
              <a:rPr lang="ru-RU" sz="1600" dirty="0">
                <a:latin typeface="Montserrat Light" panose="00000400000000000000" pitchFamily="2" charset="-52"/>
              </a:rPr>
              <a:t>– запустите контейнер в фоновом режиме и распечатайте идентификатор контейнера</a:t>
            </a:r>
            <a:r>
              <a:rPr lang="en-US" sz="1600" dirty="0">
                <a:latin typeface="Montserrat Light" panose="00000400000000000000" pitchFamily="2" charset="-52"/>
              </a:rPr>
              <a:t>;</a:t>
            </a:r>
            <a:endParaRPr lang="ru-RU" sz="16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1600" b="1" dirty="0">
                <a:latin typeface="Montserrat Light" panose="00000400000000000000" pitchFamily="2" charset="-52"/>
              </a:rPr>
              <a:t>--</a:t>
            </a:r>
            <a:r>
              <a:rPr lang="ru-RU" sz="1600" b="1" dirty="0" err="1">
                <a:latin typeface="Montserrat Light" panose="00000400000000000000" pitchFamily="2" charset="-52"/>
              </a:rPr>
              <a:t>detach-keys</a:t>
            </a:r>
            <a:r>
              <a:rPr lang="ru-RU" sz="1600" b="1" dirty="0">
                <a:latin typeface="Montserrat Light" panose="00000400000000000000" pitchFamily="2" charset="-52"/>
              </a:rPr>
              <a:t> </a:t>
            </a:r>
            <a:r>
              <a:rPr lang="ru-RU" sz="1600" dirty="0">
                <a:latin typeface="Montserrat Light" panose="00000400000000000000" pitchFamily="2" charset="-52"/>
              </a:rPr>
              <a:t>– переопределить последовательность клавиш для отсоединения контейнера</a:t>
            </a:r>
            <a:r>
              <a:rPr lang="en-US" sz="1600" dirty="0">
                <a:latin typeface="Montserrat Light" panose="00000400000000000000" pitchFamily="2" charset="-52"/>
              </a:rPr>
              <a:t>;</a:t>
            </a:r>
            <a:endParaRPr lang="ru-RU" sz="16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1600" b="1" dirty="0">
                <a:latin typeface="Montserrat Light" panose="00000400000000000000" pitchFamily="2" charset="-52"/>
              </a:rPr>
              <a:t>--</a:t>
            </a:r>
            <a:r>
              <a:rPr lang="ru-RU" sz="1600" b="1" dirty="0" err="1">
                <a:latin typeface="Montserrat Light" panose="00000400000000000000" pitchFamily="2" charset="-52"/>
              </a:rPr>
              <a:t>device</a:t>
            </a:r>
            <a:r>
              <a:rPr lang="ru-RU" sz="1600" b="1" dirty="0">
                <a:latin typeface="Montserrat Light" panose="00000400000000000000" pitchFamily="2" charset="-52"/>
              </a:rPr>
              <a:t> </a:t>
            </a:r>
            <a:r>
              <a:rPr lang="ru-RU" sz="1600" dirty="0">
                <a:latin typeface="Montserrat Light" panose="00000400000000000000" pitchFamily="2" charset="-52"/>
              </a:rPr>
              <a:t>– добавьте хост-устройство в контейнер</a:t>
            </a:r>
            <a:r>
              <a:rPr lang="en-US" sz="1600" dirty="0">
                <a:latin typeface="Montserrat Light" panose="00000400000000000000" pitchFamily="2" charset="-52"/>
              </a:rPr>
              <a:t>;</a:t>
            </a:r>
            <a:endParaRPr lang="ru-RU" sz="16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1600" b="1" dirty="0">
                <a:latin typeface="Montserrat Light" panose="00000400000000000000" pitchFamily="2" charset="-52"/>
              </a:rPr>
              <a:t>--</a:t>
            </a:r>
            <a:r>
              <a:rPr lang="ru-RU" sz="1600" b="1" dirty="0" err="1">
                <a:latin typeface="Montserrat Light" panose="00000400000000000000" pitchFamily="2" charset="-52"/>
              </a:rPr>
              <a:t>device-cgroup-rule</a:t>
            </a:r>
            <a:r>
              <a:rPr lang="ru-RU" sz="1600" b="1" dirty="0">
                <a:latin typeface="Montserrat Light" panose="00000400000000000000" pitchFamily="2" charset="-52"/>
              </a:rPr>
              <a:t> </a:t>
            </a:r>
            <a:r>
              <a:rPr lang="ru-RU" sz="1600" dirty="0">
                <a:latin typeface="Montserrat Light" panose="00000400000000000000" pitchFamily="2" charset="-52"/>
              </a:rPr>
              <a:t>– добавьте правило в список разрешенных устройств </a:t>
            </a:r>
            <a:r>
              <a:rPr lang="ru-RU" sz="1600" dirty="0" err="1">
                <a:latin typeface="Montserrat Light" panose="00000400000000000000" pitchFamily="2" charset="-52"/>
              </a:rPr>
              <a:t>cgroup</a:t>
            </a:r>
            <a:r>
              <a:rPr lang="en-US" sz="1600" dirty="0">
                <a:latin typeface="Montserrat Light" panose="00000400000000000000" pitchFamily="2" charset="-52"/>
              </a:rPr>
              <a:t>;</a:t>
            </a:r>
            <a:endParaRPr lang="ru-RU" sz="16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1600" b="1" dirty="0">
                <a:latin typeface="Montserrat Light" panose="00000400000000000000" pitchFamily="2" charset="-52"/>
              </a:rPr>
              <a:t>--</a:t>
            </a:r>
            <a:r>
              <a:rPr lang="ru-RU" sz="1600" b="1" dirty="0" err="1">
                <a:latin typeface="Montserrat Light" panose="00000400000000000000" pitchFamily="2" charset="-52"/>
              </a:rPr>
              <a:t>device-read-bps</a:t>
            </a:r>
            <a:r>
              <a:rPr lang="ru-RU" sz="1600" b="1" dirty="0">
                <a:latin typeface="Montserrat Light" panose="00000400000000000000" pitchFamily="2" charset="-52"/>
              </a:rPr>
              <a:t> </a:t>
            </a:r>
            <a:r>
              <a:rPr lang="ru-RU" sz="1600" dirty="0">
                <a:latin typeface="Montserrat Light" panose="00000400000000000000" pitchFamily="2" charset="-52"/>
              </a:rPr>
              <a:t>– ограничение скорости чтения (байт в секунду) с устройства</a:t>
            </a:r>
            <a:r>
              <a:rPr lang="en-US" sz="1600" dirty="0">
                <a:latin typeface="Montserrat Light" panose="00000400000000000000" pitchFamily="2" charset="-52"/>
              </a:rPr>
              <a:t>;</a:t>
            </a:r>
            <a:endParaRPr lang="ru-RU" sz="16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1600" b="1" dirty="0">
                <a:latin typeface="Montserrat Light" panose="00000400000000000000" pitchFamily="2" charset="-52"/>
              </a:rPr>
              <a:t>--</a:t>
            </a:r>
            <a:r>
              <a:rPr lang="ru-RU" sz="1600" b="1" dirty="0" err="1">
                <a:latin typeface="Montserrat Light" panose="00000400000000000000" pitchFamily="2" charset="-52"/>
              </a:rPr>
              <a:t>device-read-iops</a:t>
            </a:r>
            <a:r>
              <a:rPr lang="ru-RU" sz="1600" dirty="0">
                <a:latin typeface="Montserrat Light" panose="00000400000000000000" pitchFamily="2" charset="-52"/>
              </a:rPr>
              <a:t> – ограничить скорость чтения (ввода-вывода в секунду) с устройства</a:t>
            </a:r>
          </a:p>
          <a:p>
            <a:pPr marL="0" indent="360363">
              <a:buNone/>
            </a:pPr>
            <a:r>
              <a:rPr lang="ru-RU" sz="1600" b="1" dirty="0">
                <a:latin typeface="Montserrat Light" panose="00000400000000000000" pitchFamily="2" charset="-52"/>
              </a:rPr>
              <a:t>--</a:t>
            </a:r>
            <a:r>
              <a:rPr lang="ru-RU" sz="1600" b="1" dirty="0" err="1">
                <a:latin typeface="Montserrat Light" panose="00000400000000000000" pitchFamily="2" charset="-52"/>
              </a:rPr>
              <a:t>device-write-bps</a:t>
            </a:r>
            <a:r>
              <a:rPr lang="ru-RU" sz="1600" b="1" dirty="0">
                <a:latin typeface="Montserrat Light" panose="00000400000000000000" pitchFamily="2" charset="-52"/>
              </a:rPr>
              <a:t> </a:t>
            </a:r>
            <a:r>
              <a:rPr lang="ru-RU" sz="1600" dirty="0">
                <a:latin typeface="Montserrat Light" panose="00000400000000000000" pitchFamily="2" charset="-52"/>
              </a:rPr>
              <a:t>– ограничить скорость записи (байт в секунду) на устройство</a:t>
            </a:r>
            <a:r>
              <a:rPr lang="en-US" sz="1600" dirty="0">
                <a:latin typeface="Montserrat Light" panose="00000400000000000000" pitchFamily="2" charset="-52"/>
              </a:rPr>
              <a:t>;</a:t>
            </a:r>
            <a:endParaRPr lang="ru-RU" sz="16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1600" b="1" dirty="0">
                <a:latin typeface="Montserrat Light" panose="00000400000000000000" pitchFamily="2" charset="-52"/>
              </a:rPr>
              <a:t>--</a:t>
            </a:r>
            <a:r>
              <a:rPr lang="ru-RU" sz="1600" b="1" dirty="0" err="1">
                <a:latin typeface="Montserrat Light" panose="00000400000000000000" pitchFamily="2" charset="-52"/>
              </a:rPr>
              <a:t>device-write-iops</a:t>
            </a:r>
            <a:r>
              <a:rPr lang="ru-RU" sz="1600" b="1" dirty="0">
                <a:latin typeface="Montserrat Light" panose="00000400000000000000" pitchFamily="2" charset="-52"/>
              </a:rPr>
              <a:t> </a:t>
            </a:r>
            <a:r>
              <a:rPr lang="ru-RU" sz="1600" dirty="0">
                <a:latin typeface="Montserrat Light" panose="00000400000000000000" pitchFamily="2" charset="-52"/>
              </a:rPr>
              <a:t>– ограничить скорость записи (ввода-вывода в секунду) на устройство</a:t>
            </a:r>
            <a:r>
              <a:rPr lang="en-US" sz="1600" dirty="0">
                <a:latin typeface="Montserrat Light" panose="00000400000000000000" pitchFamily="2" charset="-52"/>
              </a:rPr>
              <a:t>;</a:t>
            </a:r>
            <a:endParaRPr lang="ru-RU" sz="16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1600" b="1" dirty="0">
                <a:latin typeface="Montserrat Light" panose="00000400000000000000" pitchFamily="2" charset="-52"/>
              </a:rPr>
              <a:t>--</a:t>
            </a:r>
            <a:r>
              <a:rPr lang="ru-RU" sz="1600" b="1" dirty="0" err="1">
                <a:latin typeface="Montserrat Light" panose="00000400000000000000" pitchFamily="2" charset="-52"/>
              </a:rPr>
              <a:t>disable-content-trust</a:t>
            </a:r>
            <a:r>
              <a:rPr lang="ru-RU" sz="1600" b="1" dirty="0">
                <a:latin typeface="Montserrat Light" panose="00000400000000000000" pitchFamily="2" charset="-52"/>
              </a:rPr>
              <a:t>	</a:t>
            </a:r>
            <a:r>
              <a:rPr lang="ru-RU" sz="1600" b="1" dirty="0" err="1">
                <a:latin typeface="Montserrat Light" panose="00000400000000000000" pitchFamily="2" charset="-52"/>
              </a:rPr>
              <a:t>true</a:t>
            </a:r>
            <a:r>
              <a:rPr lang="ru-RU" sz="1600" b="1" dirty="0">
                <a:latin typeface="Montserrat Light" panose="00000400000000000000" pitchFamily="2" charset="-52"/>
              </a:rPr>
              <a:t> </a:t>
            </a:r>
            <a:r>
              <a:rPr lang="ru-RU" sz="1600" dirty="0">
                <a:latin typeface="Montserrat Light" panose="00000400000000000000" pitchFamily="2" charset="-52"/>
              </a:rPr>
              <a:t>– пропустить проверку изображения</a:t>
            </a:r>
            <a:r>
              <a:rPr lang="en-US" sz="1600" dirty="0">
                <a:latin typeface="Montserrat Light" panose="00000400000000000000" pitchFamily="2" charset="-52"/>
              </a:rPr>
              <a:t>;</a:t>
            </a:r>
            <a:endParaRPr lang="ru-RU" sz="1600" dirty="0">
              <a:latin typeface="Montserrat Light" panose="000004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935994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Синтаксис команды </a:t>
            </a:r>
            <a:r>
              <a:rPr lang="en-US" sz="3200" dirty="0">
                <a:latin typeface="Montserrat" pitchFamily="2" charset="0"/>
              </a:rPr>
              <a:t>docker run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xmlns="" id="{26B39EEB-1DCC-68C9-EECE-5F0CECE06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360363">
              <a:buNone/>
            </a:pPr>
            <a:r>
              <a:rPr lang="ru-RU" b="1" dirty="0">
                <a:latin typeface="Montserrat Light" panose="00000400000000000000" pitchFamily="2" charset="-52"/>
              </a:rPr>
              <a:t>--</a:t>
            </a:r>
            <a:r>
              <a:rPr lang="ru-RU" b="1" dirty="0" err="1">
                <a:latin typeface="Montserrat Light" panose="00000400000000000000" pitchFamily="2" charset="-52"/>
              </a:rPr>
              <a:t>dns</a:t>
            </a:r>
            <a:r>
              <a:rPr lang="en-US" b="1" dirty="0">
                <a:latin typeface="Montserrat Light" panose="00000400000000000000" pitchFamily="2" charset="-52"/>
              </a:rPr>
              <a:t> </a:t>
            </a:r>
            <a:r>
              <a:rPr lang="en-US" dirty="0">
                <a:latin typeface="Montserrat Light" panose="00000400000000000000" pitchFamily="2" charset="-52"/>
              </a:rPr>
              <a:t>– </a:t>
            </a:r>
            <a:r>
              <a:rPr lang="ru-RU" dirty="0">
                <a:latin typeface="Montserrat Light" panose="00000400000000000000" pitchFamily="2" charset="-52"/>
              </a:rPr>
              <a:t>настройка пользовательских DNS-серверов</a:t>
            </a:r>
            <a:r>
              <a:rPr lang="en-US" dirty="0">
                <a:latin typeface="Montserrat Light" panose="00000400000000000000" pitchFamily="2" charset="-52"/>
              </a:rPr>
              <a:t>;</a:t>
            </a:r>
            <a:endParaRPr lang="ru-RU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b="1" dirty="0">
                <a:latin typeface="Montserrat Light" panose="00000400000000000000" pitchFamily="2" charset="-52"/>
              </a:rPr>
              <a:t>--</a:t>
            </a:r>
            <a:r>
              <a:rPr lang="ru-RU" b="1" dirty="0" err="1">
                <a:latin typeface="Montserrat Light" panose="00000400000000000000" pitchFamily="2" charset="-52"/>
              </a:rPr>
              <a:t>dns-opt</a:t>
            </a:r>
            <a:r>
              <a:rPr lang="ru-RU" b="1" dirty="0">
                <a:latin typeface="Montserrat Light" panose="00000400000000000000" pitchFamily="2" charset="-52"/>
              </a:rPr>
              <a:t> </a:t>
            </a:r>
            <a:r>
              <a:rPr lang="ru-RU" dirty="0">
                <a:latin typeface="Montserrat Light" panose="00000400000000000000" pitchFamily="2" charset="-52"/>
              </a:rPr>
              <a:t>– настройка параметров DNS</a:t>
            </a:r>
            <a:r>
              <a:rPr lang="en-US" dirty="0">
                <a:latin typeface="Montserrat Light" panose="00000400000000000000" pitchFamily="2" charset="-52"/>
              </a:rPr>
              <a:t>;</a:t>
            </a:r>
            <a:endParaRPr lang="ru-RU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b="1" dirty="0">
                <a:latin typeface="Montserrat Light" panose="00000400000000000000" pitchFamily="2" charset="-52"/>
              </a:rPr>
              <a:t>--</a:t>
            </a:r>
            <a:r>
              <a:rPr lang="ru-RU" b="1" dirty="0" err="1">
                <a:latin typeface="Montserrat Light" panose="00000400000000000000" pitchFamily="2" charset="-52"/>
              </a:rPr>
              <a:t>dns-option</a:t>
            </a:r>
            <a:r>
              <a:rPr lang="ru-RU" b="1" dirty="0">
                <a:latin typeface="Montserrat Light" panose="00000400000000000000" pitchFamily="2" charset="-52"/>
              </a:rPr>
              <a:t> </a:t>
            </a:r>
            <a:r>
              <a:rPr lang="ru-RU" dirty="0">
                <a:latin typeface="Montserrat Light" panose="00000400000000000000" pitchFamily="2" charset="-52"/>
              </a:rPr>
              <a:t>– настройка параметров DNS</a:t>
            </a:r>
            <a:r>
              <a:rPr lang="en-US" dirty="0">
                <a:latin typeface="Montserrat Light" panose="00000400000000000000" pitchFamily="2" charset="-52"/>
              </a:rPr>
              <a:t>;</a:t>
            </a:r>
            <a:endParaRPr lang="ru-RU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b="1" dirty="0">
                <a:latin typeface="Montserrat Light" panose="00000400000000000000" pitchFamily="2" charset="-52"/>
              </a:rPr>
              <a:t>--</a:t>
            </a:r>
            <a:r>
              <a:rPr lang="ru-RU" b="1" dirty="0" err="1">
                <a:latin typeface="Montserrat Light" panose="00000400000000000000" pitchFamily="2" charset="-52"/>
              </a:rPr>
              <a:t>dns-search</a:t>
            </a:r>
            <a:r>
              <a:rPr lang="ru-RU" b="1" dirty="0">
                <a:latin typeface="Montserrat Light" panose="00000400000000000000" pitchFamily="2" charset="-52"/>
              </a:rPr>
              <a:t> </a:t>
            </a:r>
            <a:r>
              <a:rPr lang="ru-RU" dirty="0">
                <a:latin typeface="Montserrat Light" panose="00000400000000000000" pitchFamily="2" charset="-52"/>
              </a:rPr>
              <a:t>– настройка пользовательских доменов поиска DNS</a:t>
            </a:r>
            <a:r>
              <a:rPr lang="en-US" dirty="0">
                <a:latin typeface="Montserrat Light" panose="00000400000000000000" pitchFamily="2" charset="-52"/>
              </a:rPr>
              <a:t>;</a:t>
            </a:r>
            <a:endParaRPr lang="ru-RU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b="1" dirty="0">
                <a:latin typeface="Montserrat Light" panose="00000400000000000000" pitchFamily="2" charset="-52"/>
              </a:rPr>
              <a:t>--</a:t>
            </a:r>
            <a:r>
              <a:rPr lang="ru-RU" b="1" dirty="0" err="1">
                <a:latin typeface="Montserrat Light" panose="00000400000000000000" pitchFamily="2" charset="-52"/>
              </a:rPr>
              <a:t>domainname</a:t>
            </a:r>
            <a:r>
              <a:rPr lang="ru-RU" b="1" dirty="0">
                <a:latin typeface="Montserrat Light" panose="00000400000000000000" pitchFamily="2" charset="-52"/>
              </a:rPr>
              <a:t> </a:t>
            </a:r>
            <a:r>
              <a:rPr lang="ru-RU" dirty="0">
                <a:latin typeface="Montserrat Light" panose="00000400000000000000" pitchFamily="2" charset="-52"/>
              </a:rPr>
              <a:t>– доменное имя контейнера NIS</a:t>
            </a:r>
            <a:r>
              <a:rPr lang="en-US" dirty="0">
                <a:latin typeface="Montserrat Light" panose="00000400000000000000" pitchFamily="2" charset="-52"/>
              </a:rPr>
              <a:t>;</a:t>
            </a:r>
            <a:endParaRPr lang="ru-RU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b="1" dirty="0">
                <a:latin typeface="Montserrat Light" panose="00000400000000000000" pitchFamily="2" charset="-52"/>
              </a:rPr>
              <a:t>--</a:t>
            </a:r>
            <a:r>
              <a:rPr lang="ru-RU" b="1" dirty="0" err="1">
                <a:latin typeface="Montserrat Light" panose="00000400000000000000" pitchFamily="2" charset="-52"/>
              </a:rPr>
              <a:t>entrypoint</a:t>
            </a:r>
            <a:r>
              <a:rPr lang="ru-RU" b="1" dirty="0">
                <a:latin typeface="Montserrat Light" panose="00000400000000000000" pitchFamily="2" charset="-52"/>
              </a:rPr>
              <a:t> </a:t>
            </a:r>
            <a:r>
              <a:rPr lang="ru-RU" dirty="0">
                <a:latin typeface="Montserrat Light" panose="00000400000000000000" pitchFamily="2" charset="-52"/>
              </a:rPr>
              <a:t>– перезаписать НАЧАЛЬНУЮ ТОЧКУ изображения по умолчанию</a:t>
            </a:r>
            <a:r>
              <a:rPr lang="en-US" dirty="0">
                <a:latin typeface="Montserrat Light" panose="00000400000000000000" pitchFamily="2" charset="-52"/>
              </a:rPr>
              <a:t>;</a:t>
            </a:r>
            <a:endParaRPr lang="ru-RU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b="1" dirty="0">
                <a:latin typeface="Montserrat Light" panose="00000400000000000000" pitchFamily="2" charset="-52"/>
              </a:rPr>
              <a:t>--</a:t>
            </a:r>
            <a:r>
              <a:rPr lang="ru-RU" b="1" dirty="0" err="1">
                <a:latin typeface="Montserrat Light" panose="00000400000000000000" pitchFamily="2" charset="-52"/>
              </a:rPr>
              <a:t>env</a:t>
            </a:r>
            <a:r>
              <a:rPr lang="ru-RU" b="1" dirty="0">
                <a:latin typeface="Montserrat Light" panose="00000400000000000000" pitchFamily="2" charset="-52"/>
              </a:rPr>
              <a:t> </a:t>
            </a:r>
            <a:r>
              <a:rPr lang="ru-RU" dirty="0">
                <a:latin typeface="Montserrat Light" panose="00000400000000000000" pitchFamily="2" charset="-52"/>
              </a:rPr>
              <a:t>, </a:t>
            </a:r>
            <a:r>
              <a:rPr lang="ru-RU" b="1" dirty="0">
                <a:latin typeface="Montserrat Light" panose="00000400000000000000" pitchFamily="2" charset="-52"/>
              </a:rPr>
              <a:t>-e</a:t>
            </a:r>
            <a:r>
              <a:rPr lang="ru-RU" dirty="0">
                <a:latin typeface="Montserrat Light" panose="00000400000000000000" pitchFamily="2" charset="-52"/>
              </a:rPr>
              <a:t> – установка переменных среды</a:t>
            </a:r>
            <a:r>
              <a:rPr lang="en-US" dirty="0">
                <a:latin typeface="Montserrat Light" panose="00000400000000000000" pitchFamily="2" charset="-52"/>
              </a:rPr>
              <a:t>;</a:t>
            </a:r>
            <a:endParaRPr lang="ru-RU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b="1" dirty="0">
                <a:latin typeface="Montserrat Light" panose="00000400000000000000" pitchFamily="2" charset="-52"/>
              </a:rPr>
              <a:t>--</a:t>
            </a:r>
            <a:r>
              <a:rPr lang="ru-RU" b="1" dirty="0" err="1">
                <a:latin typeface="Montserrat Light" panose="00000400000000000000" pitchFamily="2" charset="-52"/>
              </a:rPr>
              <a:t>env-file</a:t>
            </a:r>
            <a:r>
              <a:rPr lang="ru-RU" b="1" dirty="0">
                <a:latin typeface="Montserrat Light" panose="00000400000000000000" pitchFamily="2" charset="-52"/>
              </a:rPr>
              <a:t> </a:t>
            </a:r>
            <a:r>
              <a:rPr lang="ru-RU" dirty="0">
                <a:latin typeface="Montserrat Light" panose="00000400000000000000" pitchFamily="2" charset="-52"/>
              </a:rPr>
              <a:t>– чтение в файле переменных среды</a:t>
            </a:r>
            <a:r>
              <a:rPr lang="en-US" dirty="0">
                <a:latin typeface="Montserrat Light" panose="00000400000000000000" pitchFamily="2" charset="-52"/>
              </a:rPr>
              <a:t>;</a:t>
            </a:r>
            <a:endParaRPr lang="ru-RU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b="1" dirty="0">
                <a:latin typeface="Montserrat Light" panose="00000400000000000000" pitchFamily="2" charset="-52"/>
              </a:rPr>
              <a:t>--</a:t>
            </a:r>
            <a:r>
              <a:rPr lang="ru-RU" b="1" dirty="0" err="1">
                <a:latin typeface="Montserrat Light" panose="00000400000000000000" pitchFamily="2" charset="-52"/>
              </a:rPr>
              <a:t>expose</a:t>
            </a:r>
            <a:r>
              <a:rPr lang="ru-RU" b="1" dirty="0">
                <a:latin typeface="Montserrat Light" panose="00000400000000000000" pitchFamily="2" charset="-52"/>
              </a:rPr>
              <a:t> </a:t>
            </a:r>
            <a:r>
              <a:rPr lang="ru-RU" dirty="0">
                <a:latin typeface="Montserrat Light" panose="00000400000000000000" pitchFamily="2" charset="-52"/>
              </a:rPr>
              <a:t>– предоставить доступ к порту или диапазону портов</a:t>
            </a:r>
            <a:r>
              <a:rPr lang="en-US" dirty="0">
                <a:latin typeface="Montserrat Light" panose="00000400000000000000" pitchFamily="2" charset="-52"/>
              </a:rPr>
              <a:t>;</a:t>
            </a:r>
            <a:endParaRPr lang="ru-RU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b="1" dirty="0">
                <a:latin typeface="Montserrat Light" panose="00000400000000000000" pitchFamily="2" charset="-52"/>
              </a:rPr>
              <a:t>--</a:t>
            </a:r>
            <a:r>
              <a:rPr lang="ru-RU" b="1" dirty="0" err="1">
                <a:latin typeface="Montserrat Light" panose="00000400000000000000" pitchFamily="2" charset="-52"/>
              </a:rPr>
              <a:t>gpus</a:t>
            </a:r>
            <a:r>
              <a:rPr lang="ru-RU" b="1" dirty="0">
                <a:latin typeface="Montserrat Light" panose="00000400000000000000" pitchFamily="2" charset="-52"/>
              </a:rPr>
              <a:t> </a:t>
            </a:r>
            <a:r>
              <a:rPr lang="ru-RU" dirty="0">
                <a:latin typeface="Montserrat Light" panose="00000400000000000000" pitchFamily="2" charset="-52"/>
              </a:rPr>
              <a:t>– API 1.40+</a:t>
            </a:r>
            <a:r>
              <a:rPr lang="en-US" dirty="0">
                <a:latin typeface="Montserrat Light" panose="00000400000000000000" pitchFamily="2" charset="-52"/>
              </a:rPr>
              <a:t>.</a:t>
            </a:r>
            <a:endParaRPr lang="ru-RU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dirty="0">
                <a:latin typeface="Montserrat Light" panose="00000400000000000000" pitchFamily="2" charset="-52"/>
              </a:rPr>
              <a:t>Графические устройства для добавления в контейнер ('</a:t>
            </a:r>
            <a:r>
              <a:rPr lang="ru-RU" dirty="0" err="1">
                <a:latin typeface="Montserrat Light" panose="00000400000000000000" pitchFamily="2" charset="-52"/>
              </a:rPr>
              <a:t>all</a:t>
            </a:r>
            <a:r>
              <a:rPr lang="ru-RU" dirty="0">
                <a:latin typeface="Montserrat Light" panose="00000400000000000000" pitchFamily="2" charset="-52"/>
              </a:rPr>
              <a:t>' для передачи всех графических процессоров)</a:t>
            </a:r>
          </a:p>
          <a:p>
            <a:pPr marL="0" indent="360363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4887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Синтаксис команды </a:t>
            </a:r>
            <a:r>
              <a:rPr lang="en-US" sz="3200" dirty="0">
                <a:latin typeface="Montserrat" pitchFamily="2" charset="0"/>
              </a:rPr>
              <a:t>docker run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xmlns="" id="{26B39EEB-1DCC-68C9-EECE-5F0CECE06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0252"/>
            <a:ext cx="10515600" cy="4351338"/>
          </a:xfrm>
        </p:spPr>
        <p:txBody>
          <a:bodyPr>
            <a:noAutofit/>
          </a:bodyPr>
          <a:lstStyle/>
          <a:p>
            <a:pPr marL="0" indent="360363">
              <a:buNone/>
            </a:pPr>
            <a:r>
              <a:rPr lang="ru-RU" sz="1400" b="1" dirty="0">
                <a:latin typeface="Montserrat Light" panose="00000400000000000000" pitchFamily="2" charset="-52"/>
              </a:rPr>
              <a:t>--</a:t>
            </a:r>
            <a:r>
              <a:rPr lang="ru-RU" sz="1400" b="1" dirty="0" err="1">
                <a:latin typeface="Montserrat Light" panose="00000400000000000000" pitchFamily="2" charset="-52"/>
              </a:rPr>
              <a:t>group-add</a:t>
            </a:r>
            <a:r>
              <a:rPr lang="en-US" sz="1400" b="1" dirty="0">
                <a:latin typeface="Montserrat Light" panose="00000400000000000000" pitchFamily="2" charset="-52"/>
              </a:rPr>
              <a:t> </a:t>
            </a:r>
            <a:r>
              <a:rPr lang="en-US" sz="1400" dirty="0">
                <a:latin typeface="Montserrat Light" panose="00000400000000000000" pitchFamily="2" charset="-52"/>
              </a:rPr>
              <a:t>– </a:t>
            </a:r>
            <a:r>
              <a:rPr lang="ru-RU" sz="1400" dirty="0">
                <a:latin typeface="Montserrat Light" panose="00000400000000000000" pitchFamily="2" charset="-52"/>
              </a:rPr>
              <a:t>добавьте дополнительные группы для присоединения</a:t>
            </a:r>
            <a:r>
              <a:rPr lang="en-US" sz="1400" dirty="0">
                <a:latin typeface="Montserrat Light" panose="00000400000000000000" pitchFamily="2" charset="-52"/>
              </a:rPr>
              <a:t>;</a:t>
            </a:r>
            <a:endParaRPr lang="ru-RU" sz="14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1400" b="1" dirty="0">
                <a:latin typeface="Montserrat Light" panose="00000400000000000000" pitchFamily="2" charset="-52"/>
              </a:rPr>
              <a:t>--</a:t>
            </a:r>
            <a:r>
              <a:rPr lang="ru-RU" sz="1400" b="1" dirty="0" err="1">
                <a:latin typeface="Montserrat Light" panose="00000400000000000000" pitchFamily="2" charset="-52"/>
              </a:rPr>
              <a:t>health-cmd</a:t>
            </a:r>
            <a:r>
              <a:rPr lang="ru-RU" sz="1400" b="1" dirty="0">
                <a:latin typeface="Montserrat Light" panose="00000400000000000000" pitchFamily="2" charset="-52"/>
              </a:rPr>
              <a:t> </a:t>
            </a:r>
            <a:r>
              <a:rPr lang="ru-RU" sz="1400" dirty="0">
                <a:latin typeface="Montserrat Light" panose="00000400000000000000" pitchFamily="2" charset="-52"/>
              </a:rPr>
              <a:t>– команда для запуска для проверки работоспособности</a:t>
            </a:r>
            <a:r>
              <a:rPr lang="en-US" sz="1400" dirty="0">
                <a:latin typeface="Montserrat Light" panose="00000400000000000000" pitchFamily="2" charset="-52"/>
              </a:rPr>
              <a:t>;</a:t>
            </a:r>
            <a:endParaRPr lang="ru-RU" sz="14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1400" b="1" dirty="0">
                <a:latin typeface="Montserrat Light" panose="00000400000000000000" pitchFamily="2" charset="-52"/>
              </a:rPr>
              <a:t>--</a:t>
            </a:r>
            <a:r>
              <a:rPr lang="ru-RU" sz="1400" b="1" dirty="0" err="1">
                <a:latin typeface="Montserrat Light" panose="00000400000000000000" pitchFamily="2" charset="-52"/>
              </a:rPr>
              <a:t>health-interval</a:t>
            </a:r>
            <a:r>
              <a:rPr lang="ru-RU" sz="1400" dirty="0">
                <a:latin typeface="Montserrat Light" panose="00000400000000000000" pitchFamily="2" charset="-52"/>
              </a:rPr>
              <a:t> – время между выполнением проверки (мс | с | м | ч) (по умолчанию 0 секунд)</a:t>
            </a:r>
            <a:r>
              <a:rPr lang="en-US" sz="1400" dirty="0">
                <a:latin typeface="Montserrat Light" panose="00000400000000000000" pitchFamily="2" charset="-52"/>
              </a:rPr>
              <a:t>;</a:t>
            </a:r>
            <a:endParaRPr lang="ru-RU" sz="14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1400" b="1" dirty="0">
                <a:latin typeface="Montserrat Light" panose="00000400000000000000" pitchFamily="2" charset="-52"/>
              </a:rPr>
              <a:t>--</a:t>
            </a:r>
            <a:r>
              <a:rPr lang="ru-RU" sz="1400" b="1" dirty="0" err="1">
                <a:latin typeface="Montserrat Light" panose="00000400000000000000" pitchFamily="2" charset="-52"/>
              </a:rPr>
              <a:t>health-retries</a:t>
            </a:r>
            <a:r>
              <a:rPr lang="ru-RU" sz="1400" b="1" dirty="0">
                <a:latin typeface="Montserrat Light" panose="00000400000000000000" pitchFamily="2" charset="-52"/>
              </a:rPr>
              <a:t> </a:t>
            </a:r>
            <a:r>
              <a:rPr lang="ru-RU" sz="1400" dirty="0">
                <a:latin typeface="Montserrat Light" panose="00000400000000000000" pitchFamily="2" charset="-52"/>
              </a:rPr>
              <a:t>– последовательные сбои, необходимые для сообщения о неработоспособности</a:t>
            </a:r>
            <a:r>
              <a:rPr lang="en-US" sz="1400" dirty="0">
                <a:latin typeface="Montserrat Light" panose="00000400000000000000" pitchFamily="2" charset="-52"/>
              </a:rPr>
              <a:t>;</a:t>
            </a:r>
            <a:endParaRPr lang="ru-RU" sz="14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1400" b="1" dirty="0">
                <a:latin typeface="Montserrat Light" panose="00000400000000000000" pitchFamily="2" charset="-52"/>
              </a:rPr>
              <a:t>--</a:t>
            </a:r>
            <a:r>
              <a:rPr lang="ru-RU" sz="1400" b="1" dirty="0" err="1">
                <a:latin typeface="Montserrat Light" panose="00000400000000000000" pitchFamily="2" charset="-52"/>
              </a:rPr>
              <a:t>health-start-period</a:t>
            </a:r>
            <a:r>
              <a:rPr lang="ru-RU" sz="1400" b="1" dirty="0">
                <a:latin typeface="Montserrat Light" panose="00000400000000000000" pitchFamily="2" charset="-52"/>
              </a:rPr>
              <a:t> </a:t>
            </a:r>
            <a:r>
              <a:rPr lang="ru-RU" sz="1400" dirty="0">
                <a:latin typeface="Montserrat Light" panose="00000400000000000000" pitchFamily="2" charset="-52"/>
              </a:rPr>
              <a:t>– начальный период инициализации контейнера перед запуском обратного отсчета попыток работоспособности (мс | с | м | ч) (по умолчанию 0 секунд)</a:t>
            </a:r>
            <a:r>
              <a:rPr lang="en-US" sz="1400" dirty="0">
                <a:latin typeface="Montserrat Light" panose="00000400000000000000" pitchFamily="2" charset="-52"/>
              </a:rPr>
              <a:t>;</a:t>
            </a:r>
            <a:endParaRPr lang="ru-RU" sz="14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1400" b="1" dirty="0">
                <a:latin typeface="Montserrat Light" panose="00000400000000000000" pitchFamily="2" charset="-52"/>
              </a:rPr>
              <a:t>--</a:t>
            </a:r>
            <a:r>
              <a:rPr lang="ru-RU" sz="1400" b="1" dirty="0" err="1">
                <a:latin typeface="Montserrat Light" panose="00000400000000000000" pitchFamily="2" charset="-52"/>
              </a:rPr>
              <a:t>health-timeout</a:t>
            </a:r>
            <a:r>
              <a:rPr lang="ru-RU" sz="1400" b="1" dirty="0">
                <a:latin typeface="Montserrat Light" panose="00000400000000000000" pitchFamily="2" charset="-52"/>
              </a:rPr>
              <a:t> </a:t>
            </a:r>
            <a:r>
              <a:rPr lang="ru-RU" sz="1400" dirty="0">
                <a:latin typeface="Montserrat Light" panose="00000400000000000000" pitchFamily="2" charset="-52"/>
              </a:rPr>
              <a:t>– максимальное время, необходимое для выполнения одной проверки (мс | с | м | ч) (по умолчанию 0 секунд)</a:t>
            </a:r>
            <a:r>
              <a:rPr lang="en-US" sz="1400" dirty="0">
                <a:latin typeface="Montserrat Light" panose="00000400000000000000" pitchFamily="2" charset="-52"/>
              </a:rPr>
              <a:t>;</a:t>
            </a:r>
            <a:endParaRPr lang="ru-RU" sz="14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1400" b="1" dirty="0">
                <a:latin typeface="Montserrat Light" panose="00000400000000000000" pitchFamily="2" charset="-52"/>
              </a:rPr>
              <a:t>--</a:t>
            </a:r>
            <a:r>
              <a:rPr lang="ru-RU" sz="1400" b="1" dirty="0" err="1">
                <a:latin typeface="Montserrat Light" panose="00000400000000000000" pitchFamily="2" charset="-52"/>
              </a:rPr>
              <a:t>help</a:t>
            </a:r>
            <a:r>
              <a:rPr lang="ru-RU" sz="1400" b="1" dirty="0">
                <a:latin typeface="Montserrat Light" panose="00000400000000000000" pitchFamily="2" charset="-52"/>
              </a:rPr>
              <a:t> </a:t>
            </a:r>
            <a:r>
              <a:rPr lang="ru-RU" sz="1400" dirty="0">
                <a:latin typeface="Montserrat Light" panose="00000400000000000000" pitchFamily="2" charset="-52"/>
              </a:rPr>
              <a:t>– использование печати</a:t>
            </a:r>
            <a:r>
              <a:rPr lang="en-US" sz="1400" dirty="0">
                <a:latin typeface="Montserrat Light" panose="00000400000000000000" pitchFamily="2" charset="-52"/>
              </a:rPr>
              <a:t>;</a:t>
            </a:r>
            <a:endParaRPr lang="ru-RU" sz="14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1400" b="1" dirty="0">
                <a:latin typeface="Montserrat Light" panose="00000400000000000000" pitchFamily="2" charset="-52"/>
              </a:rPr>
              <a:t>--</a:t>
            </a:r>
            <a:r>
              <a:rPr lang="ru-RU" sz="1400" b="1" dirty="0" err="1">
                <a:latin typeface="Montserrat Light" panose="00000400000000000000" pitchFamily="2" charset="-52"/>
              </a:rPr>
              <a:t>hostname</a:t>
            </a:r>
            <a:r>
              <a:rPr lang="ru-RU" sz="1400" b="1" dirty="0">
                <a:latin typeface="Montserrat Light" panose="00000400000000000000" pitchFamily="2" charset="-52"/>
              </a:rPr>
              <a:t> </a:t>
            </a:r>
            <a:r>
              <a:rPr lang="ru-RU" sz="1400" dirty="0">
                <a:latin typeface="Montserrat Light" panose="00000400000000000000" pitchFamily="2" charset="-52"/>
              </a:rPr>
              <a:t>, </a:t>
            </a:r>
            <a:r>
              <a:rPr lang="ru-RU" sz="1400" b="1" dirty="0">
                <a:latin typeface="Montserrat Light" panose="00000400000000000000" pitchFamily="2" charset="-52"/>
              </a:rPr>
              <a:t>-h </a:t>
            </a:r>
            <a:r>
              <a:rPr lang="ru-RU" sz="1400" dirty="0">
                <a:latin typeface="Montserrat Light" panose="00000400000000000000" pitchFamily="2" charset="-52"/>
              </a:rPr>
              <a:t>– имя хоста контейнера</a:t>
            </a:r>
            <a:r>
              <a:rPr lang="en-US" sz="1400" dirty="0">
                <a:latin typeface="Montserrat Light" panose="00000400000000000000" pitchFamily="2" charset="-52"/>
              </a:rPr>
              <a:t>;</a:t>
            </a:r>
            <a:endParaRPr lang="ru-RU" sz="14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1400" b="1" dirty="0">
                <a:latin typeface="Montserrat Light" panose="00000400000000000000" pitchFamily="2" charset="-52"/>
              </a:rPr>
              <a:t>--</a:t>
            </a:r>
            <a:r>
              <a:rPr lang="ru-RU" sz="1400" b="1" dirty="0" err="1">
                <a:latin typeface="Montserrat Light" panose="00000400000000000000" pitchFamily="2" charset="-52"/>
              </a:rPr>
              <a:t>init</a:t>
            </a:r>
            <a:r>
              <a:rPr lang="ru-RU" sz="1400" b="1" dirty="0">
                <a:latin typeface="Montserrat Light" panose="00000400000000000000" pitchFamily="2" charset="-52"/>
              </a:rPr>
              <a:t> </a:t>
            </a:r>
            <a:r>
              <a:rPr lang="ru-RU" sz="1400" dirty="0">
                <a:latin typeface="Montserrat Light" panose="00000400000000000000" pitchFamily="2" charset="-52"/>
              </a:rPr>
              <a:t>– запустите </a:t>
            </a:r>
            <a:r>
              <a:rPr lang="ru-RU" sz="1400" dirty="0" err="1">
                <a:latin typeface="Montserrat Light" panose="00000400000000000000" pitchFamily="2" charset="-52"/>
              </a:rPr>
              <a:t>init</a:t>
            </a:r>
            <a:r>
              <a:rPr lang="ru-RU" sz="1400" dirty="0">
                <a:latin typeface="Montserrat Light" panose="00000400000000000000" pitchFamily="2" charset="-52"/>
              </a:rPr>
              <a:t> внутри контейнера, который пересылает сигналы и обрабатывает процессы</a:t>
            </a:r>
            <a:r>
              <a:rPr lang="en-US" sz="1400" dirty="0">
                <a:latin typeface="Montserrat Light" panose="00000400000000000000" pitchFamily="2" charset="-52"/>
              </a:rPr>
              <a:t>;</a:t>
            </a:r>
            <a:endParaRPr lang="ru-RU" sz="14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1400" b="1" dirty="0">
                <a:latin typeface="Montserrat Light" panose="00000400000000000000" pitchFamily="2" charset="-52"/>
              </a:rPr>
              <a:t>--</a:t>
            </a:r>
            <a:r>
              <a:rPr lang="ru-RU" sz="1400" b="1" dirty="0" err="1">
                <a:latin typeface="Montserrat Light" panose="00000400000000000000" pitchFamily="2" charset="-52"/>
              </a:rPr>
              <a:t>interactive</a:t>
            </a:r>
            <a:r>
              <a:rPr lang="ru-RU" sz="1400" b="1" dirty="0">
                <a:latin typeface="Montserrat Light" panose="00000400000000000000" pitchFamily="2" charset="-52"/>
              </a:rPr>
              <a:t> </a:t>
            </a:r>
            <a:r>
              <a:rPr lang="ru-RU" sz="1400" dirty="0">
                <a:latin typeface="Montserrat Light" panose="00000400000000000000" pitchFamily="2" charset="-52"/>
              </a:rPr>
              <a:t>, </a:t>
            </a:r>
            <a:r>
              <a:rPr lang="ru-RU" sz="1400" b="1" dirty="0">
                <a:latin typeface="Montserrat Light" panose="00000400000000000000" pitchFamily="2" charset="-52"/>
              </a:rPr>
              <a:t>-i </a:t>
            </a:r>
            <a:r>
              <a:rPr lang="ru-RU" sz="1400" dirty="0">
                <a:latin typeface="Montserrat Light" panose="00000400000000000000" pitchFamily="2" charset="-52"/>
              </a:rPr>
              <a:t>– держите стандартный интерфейс открытым, даже если он не подключен</a:t>
            </a:r>
            <a:r>
              <a:rPr lang="en-US" sz="1400" dirty="0">
                <a:latin typeface="Montserrat Light" panose="00000400000000000000" pitchFamily="2" charset="-52"/>
              </a:rPr>
              <a:t>;</a:t>
            </a:r>
            <a:endParaRPr lang="ru-RU" sz="14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1400" b="1" dirty="0">
                <a:latin typeface="Montserrat Light" panose="00000400000000000000" pitchFamily="2" charset="-52"/>
              </a:rPr>
              <a:t>--</a:t>
            </a:r>
            <a:r>
              <a:rPr lang="ru-RU" sz="1400" b="1" dirty="0" err="1">
                <a:latin typeface="Montserrat Light" panose="00000400000000000000" pitchFamily="2" charset="-52"/>
              </a:rPr>
              <a:t>io-maxbandwidth</a:t>
            </a:r>
            <a:r>
              <a:rPr lang="ru-RU" sz="1400" b="1" dirty="0">
                <a:latin typeface="Montserrat Light" panose="00000400000000000000" pitchFamily="2" charset="-52"/>
              </a:rPr>
              <a:t> </a:t>
            </a:r>
            <a:r>
              <a:rPr lang="ru-RU" sz="1400" dirty="0">
                <a:latin typeface="Montserrat Light" panose="00000400000000000000" pitchFamily="2" charset="-52"/>
              </a:rPr>
              <a:t>– максимальный предел пропускной способности ввода-вывода для системного диска (только для Windows)</a:t>
            </a:r>
            <a:r>
              <a:rPr lang="en-US" sz="1400" dirty="0">
                <a:latin typeface="Montserrat Light" panose="00000400000000000000" pitchFamily="2" charset="-52"/>
              </a:rPr>
              <a:t>;</a:t>
            </a:r>
            <a:endParaRPr lang="ru-RU" sz="14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1400" b="1" dirty="0">
                <a:latin typeface="Montserrat Light" panose="00000400000000000000" pitchFamily="2" charset="-52"/>
              </a:rPr>
              <a:t>--</a:t>
            </a:r>
            <a:r>
              <a:rPr lang="ru-RU" sz="1400" b="1" dirty="0" err="1">
                <a:latin typeface="Montserrat Light" panose="00000400000000000000" pitchFamily="2" charset="-52"/>
              </a:rPr>
              <a:t>io-maxiops</a:t>
            </a:r>
            <a:r>
              <a:rPr lang="ru-RU" sz="1400" b="1" dirty="0">
                <a:latin typeface="Montserrat Light" panose="00000400000000000000" pitchFamily="2" charset="-52"/>
              </a:rPr>
              <a:t> </a:t>
            </a:r>
            <a:r>
              <a:rPr lang="ru-RU" sz="1400" dirty="0">
                <a:latin typeface="Montserrat Light" panose="00000400000000000000" pitchFamily="2" charset="-52"/>
              </a:rPr>
              <a:t>– максимальный предел операций ввода-вывода для системного диска (только для Windows)</a:t>
            </a:r>
            <a:r>
              <a:rPr lang="en-US" sz="1400" dirty="0">
                <a:latin typeface="Montserrat Light" panose="00000400000000000000" pitchFamily="2" charset="-52"/>
              </a:rPr>
              <a:t>.</a:t>
            </a:r>
            <a:endParaRPr lang="ru-RU" sz="1400" dirty="0">
              <a:latin typeface="Montserrat Light" panose="000004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960821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Синтаксис команды </a:t>
            </a:r>
            <a:r>
              <a:rPr lang="en-US" sz="3200" dirty="0">
                <a:latin typeface="Montserrat" pitchFamily="2" charset="0"/>
              </a:rPr>
              <a:t>docker run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xmlns="" id="{26B39EEB-1DCC-68C9-EECE-5F0CECE06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0650"/>
            <a:ext cx="10515600" cy="4351338"/>
          </a:xfrm>
        </p:spPr>
        <p:txBody>
          <a:bodyPr>
            <a:noAutofit/>
          </a:bodyPr>
          <a:lstStyle/>
          <a:p>
            <a:pPr marL="0" indent="360363">
              <a:buNone/>
            </a:pPr>
            <a:r>
              <a:rPr lang="ru-RU" sz="900" b="1" dirty="0">
                <a:latin typeface="Montserrat Light" panose="00000400000000000000" pitchFamily="2" charset="-52"/>
              </a:rPr>
              <a:t>--</a:t>
            </a:r>
            <a:r>
              <a:rPr lang="ru-RU" sz="900" b="1" dirty="0" err="1">
                <a:latin typeface="Montserrat Light" panose="00000400000000000000" pitchFamily="2" charset="-52"/>
              </a:rPr>
              <a:t>ip</a:t>
            </a:r>
            <a:r>
              <a:rPr lang="en-US" sz="900" b="1" dirty="0">
                <a:latin typeface="Montserrat Light" panose="00000400000000000000" pitchFamily="2" charset="-52"/>
              </a:rPr>
              <a:t> </a:t>
            </a:r>
            <a:r>
              <a:rPr lang="en-US" sz="900" dirty="0">
                <a:latin typeface="Montserrat Light" panose="00000400000000000000" pitchFamily="2" charset="-52"/>
              </a:rPr>
              <a:t>– </a:t>
            </a:r>
            <a:r>
              <a:rPr lang="ru-RU" sz="900" dirty="0">
                <a:latin typeface="Montserrat Light" panose="00000400000000000000" pitchFamily="2" charset="-52"/>
              </a:rPr>
              <a:t>адрес IPv4 (например, 172.30.100.104)</a:t>
            </a:r>
            <a:r>
              <a:rPr lang="en-US" sz="900" dirty="0">
                <a:latin typeface="Montserrat Light" panose="00000400000000000000" pitchFamily="2" charset="-52"/>
              </a:rPr>
              <a:t>;</a:t>
            </a:r>
            <a:endParaRPr lang="ru-RU" sz="9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900" b="1" dirty="0">
                <a:latin typeface="Montserrat Light" panose="00000400000000000000" pitchFamily="2" charset="-52"/>
              </a:rPr>
              <a:t>--ip6 </a:t>
            </a:r>
            <a:r>
              <a:rPr lang="ru-RU" sz="900" dirty="0">
                <a:latin typeface="Montserrat Light" panose="00000400000000000000" pitchFamily="2" charset="-52"/>
              </a:rPr>
              <a:t>– адрес IPv6 (например, 2001: db8::33)</a:t>
            </a:r>
            <a:r>
              <a:rPr lang="en-US" sz="900" dirty="0">
                <a:latin typeface="Montserrat Light" panose="00000400000000000000" pitchFamily="2" charset="-52"/>
              </a:rPr>
              <a:t>;</a:t>
            </a:r>
            <a:endParaRPr lang="ru-RU" sz="9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900" b="1" dirty="0">
                <a:latin typeface="Montserrat Light" panose="00000400000000000000" pitchFamily="2" charset="-52"/>
              </a:rPr>
              <a:t>--</a:t>
            </a:r>
            <a:r>
              <a:rPr lang="ru-RU" sz="900" b="1" dirty="0" err="1">
                <a:latin typeface="Montserrat Light" panose="00000400000000000000" pitchFamily="2" charset="-52"/>
              </a:rPr>
              <a:t>ipc</a:t>
            </a:r>
            <a:r>
              <a:rPr lang="ru-RU" sz="900" b="1" dirty="0">
                <a:latin typeface="Montserrat Light" panose="00000400000000000000" pitchFamily="2" charset="-52"/>
              </a:rPr>
              <a:t> </a:t>
            </a:r>
            <a:r>
              <a:rPr lang="ru-RU" sz="900" dirty="0">
                <a:latin typeface="Montserrat Light" panose="00000400000000000000" pitchFamily="2" charset="-52"/>
              </a:rPr>
              <a:t>– режим IPC для использования</a:t>
            </a:r>
            <a:r>
              <a:rPr lang="en-US" sz="900" dirty="0">
                <a:latin typeface="Montserrat Light" panose="00000400000000000000" pitchFamily="2" charset="-52"/>
              </a:rPr>
              <a:t>;</a:t>
            </a:r>
            <a:endParaRPr lang="ru-RU" sz="9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900" b="1" dirty="0">
                <a:latin typeface="Montserrat Light" panose="00000400000000000000" pitchFamily="2" charset="-52"/>
              </a:rPr>
              <a:t>--</a:t>
            </a:r>
            <a:r>
              <a:rPr lang="ru-RU" sz="900" b="1" dirty="0" err="1">
                <a:latin typeface="Montserrat Light" panose="00000400000000000000" pitchFamily="2" charset="-52"/>
              </a:rPr>
              <a:t>isolation</a:t>
            </a:r>
            <a:r>
              <a:rPr lang="ru-RU" sz="900" b="1" dirty="0">
                <a:latin typeface="Montserrat Light" panose="00000400000000000000" pitchFamily="2" charset="-52"/>
              </a:rPr>
              <a:t> </a:t>
            </a:r>
            <a:r>
              <a:rPr lang="ru-RU" sz="900" dirty="0">
                <a:latin typeface="Montserrat Light" panose="00000400000000000000" pitchFamily="2" charset="-52"/>
              </a:rPr>
              <a:t>– технология изоляции контейнеров</a:t>
            </a:r>
            <a:r>
              <a:rPr lang="en-US" sz="900" dirty="0">
                <a:latin typeface="Montserrat Light" panose="00000400000000000000" pitchFamily="2" charset="-52"/>
              </a:rPr>
              <a:t>;</a:t>
            </a:r>
            <a:endParaRPr lang="ru-RU" sz="9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900" b="1" dirty="0">
                <a:latin typeface="Montserrat Light" panose="00000400000000000000" pitchFamily="2" charset="-52"/>
              </a:rPr>
              <a:t>--</a:t>
            </a:r>
            <a:r>
              <a:rPr lang="ru-RU" sz="900" b="1" dirty="0" err="1">
                <a:latin typeface="Montserrat Light" panose="00000400000000000000" pitchFamily="2" charset="-52"/>
              </a:rPr>
              <a:t>kernel-memory</a:t>
            </a:r>
            <a:r>
              <a:rPr lang="ru-RU" sz="900" b="1" dirty="0">
                <a:latin typeface="Montserrat Light" panose="00000400000000000000" pitchFamily="2" charset="-52"/>
              </a:rPr>
              <a:t> </a:t>
            </a:r>
            <a:r>
              <a:rPr lang="ru-RU" sz="900" dirty="0">
                <a:latin typeface="Montserrat Light" panose="00000400000000000000" pitchFamily="2" charset="-52"/>
              </a:rPr>
              <a:t>– ограничение памяти ядра</a:t>
            </a:r>
            <a:r>
              <a:rPr lang="en-US" sz="900" dirty="0">
                <a:latin typeface="Montserrat Light" panose="00000400000000000000" pitchFamily="2" charset="-52"/>
              </a:rPr>
              <a:t>;</a:t>
            </a:r>
            <a:endParaRPr lang="ru-RU" sz="9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900" b="1" dirty="0">
                <a:latin typeface="Montserrat Light" panose="00000400000000000000" pitchFamily="2" charset="-52"/>
              </a:rPr>
              <a:t>--</a:t>
            </a:r>
            <a:r>
              <a:rPr lang="ru-RU" sz="900" b="1" dirty="0" err="1">
                <a:latin typeface="Montserrat Light" panose="00000400000000000000" pitchFamily="2" charset="-52"/>
              </a:rPr>
              <a:t>label</a:t>
            </a:r>
            <a:r>
              <a:rPr lang="ru-RU" sz="900" b="1" dirty="0">
                <a:latin typeface="Montserrat Light" panose="00000400000000000000" pitchFamily="2" charset="-52"/>
              </a:rPr>
              <a:t> </a:t>
            </a:r>
            <a:r>
              <a:rPr lang="ru-RU" sz="900" dirty="0">
                <a:latin typeface="Montserrat Light" panose="00000400000000000000" pitchFamily="2" charset="-52"/>
              </a:rPr>
              <a:t>, </a:t>
            </a:r>
            <a:r>
              <a:rPr lang="ru-RU" sz="900" b="1" dirty="0">
                <a:latin typeface="Montserrat Light" panose="00000400000000000000" pitchFamily="2" charset="-52"/>
              </a:rPr>
              <a:t>-l </a:t>
            </a:r>
            <a:r>
              <a:rPr lang="ru-RU" sz="900" dirty="0">
                <a:latin typeface="Montserrat Light" panose="00000400000000000000" pitchFamily="2" charset="-52"/>
              </a:rPr>
              <a:t>– установка метаданных в контейнере</a:t>
            </a:r>
            <a:r>
              <a:rPr lang="en-US" sz="900" dirty="0">
                <a:latin typeface="Montserrat Light" panose="00000400000000000000" pitchFamily="2" charset="-52"/>
              </a:rPr>
              <a:t>;</a:t>
            </a:r>
            <a:endParaRPr lang="ru-RU" sz="9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900" b="1" dirty="0">
                <a:latin typeface="Montserrat Light" panose="00000400000000000000" pitchFamily="2" charset="-52"/>
              </a:rPr>
              <a:t>--</a:t>
            </a:r>
            <a:r>
              <a:rPr lang="ru-RU" sz="900" b="1" dirty="0" err="1">
                <a:latin typeface="Montserrat Light" panose="00000400000000000000" pitchFamily="2" charset="-52"/>
              </a:rPr>
              <a:t>label-file</a:t>
            </a:r>
            <a:r>
              <a:rPr lang="ru-RU" sz="900" b="1" dirty="0">
                <a:latin typeface="Montserrat Light" panose="00000400000000000000" pitchFamily="2" charset="-52"/>
              </a:rPr>
              <a:t> </a:t>
            </a:r>
            <a:r>
              <a:rPr lang="ru-RU" sz="900" dirty="0">
                <a:latin typeface="Montserrat Light" panose="00000400000000000000" pitchFamily="2" charset="-52"/>
              </a:rPr>
              <a:t>– чтение в файле меток с разделителями строк</a:t>
            </a:r>
            <a:r>
              <a:rPr lang="en-US" sz="900" dirty="0">
                <a:latin typeface="Montserrat Light" panose="00000400000000000000" pitchFamily="2" charset="-52"/>
              </a:rPr>
              <a:t>;</a:t>
            </a:r>
            <a:endParaRPr lang="ru-RU" sz="9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900" b="1" dirty="0">
                <a:latin typeface="Montserrat Light" panose="00000400000000000000" pitchFamily="2" charset="-52"/>
              </a:rPr>
              <a:t>--</a:t>
            </a:r>
            <a:r>
              <a:rPr lang="ru-RU" sz="900" b="1" dirty="0" err="1">
                <a:latin typeface="Montserrat Light" panose="00000400000000000000" pitchFamily="2" charset="-52"/>
              </a:rPr>
              <a:t>link</a:t>
            </a:r>
            <a:r>
              <a:rPr lang="ru-RU" sz="900" b="1" dirty="0">
                <a:latin typeface="Montserrat Light" panose="00000400000000000000" pitchFamily="2" charset="-52"/>
              </a:rPr>
              <a:t> </a:t>
            </a:r>
            <a:r>
              <a:rPr lang="ru-RU" sz="900" dirty="0">
                <a:latin typeface="Montserrat Light" panose="00000400000000000000" pitchFamily="2" charset="-52"/>
              </a:rPr>
              <a:t>– добавить ссылку на другой контейнер</a:t>
            </a:r>
            <a:r>
              <a:rPr lang="en-US" sz="900" dirty="0">
                <a:latin typeface="Montserrat Light" panose="00000400000000000000" pitchFamily="2" charset="-52"/>
              </a:rPr>
              <a:t>;</a:t>
            </a:r>
            <a:endParaRPr lang="ru-RU" sz="9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900" b="1" dirty="0">
                <a:latin typeface="Montserrat Light" panose="00000400000000000000" pitchFamily="2" charset="-52"/>
              </a:rPr>
              <a:t>--</a:t>
            </a:r>
            <a:r>
              <a:rPr lang="ru-RU" sz="900" b="1" dirty="0" err="1">
                <a:latin typeface="Montserrat Light" panose="00000400000000000000" pitchFamily="2" charset="-52"/>
              </a:rPr>
              <a:t>link-local-ip</a:t>
            </a:r>
            <a:r>
              <a:rPr lang="ru-RU" sz="900" b="1" dirty="0">
                <a:latin typeface="Montserrat Light" panose="00000400000000000000" pitchFamily="2" charset="-52"/>
              </a:rPr>
              <a:t> </a:t>
            </a:r>
            <a:r>
              <a:rPr lang="ru-RU" sz="900" dirty="0">
                <a:latin typeface="Montserrat Light" panose="00000400000000000000" pitchFamily="2" charset="-52"/>
              </a:rPr>
              <a:t>– ссылка на контейнер IPv4 / IPv6-локальные адреса</a:t>
            </a:r>
            <a:r>
              <a:rPr lang="en-US" sz="900" dirty="0">
                <a:latin typeface="Montserrat Light" panose="00000400000000000000" pitchFamily="2" charset="-52"/>
              </a:rPr>
              <a:t>;</a:t>
            </a:r>
            <a:endParaRPr lang="ru-RU" sz="9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900" b="1" dirty="0">
                <a:latin typeface="Montserrat Light" panose="00000400000000000000" pitchFamily="2" charset="-52"/>
              </a:rPr>
              <a:t>--</a:t>
            </a:r>
            <a:r>
              <a:rPr lang="ru-RU" sz="900" b="1" dirty="0" err="1">
                <a:latin typeface="Montserrat Light" panose="00000400000000000000" pitchFamily="2" charset="-52"/>
              </a:rPr>
              <a:t>log-driver</a:t>
            </a:r>
            <a:r>
              <a:rPr lang="ru-RU" sz="900" b="1" dirty="0">
                <a:latin typeface="Montserrat Light" panose="00000400000000000000" pitchFamily="2" charset="-52"/>
              </a:rPr>
              <a:t> </a:t>
            </a:r>
            <a:r>
              <a:rPr lang="ru-RU" sz="900" dirty="0">
                <a:latin typeface="Montserrat Light" panose="00000400000000000000" pitchFamily="2" charset="-52"/>
              </a:rPr>
              <a:t>– протоколирование драйвера для контейнера</a:t>
            </a:r>
            <a:r>
              <a:rPr lang="en-US" sz="900" dirty="0">
                <a:latin typeface="Montserrat Light" panose="00000400000000000000" pitchFamily="2" charset="-52"/>
              </a:rPr>
              <a:t>;</a:t>
            </a:r>
            <a:endParaRPr lang="ru-RU" sz="9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900" b="1" dirty="0">
                <a:latin typeface="Montserrat Light" panose="00000400000000000000" pitchFamily="2" charset="-52"/>
              </a:rPr>
              <a:t>--</a:t>
            </a:r>
            <a:r>
              <a:rPr lang="ru-RU" sz="900" b="1" dirty="0" err="1">
                <a:latin typeface="Montserrat Light" panose="00000400000000000000" pitchFamily="2" charset="-52"/>
              </a:rPr>
              <a:t>log-opt</a:t>
            </a:r>
            <a:r>
              <a:rPr lang="ru-RU" sz="900" b="1" dirty="0">
                <a:latin typeface="Montserrat Light" panose="00000400000000000000" pitchFamily="2" charset="-52"/>
              </a:rPr>
              <a:t> </a:t>
            </a:r>
            <a:r>
              <a:rPr lang="ru-RU" sz="900" dirty="0">
                <a:latin typeface="Montserrat Light" panose="00000400000000000000" pitchFamily="2" charset="-52"/>
              </a:rPr>
              <a:t>– параметры драйвера журнала</a:t>
            </a:r>
            <a:r>
              <a:rPr lang="en-US" sz="900" dirty="0">
                <a:latin typeface="Montserrat Light" panose="00000400000000000000" pitchFamily="2" charset="-52"/>
              </a:rPr>
              <a:t>;</a:t>
            </a:r>
            <a:endParaRPr lang="ru-RU" sz="9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900" b="1" dirty="0">
                <a:latin typeface="Montserrat Light" panose="00000400000000000000" pitchFamily="2" charset="-52"/>
              </a:rPr>
              <a:t>--</a:t>
            </a:r>
            <a:r>
              <a:rPr lang="ru-RU" sz="900" b="1" dirty="0" err="1">
                <a:latin typeface="Montserrat Light" panose="00000400000000000000" pitchFamily="2" charset="-52"/>
              </a:rPr>
              <a:t>mac-address</a:t>
            </a:r>
            <a:r>
              <a:rPr lang="ru-RU" sz="900" b="1" dirty="0">
                <a:latin typeface="Montserrat Light" panose="00000400000000000000" pitchFamily="2" charset="-52"/>
              </a:rPr>
              <a:t> </a:t>
            </a:r>
            <a:r>
              <a:rPr lang="ru-RU" sz="900" dirty="0">
                <a:latin typeface="Montserrat Light" panose="00000400000000000000" pitchFamily="2" charset="-52"/>
              </a:rPr>
              <a:t>– MAC-адрес контейнера (например, 92: d0: c6:0a:29:33)</a:t>
            </a:r>
            <a:r>
              <a:rPr lang="en-US" sz="900" dirty="0">
                <a:latin typeface="Montserrat Light" panose="00000400000000000000" pitchFamily="2" charset="-52"/>
              </a:rPr>
              <a:t>;</a:t>
            </a:r>
            <a:endParaRPr lang="ru-RU" sz="9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900" b="1" dirty="0">
                <a:latin typeface="Montserrat Light" panose="00000400000000000000" pitchFamily="2" charset="-52"/>
              </a:rPr>
              <a:t>--</a:t>
            </a:r>
            <a:r>
              <a:rPr lang="ru-RU" sz="900" b="1" dirty="0" err="1">
                <a:latin typeface="Montserrat Light" panose="00000400000000000000" pitchFamily="2" charset="-52"/>
              </a:rPr>
              <a:t>memory</a:t>
            </a:r>
            <a:r>
              <a:rPr lang="ru-RU" sz="900" b="1" dirty="0">
                <a:latin typeface="Montserrat Light" panose="00000400000000000000" pitchFamily="2" charset="-52"/>
              </a:rPr>
              <a:t> </a:t>
            </a:r>
            <a:r>
              <a:rPr lang="ru-RU" sz="900" dirty="0">
                <a:latin typeface="Montserrat Light" panose="00000400000000000000" pitchFamily="2" charset="-52"/>
              </a:rPr>
              <a:t>,</a:t>
            </a:r>
            <a:r>
              <a:rPr lang="ru-RU" sz="900" b="1" dirty="0">
                <a:latin typeface="Montserrat Light" panose="00000400000000000000" pitchFamily="2" charset="-52"/>
              </a:rPr>
              <a:t> -m </a:t>
            </a:r>
            <a:r>
              <a:rPr lang="ru-RU" sz="900" dirty="0">
                <a:latin typeface="Montserrat Light" panose="00000400000000000000" pitchFamily="2" charset="-52"/>
              </a:rPr>
              <a:t>– ограничение памяти</a:t>
            </a:r>
            <a:r>
              <a:rPr lang="en-US" sz="900" dirty="0">
                <a:latin typeface="Montserrat Light" panose="00000400000000000000" pitchFamily="2" charset="-52"/>
              </a:rPr>
              <a:t>;</a:t>
            </a:r>
            <a:endParaRPr lang="ru-RU" sz="9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900" b="1" dirty="0">
                <a:latin typeface="Montserrat Light" panose="00000400000000000000" pitchFamily="2" charset="-52"/>
              </a:rPr>
              <a:t>--</a:t>
            </a:r>
            <a:r>
              <a:rPr lang="ru-RU" sz="900" b="1" dirty="0" err="1">
                <a:latin typeface="Montserrat Light" panose="00000400000000000000" pitchFamily="2" charset="-52"/>
              </a:rPr>
              <a:t>memory-reservation</a:t>
            </a:r>
            <a:r>
              <a:rPr lang="ru-RU" sz="900" b="1" dirty="0">
                <a:latin typeface="Montserrat Light" panose="00000400000000000000" pitchFamily="2" charset="-52"/>
              </a:rPr>
              <a:t> </a:t>
            </a:r>
            <a:r>
              <a:rPr lang="ru-RU" sz="900" dirty="0">
                <a:latin typeface="Montserrat Light" panose="00000400000000000000" pitchFamily="2" charset="-52"/>
              </a:rPr>
              <a:t>– мягкое ограничение памяти</a:t>
            </a:r>
            <a:r>
              <a:rPr lang="en-US" sz="900" dirty="0">
                <a:latin typeface="Montserrat Light" panose="00000400000000000000" pitchFamily="2" charset="-52"/>
              </a:rPr>
              <a:t>;</a:t>
            </a:r>
            <a:endParaRPr lang="ru-RU" sz="9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900" b="1" dirty="0">
                <a:latin typeface="Montserrat Light" panose="00000400000000000000" pitchFamily="2" charset="-52"/>
              </a:rPr>
              <a:t>--</a:t>
            </a:r>
            <a:r>
              <a:rPr lang="ru-RU" sz="900" b="1" dirty="0" err="1">
                <a:latin typeface="Montserrat Light" panose="00000400000000000000" pitchFamily="2" charset="-52"/>
              </a:rPr>
              <a:t>memory-swap</a:t>
            </a:r>
            <a:r>
              <a:rPr lang="ru-RU" sz="900" b="1" dirty="0">
                <a:latin typeface="Montserrat Light" panose="00000400000000000000" pitchFamily="2" charset="-52"/>
              </a:rPr>
              <a:t> </a:t>
            </a:r>
            <a:r>
              <a:rPr lang="ru-RU" sz="900" dirty="0">
                <a:latin typeface="Montserrat Light" panose="00000400000000000000" pitchFamily="2" charset="-52"/>
              </a:rPr>
              <a:t>– ограничение подкачки, равное памяти плюс подкачка: '-1' для включения неограниченной подкачки</a:t>
            </a:r>
            <a:r>
              <a:rPr lang="en-US" sz="900" dirty="0">
                <a:latin typeface="Montserrat Light" panose="00000400000000000000" pitchFamily="2" charset="-52"/>
              </a:rPr>
              <a:t>;</a:t>
            </a:r>
            <a:endParaRPr lang="ru-RU" sz="9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900" b="1" dirty="0">
                <a:latin typeface="Montserrat Light" panose="00000400000000000000" pitchFamily="2" charset="-52"/>
              </a:rPr>
              <a:t>--</a:t>
            </a:r>
            <a:r>
              <a:rPr lang="ru-RU" sz="900" b="1" dirty="0" err="1">
                <a:latin typeface="Montserrat Light" panose="00000400000000000000" pitchFamily="2" charset="-52"/>
              </a:rPr>
              <a:t>memory-swappiness</a:t>
            </a:r>
            <a:r>
              <a:rPr lang="ru-RU" sz="900" b="1" dirty="0">
                <a:latin typeface="Montserrat Light" panose="00000400000000000000" pitchFamily="2" charset="-52"/>
              </a:rPr>
              <a:t>  -1 </a:t>
            </a:r>
            <a:r>
              <a:rPr lang="ru-RU" sz="900" dirty="0">
                <a:latin typeface="Montserrat Light" panose="00000400000000000000" pitchFamily="2" charset="-52"/>
              </a:rPr>
              <a:t>– настройка подкачки памяти контейнера (от 0 до 100)</a:t>
            </a:r>
            <a:r>
              <a:rPr lang="en-US" sz="900" dirty="0">
                <a:latin typeface="Montserrat Light" panose="00000400000000000000" pitchFamily="2" charset="-52"/>
              </a:rPr>
              <a:t>;</a:t>
            </a:r>
            <a:endParaRPr lang="ru-RU" sz="9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900" b="1" dirty="0">
                <a:latin typeface="Montserrat Light" panose="00000400000000000000" pitchFamily="2" charset="-52"/>
              </a:rPr>
              <a:t>--</a:t>
            </a:r>
            <a:r>
              <a:rPr lang="ru-RU" sz="900" b="1" dirty="0" err="1">
                <a:latin typeface="Montserrat Light" panose="00000400000000000000" pitchFamily="2" charset="-52"/>
              </a:rPr>
              <a:t>mount</a:t>
            </a:r>
            <a:r>
              <a:rPr lang="ru-RU" sz="900" b="1" dirty="0">
                <a:latin typeface="Montserrat Light" panose="00000400000000000000" pitchFamily="2" charset="-52"/>
              </a:rPr>
              <a:t> </a:t>
            </a:r>
            <a:r>
              <a:rPr lang="ru-RU" sz="900" dirty="0">
                <a:latin typeface="Montserrat Light" panose="00000400000000000000" pitchFamily="2" charset="-52"/>
              </a:rPr>
              <a:t>– прикрепите к контейнеру монтирование файловой системы</a:t>
            </a:r>
            <a:r>
              <a:rPr lang="en-US" sz="900" dirty="0">
                <a:latin typeface="Montserrat Light" panose="00000400000000000000" pitchFamily="2" charset="-52"/>
              </a:rPr>
              <a:t>;</a:t>
            </a:r>
            <a:endParaRPr lang="ru-RU" sz="9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900" b="1" dirty="0">
                <a:latin typeface="Montserrat Light" panose="00000400000000000000" pitchFamily="2" charset="-52"/>
              </a:rPr>
              <a:t>--</a:t>
            </a:r>
            <a:r>
              <a:rPr lang="ru-RU" sz="900" b="1" dirty="0" err="1">
                <a:latin typeface="Montserrat Light" panose="00000400000000000000" pitchFamily="2" charset="-52"/>
              </a:rPr>
              <a:t>name</a:t>
            </a:r>
            <a:r>
              <a:rPr lang="ru-RU" sz="900" b="1" dirty="0">
                <a:latin typeface="Montserrat Light" panose="00000400000000000000" pitchFamily="2" charset="-52"/>
              </a:rPr>
              <a:t> </a:t>
            </a:r>
            <a:r>
              <a:rPr lang="ru-RU" sz="900" dirty="0">
                <a:latin typeface="Montserrat Light" panose="00000400000000000000" pitchFamily="2" charset="-52"/>
              </a:rPr>
              <a:t>– присвойте имя контейнеру</a:t>
            </a:r>
            <a:r>
              <a:rPr lang="en-US" sz="900" dirty="0">
                <a:latin typeface="Montserrat Light" panose="00000400000000000000" pitchFamily="2" charset="-52"/>
              </a:rPr>
              <a:t>;</a:t>
            </a:r>
            <a:endParaRPr lang="ru-RU" sz="9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endParaRPr lang="ru-RU" sz="9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endParaRPr lang="ru-RU" sz="9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endParaRPr lang="ru-RU" sz="9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endParaRPr lang="ru-RU" sz="900" dirty="0">
              <a:latin typeface="Montserrat Light" panose="000004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280425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Синтаксис команды </a:t>
            </a:r>
            <a:r>
              <a:rPr lang="en-US" sz="3200" dirty="0">
                <a:latin typeface="Montserrat" pitchFamily="2" charset="0"/>
              </a:rPr>
              <a:t>docker run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xmlns="" id="{26B39EEB-1DCC-68C9-EECE-5F0CECE06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360363">
              <a:buNone/>
            </a:pPr>
            <a:r>
              <a:rPr lang="ru-RU" sz="1100" b="1" dirty="0">
                <a:latin typeface="Montserrat Light" panose="00000400000000000000" pitchFamily="2" charset="-52"/>
              </a:rPr>
              <a:t>--</a:t>
            </a:r>
            <a:r>
              <a:rPr lang="ru-RU" sz="1100" b="1" dirty="0" err="1">
                <a:latin typeface="Montserrat Light" panose="00000400000000000000" pitchFamily="2" charset="-52"/>
              </a:rPr>
              <a:t>net</a:t>
            </a:r>
            <a:r>
              <a:rPr lang="en-US" sz="1100" b="1" dirty="0">
                <a:latin typeface="Montserrat Light" panose="00000400000000000000" pitchFamily="2" charset="-52"/>
              </a:rPr>
              <a:t> </a:t>
            </a:r>
            <a:r>
              <a:rPr lang="en-US" sz="1100" dirty="0">
                <a:latin typeface="Montserrat Light" panose="00000400000000000000" pitchFamily="2" charset="-52"/>
              </a:rPr>
              <a:t>– </a:t>
            </a:r>
            <a:r>
              <a:rPr lang="ru-RU" sz="1100" dirty="0">
                <a:latin typeface="Montserrat Light" panose="00000400000000000000" pitchFamily="2" charset="-52"/>
              </a:rPr>
              <a:t>подключите контейнер к сети</a:t>
            </a:r>
            <a:r>
              <a:rPr lang="en-US" sz="1100" dirty="0">
                <a:latin typeface="Montserrat Light" panose="00000400000000000000" pitchFamily="2" charset="-52"/>
              </a:rPr>
              <a:t>;</a:t>
            </a:r>
            <a:endParaRPr lang="ru-RU" sz="11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1100" b="1" dirty="0">
                <a:latin typeface="Montserrat Light" panose="00000400000000000000" pitchFamily="2" charset="-52"/>
              </a:rPr>
              <a:t>--</a:t>
            </a:r>
            <a:r>
              <a:rPr lang="ru-RU" sz="1100" b="1" dirty="0" err="1">
                <a:latin typeface="Montserrat Light" panose="00000400000000000000" pitchFamily="2" charset="-52"/>
              </a:rPr>
              <a:t>net-alias</a:t>
            </a:r>
            <a:r>
              <a:rPr lang="ru-RU" sz="1100" b="1" dirty="0">
                <a:latin typeface="Montserrat Light" panose="00000400000000000000" pitchFamily="2" charset="-52"/>
              </a:rPr>
              <a:t> </a:t>
            </a:r>
            <a:r>
              <a:rPr lang="ru-RU" sz="1100" dirty="0">
                <a:latin typeface="Montserrat Light" panose="00000400000000000000" pitchFamily="2" charset="-52"/>
              </a:rPr>
              <a:t>– добавьте псевдоним в сетевой области для контейнера</a:t>
            </a:r>
            <a:r>
              <a:rPr lang="en-US" sz="1100" dirty="0">
                <a:latin typeface="Montserrat Light" panose="00000400000000000000" pitchFamily="2" charset="-52"/>
              </a:rPr>
              <a:t>;</a:t>
            </a:r>
            <a:endParaRPr lang="ru-RU" sz="11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1100" b="1" dirty="0">
                <a:latin typeface="Montserrat Light" panose="00000400000000000000" pitchFamily="2" charset="-52"/>
              </a:rPr>
              <a:t>--</a:t>
            </a:r>
            <a:r>
              <a:rPr lang="ru-RU" sz="1100" b="1" dirty="0" err="1">
                <a:latin typeface="Montserrat Light" panose="00000400000000000000" pitchFamily="2" charset="-52"/>
              </a:rPr>
              <a:t>network</a:t>
            </a:r>
            <a:r>
              <a:rPr lang="ru-RU" sz="1100" b="1" dirty="0">
                <a:latin typeface="Montserrat Light" panose="00000400000000000000" pitchFamily="2" charset="-52"/>
              </a:rPr>
              <a:t> </a:t>
            </a:r>
            <a:r>
              <a:rPr lang="ru-RU" sz="1100" dirty="0">
                <a:latin typeface="Montserrat Light" panose="00000400000000000000" pitchFamily="2" charset="-52"/>
              </a:rPr>
              <a:t>– подключите контейнер к сети</a:t>
            </a:r>
            <a:r>
              <a:rPr lang="en-US" sz="1100" dirty="0">
                <a:latin typeface="Montserrat Light" panose="00000400000000000000" pitchFamily="2" charset="-52"/>
              </a:rPr>
              <a:t>;</a:t>
            </a:r>
            <a:endParaRPr lang="ru-RU" sz="11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1100" b="1" dirty="0">
                <a:latin typeface="Montserrat Light" panose="00000400000000000000" pitchFamily="2" charset="-52"/>
              </a:rPr>
              <a:t>--</a:t>
            </a:r>
            <a:r>
              <a:rPr lang="ru-RU" sz="1100" b="1" dirty="0" err="1">
                <a:latin typeface="Montserrat Light" panose="00000400000000000000" pitchFamily="2" charset="-52"/>
              </a:rPr>
              <a:t>network-alias</a:t>
            </a:r>
            <a:r>
              <a:rPr lang="ru-RU" sz="1100" b="1" dirty="0">
                <a:latin typeface="Montserrat Light" panose="00000400000000000000" pitchFamily="2" charset="-52"/>
              </a:rPr>
              <a:t> </a:t>
            </a:r>
            <a:r>
              <a:rPr lang="ru-RU" sz="1100" dirty="0">
                <a:latin typeface="Montserrat Light" panose="00000400000000000000" pitchFamily="2" charset="-52"/>
              </a:rPr>
              <a:t>– добавьте псевдоним в сетевой области для контейнера</a:t>
            </a:r>
            <a:r>
              <a:rPr lang="en-US" sz="1100" dirty="0">
                <a:latin typeface="Montserrat Light" panose="00000400000000000000" pitchFamily="2" charset="-52"/>
              </a:rPr>
              <a:t>;</a:t>
            </a:r>
            <a:endParaRPr lang="ru-RU" sz="11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1100" b="1" dirty="0">
                <a:latin typeface="Montserrat Light" panose="00000400000000000000" pitchFamily="2" charset="-52"/>
              </a:rPr>
              <a:t>--</a:t>
            </a:r>
            <a:r>
              <a:rPr lang="ru-RU" sz="1100" b="1" dirty="0" err="1">
                <a:latin typeface="Montserrat Light" panose="00000400000000000000" pitchFamily="2" charset="-52"/>
              </a:rPr>
              <a:t>no-healthcheck</a:t>
            </a:r>
            <a:r>
              <a:rPr lang="ru-RU" sz="1100" b="1" dirty="0">
                <a:latin typeface="Montserrat Light" panose="00000400000000000000" pitchFamily="2" charset="-52"/>
              </a:rPr>
              <a:t> </a:t>
            </a:r>
            <a:r>
              <a:rPr lang="ru-RU" sz="1100" dirty="0">
                <a:latin typeface="Montserrat Light" panose="00000400000000000000" pitchFamily="2" charset="-52"/>
              </a:rPr>
              <a:t>– отключите любую проверку РАБОТОСПОСОБНОСТИ, указанную в контейнере</a:t>
            </a:r>
            <a:r>
              <a:rPr lang="en-US" sz="1100" dirty="0">
                <a:latin typeface="Montserrat Light" panose="00000400000000000000" pitchFamily="2" charset="-52"/>
              </a:rPr>
              <a:t>;</a:t>
            </a:r>
            <a:endParaRPr lang="ru-RU" sz="11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1100" b="1" dirty="0">
                <a:latin typeface="Montserrat Light" panose="00000400000000000000" pitchFamily="2" charset="-52"/>
              </a:rPr>
              <a:t>--</a:t>
            </a:r>
            <a:r>
              <a:rPr lang="ru-RU" sz="1100" b="1" dirty="0" err="1">
                <a:latin typeface="Montserrat Light" panose="00000400000000000000" pitchFamily="2" charset="-52"/>
              </a:rPr>
              <a:t>oom-kill-disable</a:t>
            </a:r>
            <a:r>
              <a:rPr lang="ru-RU" sz="1100" b="1" dirty="0">
                <a:latin typeface="Montserrat Light" panose="00000400000000000000" pitchFamily="2" charset="-52"/>
              </a:rPr>
              <a:t> </a:t>
            </a:r>
            <a:r>
              <a:rPr lang="ru-RU" sz="1100" dirty="0">
                <a:latin typeface="Montserrat Light" panose="00000400000000000000" pitchFamily="2" charset="-52"/>
              </a:rPr>
              <a:t>– отключить ООМ Убийца</a:t>
            </a:r>
            <a:r>
              <a:rPr lang="en-US" sz="1100" dirty="0">
                <a:latin typeface="Montserrat Light" panose="00000400000000000000" pitchFamily="2" charset="-52"/>
              </a:rPr>
              <a:t>;</a:t>
            </a:r>
            <a:endParaRPr lang="ru-RU" sz="11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1100" b="1" dirty="0">
                <a:latin typeface="Montserrat Light" panose="00000400000000000000" pitchFamily="2" charset="-52"/>
              </a:rPr>
              <a:t>--</a:t>
            </a:r>
            <a:r>
              <a:rPr lang="ru-RU" sz="1100" b="1" dirty="0" err="1">
                <a:latin typeface="Montserrat Light" panose="00000400000000000000" pitchFamily="2" charset="-52"/>
              </a:rPr>
              <a:t>oom-score-adj</a:t>
            </a:r>
            <a:r>
              <a:rPr lang="ru-RU" sz="1100" b="1" dirty="0">
                <a:latin typeface="Montserrat Light" panose="00000400000000000000" pitchFamily="2" charset="-52"/>
              </a:rPr>
              <a:t> </a:t>
            </a:r>
            <a:r>
              <a:rPr lang="ru-RU" sz="1100" dirty="0">
                <a:latin typeface="Montserrat Light" panose="00000400000000000000" pitchFamily="2" charset="-52"/>
              </a:rPr>
              <a:t>– настройте параметры ООМ хоста (от -1000 до 1000)</a:t>
            </a:r>
            <a:r>
              <a:rPr lang="en-US" sz="1100" dirty="0">
                <a:latin typeface="Montserrat Light" panose="00000400000000000000" pitchFamily="2" charset="-52"/>
              </a:rPr>
              <a:t>;</a:t>
            </a:r>
            <a:endParaRPr lang="ru-RU" sz="11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1100" b="1" dirty="0">
                <a:latin typeface="Montserrat Light" panose="00000400000000000000" pitchFamily="2" charset="-52"/>
              </a:rPr>
              <a:t>--</a:t>
            </a:r>
            <a:r>
              <a:rPr lang="ru-RU" sz="1100" b="1" dirty="0" err="1">
                <a:latin typeface="Montserrat Light" panose="00000400000000000000" pitchFamily="2" charset="-52"/>
              </a:rPr>
              <a:t>pid</a:t>
            </a:r>
            <a:r>
              <a:rPr lang="ru-RU" sz="1100" b="1" dirty="0">
                <a:latin typeface="Montserrat Light" panose="00000400000000000000" pitchFamily="2" charset="-52"/>
              </a:rPr>
              <a:t> </a:t>
            </a:r>
            <a:r>
              <a:rPr lang="ru-RU" sz="1100" dirty="0">
                <a:latin typeface="Montserrat Light" panose="00000400000000000000" pitchFamily="2" charset="-52"/>
              </a:rPr>
              <a:t>– пространство имен PID для использования</a:t>
            </a:r>
            <a:r>
              <a:rPr lang="en-US" sz="1100" dirty="0">
                <a:latin typeface="Montserrat Light" panose="00000400000000000000" pitchFamily="2" charset="-52"/>
              </a:rPr>
              <a:t>;</a:t>
            </a:r>
            <a:endParaRPr lang="ru-RU" sz="11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1100" b="1" dirty="0">
                <a:latin typeface="Montserrat Light" panose="00000400000000000000" pitchFamily="2" charset="-52"/>
              </a:rPr>
              <a:t>--</a:t>
            </a:r>
            <a:r>
              <a:rPr lang="ru-RU" sz="1100" b="1" dirty="0" err="1">
                <a:latin typeface="Montserrat Light" panose="00000400000000000000" pitchFamily="2" charset="-52"/>
              </a:rPr>
              <a:t>pids-limit</a:t>
            </a:r>
            <a:r>
              <a:rPr lang="ru-RU" sz="1100" b="1" dirty="0">
                <a:latin typeface="Montserrat Light" panose="00000400000000000000" pitchFamily="2" charset="-52"/>
              </a:rPr>
              <a:t> </a:t>
            </a:r>
            <a:r>
              <a:rPr lang="ru-RU" sz="1100" dirty="0">
                <a:latin typeface="Montserrat Light" panose="00000400000000000000" pitchFamily="2" charset="-52"/>
              </a:rPr>
              <a:t>– настройте ограничение </a:t>
            </a:r>
            <a:r>
              <a:rPr lang="ru-RU" sz="1100" dirty="0" err="1">
                <a:latin typeface="Montserrat Light" panose="00000400000000000000" pitchFamily="2" charset="-52"/>
              </a:rPr>
              <a:t>pids</a:t>
            </a:r>
            <a:r>
              <a:rPr lang="ru-RU" sz="1100" dirty="0">
                <a:latin typeface="Montserrat Light" panose="00000400000000000000" pitchFamily="2" charset="-52"/>
              </a:rPr>
              <a:t> контейнера (установите -1 для неограниченного)</a:t>
            </a:r>
            <a:r>
              <a:rPr lang="en-US" sz="1100" dirty="0">
                <a:latin typeface="Montserrat Light" panose="00000400000000000000" pitchFamily="2" charset="-52"/>
              </a:rPr>
              <a:t>;</a:t>
            </a:r>
            <a:endParaRPr lang="ru-RU" sz="11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1100" b="1" dirty="0">
                <a:latin typeface="Montserrat Light" panose="00000400000000000000" pitchFamily="2" charset="-52"/>
              </a:rPr>
              <a:t>--</a:t>
            </a:r>
            <a:r>
              <a:rPr lang="ru-RU" sz="1100" b="1" dirty="0" err="1">
                <a:latin typeface="Montserrat Light" panose="00000400000000000000" pitchFamily="2" charset="-52"/>
              </a:rPr>
              <a:t>platform</a:t>
            </a:r>
            <a:r>
              <a:rPr lang="ru-RU" sz="1100" b="1" dirty="0">
                <a:latin typeface="Montserrat Light" panose="00000400000000000000" pitchFamily="2" charset="-52"/>
              </a:rPr>
              <a:t> </a:t>
            </a:r>
            <a:r>
              <a:rPr lang="ru-RU" sz="1100" dirty="0">
                <a:latin typeface="Montserrat Light" panose="00000400000000000000" pitchFamily="2" charset="-52"/>
              </a:rPr>
              <a:t>– установите платформу, если сервер поддерживает </a:t>
            </a:r>
            <a:r>
              <a:rPr lang="ru-RU" sz="1100" dirty="0" err="1">
                <a:latin typeface="Montserrat Light" panose="00000400000000000000" pitchFamily="2" charset="-52"/>
              </a:rPr>
              <a:t>мультиплатформенность</a:t>
            </a:r>
            <a:r>
              <a:rPr lang="en-US" sz="1100" dirty="0">
                <a:latin typeface="Montserrat Light" panose="00000400000000000000" pitchFamily="2" charset="-52"/>
              </a:rPr>
              <a:t>;</a:t>
            </a:r>
            <a:endParaRPr lang="ru-RU" sz="11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1100" b="1" dirty="0">
                <a:latin typeface="Montserrat Light" panose="00000400000000000000" pitchFamily="2" charset="-52"/>
              </a:rPr>
              <a:t>--</a:t>
            </a:r>
            <a:r>
              <a:rPr lang="ru-RU" sz="1100" b="1" dirty="0" err="1">
                <a:latin typeface="Montserrat Light" panose="00000400000000000000" pitchFamily="2" charset="-52"/>
              </a:rPr>
              <a:t>privileged</a:t>
            </a:r>
            <a:r>
              <a:rPr lang="ru-RU" sz="1100" b="1" dirty="0">
                <a:latin typeface="Montserrat Light" panose="00000400000000000000" pitchFamily="2" charset="-52"/>
              </a:rPr>
              <a:t> </a:t>
            </a:r>
            <a:r>
              <a:rPr lang="ru-RU" sz="1100" dirty="0">
                <a:latin typeface="Montserrat Light" panose="00000400000000000000" pitchFamily="2" charset="-52"/>
              </a:rPr>
              <a:t>– предоставьте расширенные привилегии этому контейнеру</a:t>
            </a:r>
            <a:r>
              <a:rPr lang="en-US" sz="1100" dirty="0">
                <a:latin typeface="Montserrat Light" panose="00000400000000000000" pitchFamily="2" charset="-52"/>
              </a:rPr>
              <a:t>;</a:t>
            </a:r>
            <a:endParaRPr lang="ru-RU" sz="11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1100" b="1" dirty="0">
                <a:latin typeface="Montserrat Light" panose="00000400000000000000" pitchFamily="2" charset="-52"/>
              </a:rPr>
              <a:t>--</a:t>
            </a:r>
            <a:r>
              <a:rPr lang="ru-RU" sz="1100" b="1" dirty="0" err="1">
                <a:latin typeface="Montserrat Light" panose="00000400000000000000" pitchFamily="2" charset="-52"/>
              </a:rPr>
              <a:t>publish</a:t>
            </a:r>
            <a:r>
              <a:rPr lang="ru-RU" sz="1100" b="1" dirty="0">
                <a:latin typeface="Montserrat Light" panose="00000400000000000000" pitchFamily="2" charset="-52"/>
              </a:rPr>
              <a:t> </a:t>
            </a:r>
            <a:r>
              <a:rPr lang="ru-RU" sz="1100" dirty="0">
                <a:latin typeface="Montserrat Light" panose="00000400000000000000" pitchFamily="2" charset="-52"/>
              </a:rPr>
              <a:t>, </a:t>
            </a:r>
            <a:r>
              <a:rPr lang="ru-RU" sz="1100" b="1" dirty="0">
                <a:latin typeface="Montserrat Light" panose="00000400000000000000" pitchFamily="2" charset="-52"/>
              </a:rPr>
              <a:t>-p </a:t>
            </a:r>
            <a:r>
              <a:rPr lang="ru-RU" sz="1100" dirty="0">
                <a:latin typeface="Montserrat Light" panose="00000400000000000000" pitchFamily="2" charset="-52"/>
              </a:rPr>
              <a:t>– опубликуйте порты контейнера на хосте</a:t>
            </a:r>
            <a:r>
              <a:rPr lang="en-US" sz="1100" dirty="0">
                <a:latin typeface="Montserrat Light" panose="00000400000000000000" pitchFamily="2" charset="-52"/>
              </a:rPr>
              <a:t>;</a:t>
            </a:r>
            <a:endParaRPr lang="ru-RU" sz="11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1100" b="1" dirty="0">
                <a:latin typeface="Montserrat Light" panose="00000400000000000000" pitchFamily="2" charset="-52"/>
              </a:rPr>
              <a:t>--</a:t>
            </a:r>
            <a:r>
              <a:rPr lang="ru-RU" sz="1100" b="1" dirty="0" err="1">
                <a:latin typeface="Montserrat Light" panose="00000400000000000000" pitchFamily="2" charset="-52"/>
              </a:rPr>
              <a:t>publish-all</a:t>
            </a:r>
            <a:r>
              <a:rPr lang="ru-RU" sz="1100" b="1" dirty="0">
                <a:latin typeface="Montserrat Light" panose="00000400000000000000" pitchFamily="2" charset="-52"/>
              </a:rPr>
              <a:t> </a:t>
            </a:r>
            <a:r>
              <a:rPr lang="ru-RU" sz="1100" dirty="0">
                <a:latin typeface="Montserrat Light" panose="00000400000000000000" pitchFamily="2" charset="-52"/>
              </a:rPr>
              <a:t>,</a:t>
            </a:r>
            <a:r>
              <a:rPr lang="ru-RU" sz="1100" b="1" dirty="0">
                <a:latin typeface="Montserrat Light" panose="00000400000000000000" pitchFamily="2" charset="-52"/>
              </a:rPr>
              <a:t> -P </a:t>
            </a:r>
            <a:r>
              <a:rPr lang="ru-RU" sz="1100" dirty="0">
                <a:latin typeface="Montserrat Light" panose="00000400000000000000" pitchFamily="2" charset="-52"/>
              </a:rPr>
              <a:t>– опубликовать все открытые порты на случайные порты</a:t>
            </a:r>
            <a:r>
              <a:rPr lang="en-US" sz="1100" dirty="0">
                <a:latin typeface="Montserrat Light" panose="00000400000000000000" pitchFamily="2" charset="-52"/>
              </a:rPr>
              <a:t>;</a:t>
            </a:r>
            <a:endParaRPr lang="ru-RU" sz="11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1100" b="1" dirty="0">
                <a:latin typeface="Montserrat Light" panose="00000400000000000000" pitchFamily="2" charset="-52"/>
              </a:rPr>
              <a:t>--</a:t>
            </a:r>
            <a:r>
              <a:rPr lang="ru-RU" sz="1100" b="1" dirty="0" err="1">
                <a:latin typeface="Montserrat Light" panose="00000400000000000000" pitchFamily="2" charset="-52"/>
              </a:rPr>
              <a:t>pull</a:t>
            </a:r>
            <a:r>
              <a:rPr lang="en-US" sz="1100" b="1" dirty="0">
                <a:latin typeface="Montserrat Light" panose="00000400000000000000" pitchFamily="2" charset="-52"/>
              </a:rPr>
              <a:t> </a:t>
            </a:r>
            <a:r>
              <a:rPr lang="ru-RU" sz="1100" b="1" dirty="0" err="1">
                <a:latin typeface="Montserrat Light" panose="00000400000000000000" pitchFamily="2" charset="-52"/>
              </a:rPr>
              <a:t>missing</a:t>
            </a:r>
            <a:r>
              <a:rPr lang="ru-RU" sz="1100" b="1" dirty="0">
                <a:latin typeface="Montserrat Light" panose="00000400000000000000" pitchFamily="2" charset="-52"/>
              </a:rPr>
              <a:t> </a:t>
            </a:r>
            <a:r>
              <a:rPr lang="ru-RU" sz="1100" dirty="0">
                <a:latin typeface="Montserrat Light" panose="00000400000000000000" pitchFamily="2" charset="-52"/>
              </a:rPr>
              <a:t>– извлеките изображение перед запуском ("всегда" | "отсутствует" |"никогда")</a:t>
            </a:r>
            <a:r>
              <a:rPr lang="en-US" sz="1100" dirty="0">
                <a:latin typeface="Montserrat Light" panose="00000400000000000000" pitchFamily="2" charset="-52"/>
              </a:rPr>
              <a:t>;</a:t>
            </a:r>
            <a:endParaRPr lang="ru-RU" sz="11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1100" b="1" dirty="0">
                <a:latin typeface="Montserrat Light" panose="00000400000000000000" pitchFamily="2" charset="-52"/>
              </a:rPr>
              <a:t>--</a:t>
            </a:r>
            <a:r>
              <a:rPr lang="ru-RU" sz="1100" b="1" dirty="0" err="1">
                <a:latin typeface="Montserrat Light" panose="00000400000000000000" pitchFamily="2" charset="-52"/>
              </a:rPr>
              <a:t>read-only</a:t>
            </a:r>
            <a:r>
              <a:rPr lang="ru-RU" sz="1100" b="1" dirty="0">
                <a:latin typeface="Montserrat Light" panose="00000400000000000000" pitchFamily="2" charset="-52"/>
              </a:rPr>
              <a:t> </a:t>
            </a:r>
            <a:r>
              <a:rPr lang="ru-RU" sz="1100" dirty="0">
                <a:latin typeface="Montserrat Light" panose="00000400000000000000" pitchFamily="2" charset="-52"/>
              </a:rPr>
              <a:t>– смонтируйте корневую файловую систему контейнера как доступную только для чтения</a:t>
            </a:r>
            <a:r>
              <a:rPr lang="en-US" sz="1100" dirty="0">
                <a:latin typeface="Montserrat Light" panose="00000400000000000000" pitchFamily="2" charset="-52"/>
              </a:rPr>
              <a:t>;</a:t>
            </a:r>
            <a:endParaRPr lang="ru-RU" sz="11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1100" b="1" dirty="0">
                <a:latin typeface="Montserrat Light" panose="00000400000000000000" pitchFamily="2" charset="-52"/>
              </a:rPr>
              <a:t>--</a:t>
            </a:r>
            <a:r>
              <a:rPr lang="ru-RU" sz="1100" b="1" dirty="0" err="1">
                <a:latin typeface="Montserrat Light" panose="00000400000000000000" pitchFamily="2" charset="-52"/>
              </a:rPr>
              <a:t>restart</a:t>
            </a:r>
            <a:r>
              <a:rPr lang="ru-RU" sz="1100" b="1" dirty="0">
                <a:latin typeface="Montserrat Light" panose="00000400000000000000" pitchFamily="2" charset="-52"/>
              </a:rPr>
              <a:t> </a:t>
            </a:r>
            <a:r>
              <a:rPr lang="ru-RU" sz="1100" b="1" dirty="0" err="1">
                <a:latin typeface="Montserrat Light" panose="00000400000000000000" pitchFamily="2" charset="-52"/>
              </a:rPr>
              <a:t>no</a:t>
            </a:r>
            <a:r>
              <a:rPr lang="ru-RU" sz="1100" b="1" dirty="0">
                <a:latin typeface="Montserrat Light" panose="00000400000000000000" pitchFamily="2" charset="-52"/>
              </a:rPr>
              <a:t> </a:t>
            </a:r>
            <a:r>
              <a:rPr lang="ru-RU" sz="1100" dirty="0">
                <a:latin typeface="Montserrat Light" panose="00000400000000000000" pitchFamily="2" charset="-52"/>
              </a:rPr>
              <a:t>– перезапустите политику, которая будет применяться при выходе из контейнера</a:t>
            </a:r>
            <a:r>
              <a:rPr lang="en-US" sz="1100" dirty="0">
                <a:latin typeface="Montserrat Light" panose="00000400000000000000" pitchFamily="2" charset="-52"/>
              </a:rPr>
              <a:t>;</a:t>
            </a:r>
            <a:endParaRPr lang="ru-RU" sz="11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endParaRPr lang="ru-RU" sz="1100" dirty="0">
              <a:latin typeface="Montserrat Light" panose="000004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630935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Синтаксис команды </a:t>
            </a:r>
            <a:r>
              <a:rPr lang="en-US" sz="3200" dirty="0">
                <a:latin typeface="Montserrat" pitchFamily="2" charset="0"/>
              </a:rPr>
              <a:t>docker run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xmlns="" id="{26B39EEB-1DCC-68C9-EECE-5F0CECE06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360363">
              <a:buNone/>
            </a:pPr>
            <a:r>
              <a:rPr lang="ru-RU" sz="2100" b="1" dirty="0">
                <a:latin typeface="Montserrat Light" panose="00000400000000000000" pitchFamily="2" charset="-52"/>
              </a:rPr>
              <a:t>--</a:t>
            </a:r>
            <a:r>
              <a:rPr lang="ru-RU" sz="2100" b="1" dirty="0" err="1">
                <a:latin typeface="Montserrat Light" panose="00000400000000000000" pitchFamily="2" charset="-52"/>
              </a:rPr>
              <a:t>rm</a:t>
            </a:r>
            <a:r>
              <a:rPr lang="en-US" sz="2100" b="1" dirty="0">
                <a:latin typeface="Montserrat Light" panose="00000400000000000000" pitchFamily="2" charset="-52"/>
              </a:rPr>
              <a:t> </a:t>
            </a:r>
            <a:r>
              <a:rPr lang="en-US" sz="2100" dirty="0">
                <a:latin typeface="Montserrat Light" panose="00000400000000000000" pitchFamily="2" charset="-52"/>
              </a:rPr>
              <a:t>– </a:t>
            </a:r>
            <a:r>
              <a:rPr lang="ru-RU" sz="2100" dirty="0">
                <a:latin typeface="Montserrat Light" panose="00000400000000000000" pitchFamily="2" charset="-52"/>
              </a:rPr>
              <a:t>автоматическое удаление контейнера при его завершении</a:t>
            </a:r>
            <a:r>
              <a:rPr lang="en-US" sz="2100" dirty="0">
                <a:latin typeface="Montserrat Light" panose="00000400000000000000" pitchFamily="2" charset="-52"/>
              </a:rPr>
              <a:t>;</a:t>
            </a:r>
            <a:endParaRPr lang="ru-RU" sz="21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2100" b="1" dirty="0">
                <a:latin typeface="Montserrat Light" panose="00000400000000000000" pitchFamily="2" charset="-52"/>
              </a:rPr>
              <a:t>--</a:t>
            </a:r>
            <a:r>
              <a:rPr lang="ru-RU" sz="2100" b="1" dirty="0" err="1">
                <a:latin typeface="Montserrat Light" panose="00000400000000000000" pitchFamily="2" charset="-52"/>
              </a:rPr>
              <a:t>runtime</a:t>
            </a:r>
            <a:r>
              <a:rPr lang="ru-RU" sz="2100" b="1" dirty="0">
                <a:latin typeface="Montserrat Light" panose="00000400000000000000" pitchFamily="2" charset="-52"/>
              </a:rPr>
              <a:t> </a:t>
            </a:r>
            <a:r>
              <a:rPr lang="ru-RU" sz="2100" dirty="0">
                <a:latin typeface="Montserrat Light" panose="00000400000000000000" pitchFamily="2" charset="-52"/>
              </a:rPr>
              <a:t>– среда выполнения, используемая для этого контейнера</a:t>
            </a:r>
            <a:r>
              <a:rPr lang="en-US" sz="2100" dirty="0">
                <a:latin typeface="Montserrat Light" panose="00000400000000000000" pitchFamily="2" charset="-52"/>
              </a:rPr>
              <a:t>;</a:t>
            </a:r>
            <a:endParaRPr lang="ru-RU" sz="21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2100" b="1" dirty="0">
                <a:latin typeface="Montserrat Light" panose="00000400000000000000" pitchFamily="2" charset="-52"/>
              </a:rPr>
              <a:t>--</a:t>
            </a:r>
            <a:r>
              <a:rPr lang="ru-RU" sz="2100" b="1" dirty="0" err="1">
                <a:latin typeface="Montserrat Light" panose="00000400000000000000" pitchFamily="2" charset="-52"/>
              </a:rPr>
              <a:t>security-opt</a:t>
            </a:r>
            <a:r>
              <a:rPr lang="ru-RU" sz="2100" b="1" dirty="0">
                <a:latin typeface="Montserrat Light" panose="00000400000000000000" pitchFamily="2" charset="-52"/>
              </a:rPr>
              <a:t> </a:t>
            </a:r>
            <a:r>
              <a:rPr lang="ru-RU" sz="2100" dirty="0">
                <a:latin typeface="Montserrat Light" panose="00000400000000000000" pitchFamily="2" charset="-52"/>
              </a:rPr>
              <a:t>– параметры безопасности</a:t>
            </a:r>
            <a:r>
              <a:rPr lang="en-US" sz="2100" dirty="0">
                <a:latin typeface="Montserrat Light" panose="00000400000000000000" pitchFamily="2" charset="-52"/>
              </a:rPr>
              <a:t>;</a:t>
            </a:r>
            <a:endParaRPr lang="ru-RU" sz="21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2100" b="1" dirty="0">
                <a:latin typeface="Montserrat Light" panose="00000400000000000000" pitchFamily="2" charset="-52"/>
              </a:rPr>
              <a:t>--</a:t>
            </a:r>
            <a:r>
              <a:rPr lang="ru-RU" sz="2100" b="1" dirty="0" err="1">
                <a:latin typeface="Montserrat Light" panose="00000400000000000000" pitchFamily="2" charset="-52"/>
              </a:rPr>
              <a:t>shm-size</a:t>
            </a:r>
            <a:r>
              <a:rPr lang="ru-RU" sz="2100" b="1" dirty="0">
                <a:latin typeface="Montserrat Light" panose="00000400000000000000" pitchFamily="2" charset="-52"/>
              </a:rPr>
              <a:t> </a:t>
            </a:r>
            <a:r>
              <a:rPr lang="ru-RU" sz="2100" dirty="0">
                <a:latin typeface="Montserrat Light" panose="00000400000000000000" pitchFamily="2" charset="-52"/>
              </a:rPr>
              <a:t>– размер /</a:t>
            </a:r>
            <a:r>
              <a:rPr lang="ru-RU" sz="2100" dirty="0" err="1">
                <a:latin typeface="Montserrat Light" panose="00000400000000000000" pitchFamily="2" charset="-52"/>
              </a:rPr>
              <a:t>dev</a:t>
            </a:r>
            <a:r>
              <a:rPr lang="ru-RU" sz="2100" dirty="0">
                <a:latin typeface="Montserrat Light" panose="00000400000000000000" pitchFamily="2" charset="-52"/>
              </a:rPr>
              <a:t>/</a:t>
            </a:r>
            <a:r>
              <a:rPr lang="ru-RU" sz="2100" dirty="0" err="1">
                <a:latin typeface="Montserrat Light" panose="00000400000000000000" pitchFamily="2" charset="-52"/>
              </a:rPr>
              <a:t>shm</a:t>
            </a:r>
            <a:r>
              <a:rPr lang="en-US" sz="2100" dirty="0">
                <a:latin typeface="Montserrat Light" panose="00000400000000000000" pitchFamily="2" charset="-52"/>
              </a:rPr>
              <a:t>;</a:t>
            </a:r>
            <a:endParaRPr lang="ru-RU" sz="21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2100" b="1" dirty="0">
                <a:latin typeface="Montserrat Light" panose="00000400000000000000" pitchFamily="2" charset="-52"/>
              </a:rPr>
              <a:t>--</a:t>
            </a:r>
            <a:r>
              <a:rPr lang="ru-RU" sz="2100" b="1" dirty="0" err="1">
                <a:latin typeface="Montserrat Light" panose="00000400000000000000" pitchFamily="2" charset="-52"/>
              </a:rPr>
              <a:t>sig-proxy</a:t>
            </a:r>
            <a:r>
              <a:rPr lang="ru-RU" sz="2100" b="1" dirty="0">
                <a:latin typeface="Montserrat Light" panose="00000400000000000000" pitchFamily="2" charset="-52"/>
              </a:rPr>
              <a:t>	</a:t>
            </a:r>
            <a:r>
              <a:rPr lang="ru-RU" sz="2100" b="1" dirty="0" err="1">
                <a:latin typeface="Montserrat Light" panose="00000400000000000000" pitchFamily="2" charset="-52"/>
              </a:rPr>
              <a:t>true</a:t>
            </a:r>
            <a:r>
              <a:rPr lang="ru-RU" sz="2100" b="1" dirty="0">
                <a:latin typeface="Montserrat Light" panose="00000400000000000000" pitchFamily="2" charset="-52"/>
              </a:rPr>
              <a:t> </a:t>
            </a:r>
            <a:r>
              <a:rPr lang="ru-RU" sz="2100" dirty="0">
                <a:latin typeface="Montserrat Light" panose="00000400000000000000" pitchFamily="2" charset="-52"/>
              </a:rPr>
              <a:t>– прокси-сервер получил сигналы для процесса</a:t>
            </a:r>
            <a:r>
              <a:rPr lang="en-US" sz="2100" dirty="0">
                <a:latin typeface="Montserrat Light" panose="00000400000000000000" pitchFamily="2" charset="-52"/>
              </a:rPr>
              <a:t>;</a:t>
            </a:r>
            <a:endParaRPr lang="ru-RU" sz="21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2100" b="1" dirty="0">
                <a:latin typeface="Montserrat Light" panose="00000400000000000000" pitchFamily="2" charset="-52"/>
              </a:rPr>
              <a:t>--</a:t>
            </a:r>
            <a:r>
              <a:rPr lang="ru-RU" sz="2100" b="1" dirty="0" err="1">
                <a:latin typeface="Montserrat Light" panose="00000400000000000000" pitchFamily="2" charset="-52"/>
              </a:rPr>
              <a:t>stop-signal</a:t>
            </a:r>
            <a:r>
              <a:rPr lang="en-US" sz="2100" b="1" dirty="0">
                <a:latin typeface="Montserrat Light" panose="00000400000000000000" pitchFamily="2" charset="-52"/>
              </a:rPr>
              <a:t> </a:t>
            </a:r>
            <a:r>
              <a:rPr lang="ru-RU" sz="2100" b="1" dirty="0">
                <a:latin typeface="Montserrat Light" panose="00000400000000000000" pitchFamily="2" charset="-52"/>
              </a:rPr>
              <a:t>SIGTERM</a:t>
            </a:r>
            <a:r>
              <a:rPr lang="ru-RU" sz="2100" dirty="0">
                <a:latin typeface="Montserrat Light" panose="00000400000000000000" pitchFamily="2" charset="-52"/>
              </a:rPr>
              <a:t> – сигнал для остановки контейнера</a:t>
            </a:r>
            <a:r>
              <a:rPr lang="en-US" sz="2100" dirty="0">
                <a:latin typeface="Montserrat Light" panose="00000400000000000000" pitchFamily="2" charset="-52"/>
              </a:rPr>
              <a:t>;</a:t>
            </a:r>
            <a:endParaRPr lang="ru-RU" sz="21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2100" b="1" dirty="0">
                <a:latin typeface="Montserrat Light" panose="00000400000000000000" pitchFamily="2" charset="-52"/>
              </a:rPr>
              <a:t>--</a:t>
            </a:r>
            <a:r>
              <a:rPr lang="ru-RU" sz="2100" b="1" dirty="0" err="1">
                <a:latin typeface="Montserrat Light" panose="00000400000000000000" pitchFamily="2" charset="-52"/>
              </a:rPr>
              <a:t>stop-timeout</a:t>
            </a:r>
            <a:r>
              <a:rPr lang="ru-RU" sz="2100" b="1" dirty="0">
                <a:latin typeface="Montserrat Light" panose="00000400000000000000" pitchFamily="2" charset="-52"/>
              </a:rPr>
              <a:t> </a:t>
            </a:r>
            <a:r>
              <a:rPr lang="ru-RU" sz="2100" dirty="0">
                <a:latin typeface="Montserrat Light" panose="00000400000000000000" pitchFamily="2" charset="-52"/>
              </a:rPr>
              <a:t>– время ожидания (в секундах) для остановки контейнера</a:t>
            </a:r>
            <a:r>
              <a:rPr lang="en-US" sz="2100" dirty="0">
                <a:latin typeface="Montserrat Light" panose="00000400000000000000" pitchFamily="2" charset="-52"/>
              </a:rPr>
              <a:t>;</a:t>
            </a:r>
            <a:endParaRPr lang="ru-RU" sz="21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2100" b="1" dirty="0">
                <a:latin typeface="Montserrat Light" panose="00000400000000000000" pitchFamily="2" charset="-52"/>
              </a:rPr>
              <a:t>--</a:t>
            </a:r>
            <a:r>
              <a:rPr lang="ru-RU" sz="2100" b="1" dirty="0" err="1">
                <a:latin typeface="Montserrat Light" panose="00000400000000000000" pitchFamily="2" charset="-52"/>
              </a:rPr>
              <a:t>storage-opt</a:t>
            </a:r>
            <a:r>
              <a:rPr lang="ru-RU" sz="2100" b="1" dirty="0">
                <a:latin typeface="Montserrat Light" panose="00000400000000000000" pitchFamily="2" charset="-52"/>
              </a:rPr>
              <a:t> </a:t>
            </a:r>
            <a:r>
              <a:rPr lang="ru-RU" sz="2100" dirty="0">
                <a:latin typeface="Montserrat Light" panose="00000400000000000000" pitchFamily="2" charset="-52"/>
              </a:rPr>
              <a:t>– параметры драйвера хранилища для контейнера</a:t>
            </a:r>
            <a:r>
              <a:rPr lang="en-US" sz="2100" dirty="0">
                <a:latin typeface="Montserrat Light" panose="00000400000000000000" pitchFamily="2" charset="-52"/>
              </a:rPr>
              <a:t>;</a:t>
            </a:r>
            <a:endParaRPr lang="ru-RU" sz="2100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sz="2100" b="1" dirty="0">
                <a:latin typeface="Montserrat Light" panose="00000400000000000000" pitchFamily="2" charset="-52"/>
              </a:rPr>
              <a:t>--</a:t>
            </a:r>
            <a:r>
              <a:rPr lang="ru-RU" sz="2100" b="1" dirty="0" err="1">
                <a:latin typeface="Montserrat Light" panose="00000400000000000000" pitchFamily="2" charset="-52"/>
              </a:rPr>
              <a:t>sysctl</a:t>
            </a:r>
            <a:r>
              <a:rPr lang="ru-RU" sz="2100" b="1" dirty="0">
                <a:latin typeface="Montserrat Light" panose="00000400000000000000" pitchFamily="2" charset="-52"/>
              </a:rPr>
              <a:t> </a:t>
            </a:r>
            <a:r>
              <a:rPr lang="ru-RU" sz="2100" dirty="0">
                <a:latin typeface="Montserrat Light" panose="00000400000000000000" pitchFamily="2" charset="-52"/>
              </a:rPr>
              <a:t>– параметры </a:t>
            </a:r>
            <a:r>
              <a:rPr lang="ru-RU" sz="2100" dirty="0" err="1">
                <a:latin typeface="Montserrat Light" panose="00000400000000000000" pitchFamily="2" charset="-52"/>
              </a:rPr>
              <a:t>Sysctl</a:t>
            </a:r>
            <a:r>
              <a:rPr lang="en-US" sz="2100" dirty="0">
                <a:latin typeface="Montserrat Light" panose="00000400000000000000" pitchFamily="2" charset="-52"/>
              </a:rPr>
              <a:t>;</a:t>
            </a:r>
            <a:endParaRPr lang="ru-RU" sz="2100" dirty="0">
              <a:latin typeface="Montserrat Light" panose="000004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79022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Синтаксис команды </a:t>
            </a:r>
            <a:r>
              <a:rPr lang="en-US" sz="3200" dirty="0">
                <a:latin typeface="Montserrat" pitchFamily="2" charset="0"/>
              </a:rPr>
              <a:t>docker run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xmlns="" id="{26B39EEB-1DCC-68C9-EECE-5F0CECE06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360363">
              <a:buNone/>
            </a:pPr>
            <a:r>
              <a:rPr lang="ru-RU" b="1" dirty="0">
                <a:latin typeface="Montserrat Light" panose="00000400000000000000" pitchFamily="2" charset="-52"/>
              </a:rPr>
              <a:t>--</a:t>
            </a:r>
            <a:r>
              <a:rPr lang="ru-RU" b="1" dirty="0" err="1">
                <a:latin typeface="Montserrat Light" panose="00000400000000000000" pitchFamily="2" charset="-52"/>
              </a:rPr>
              <a:t>tmpfs</a:t>
            </a:r>
            <a:r>
              <a:rPr lang="ru-RU" b="1" dirty="0">
                <a:latin typeface="Montserrat Light" panose="00000400000000000000" pitchFamily="2" charset="-52"/>
              </a:rPr>
              <a:t> </a:t>
            </a:r>
            <a:r>
              <a:rPr lang="ru-RU" dirty="0">
                <a:latin typeface="Montserrat Light" panose="00000400000000000000" pitchFamily="2" charset="-52"/>
              </a:rPr>
              <a:t>– смонтировать каталог </a:t>
            </a:r>
            <a:r>
              <a:rPr lang="ru-RU" dirty="0" err="1">
                <a:latin typeface="Montserrat Light" panose="00000400000000000000" pitchFamily="2" charset="-52"/>
              </a:rPr>
              <a:t>tmpfs</a:t>
            </a:r>
            <a:r>
              <a:rPr lang="en-US" dirty="0">
                <a:latin typeface="Montserrat Light" panose="00000400000000000000" pitchFamily="2" charset="-52"/>
              </a:rPr>
              <a:t>;</a:t>
            </a:r>
            <a:endParaRPr lang="ru-RU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b="1" dirty="0">
                <a:latin typeface="Montserrat Light" panose="00000400000000000000" pitchFamily="2" charset="-52"/>
              </a:rPr>
              <a:t>--</a:t>
            </a:r>
            <a:r>
              <a:rPr lang="ru-RU" b="1" dirty="0" err="1">
                <a:latin typeface="Montserrat Light" panose="00000400000000000000" pitchFamily="2" charset="-52"/>
              </a:rPr>
              <a:t>tty</a:t>
            </a:r>
            <a:r>
              <a:rPr lang="ru-RU" b="1" dirty="0">
                <a:latin typeface="Montserrat Light" panose="00000400000000000000" pitchFamily="2" charset="-52"/>
              </a:rPr>
              <a:t> </a:t>
            </a:r>
            <a:r>
              <a:rPr lang="ru-RU" dirty="0">
                <a:latin typeface="Montserrat Light" panose="00000400000000000000" pitchFamily="2" charset="-52"/>
              </a:rPr>
              <a:t>,</a:t>
            </a:r>
            <a:r>
              <a:rPr lang="ru-RU" b="1" dirty="0">
                <a:latin typeface="Montserrat Light" panose="00000400000000000000" pitchFamily="2" charset="-52"/>
              </a:rPr>
              <a:t> -t </a:t>
            </a:r>
            <a:r>
              <a:rPr lang="ru-RU" dirty="0">
                <a:latin typeface="Montserrat Light" panose="00000400000000000000" pitchFamily="2" charset="-52"/>
              </a:rPr>
              <a:t>– выделите псевдо-TTY</a:t>
            </a:r>
            <a:r>
              <a:rPr lang="en-US" dirty="0">
                <a:latin typeface="Montserrat Light" panose="00000400000000000000" pitchFamily="2" charset="-52"/>
              </a:rPr>
              <a:t>;</a:t>
            </a:r>
            <a:endParaRPr lang="ru-RU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b="1" dirty="0">
                <a:latin typeface="Montserrat Light" panose="00000400000000000000" pitchFamily="2" charset="-52"/>
              </a:rPr>
              <a:t>--</a:t>
            </a:r>
            <a:r>
              <a:rPr lang="ru-RU" b="1" dirty="0" err="1">
                <a:latin typeface="Montserrat Light" panose="00000400000000000000" pitchFamily="2" charset="-52"/>
              </a:rPr>
              <a:t>ulimit</a:t>
            </a:r>
            <a:r>
              <a:rPr lang="ru-RU" b="1" dirty="0">
                <a:latin typeface="Montserrat Light" panose="00000400000000000000" pitchFamily="2" charset="-52"/>
              </a:rPr>
              <a:t> </a:t>
            </a:r>
            <a:r>
              <a:rPr lang="ru-RU" dirty="0">
                <a:latin typeface="Montserrat Light" panose="00000400000000000000" pitchFamily="2" charset="-52"/>
              </a:rPr>
              <a:t>– ограничивать параметры</a:t>
            </a:r>
            <a:r>
              <a:rPr lang="en-US" dirty="0">
                <a:latin typeface="Montserrat Light" panose="00000400000000000000" pitchFamily="2" charset="-52"/>
              </a:rPr>
              <a:t>;</a:t>
            </a:r>
            <a:endParaRPr lang="ru-RU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b="1" dirty="0">
                <a:latin typeface="Montserrat Light" panose="00000400000000000000" pitchFamily="2" charset="-52"/>
              </a:rPr>
              <a:t>--</a:t>
            </a:r>
            <a:r>
              <a:rPr lang="ru-RU" b="1" dirty="0" err="1">
                <a:latin typeface="Montserrat Light" panose="00000400000000000000" pitchFamily="2" charset="-52"/>
              </a:rPr>
              <a:t>user</a:t>
            </a:r>
            <a:r>
              <a:rPr lang="ru-RU" b="1" dirty="0">
                <a:latin typeface="Montserrat Light" panose="00000400000000000000" pitchFamily="2" charset="-52"/>
              </a:rPr>
              <a:t> </a:t>
            </a:r>
            <a:r>
              <a:rPr lang="ru-RU" dirty="0">
                <a:latin typeface="Montserrat Light" panose="00000400000000000000" pitchFamily="2" charset="-52"/>
              </a:rPr>
              <a:t>, </a:t>
            </a:r>
            <a:r>
              <a:rPr lang="ru-RU" b="1" dirty="0">
                <a:latin typeface="Montserrat Light" panose="00000400000000000000" pitchFamily="2" charset="-52"/>
              </a:rPr>
              <a:t>-u </a:t>
            </a:r>
            <a:r>
              <a:rPr lang="ru-RU" dirty="0">
                <a:latin typeface="Montserrat Light" panose="00000400000000000000" pitchFamily="2" charset="-52"/>
              </a:rPr>
              <a:t>– имя пользователя или UID (</a:t>
            </a:r>
            <a:r>
              <a:rPr lang="ru-RU" b="1" dirty="0">
                <a:latin typeface="Montserrat Light" panose="00000400000000000000" pitchFamily="2" charset="-52"/>
              </a:rPr>
              <a:t>формат: &lt;имя |</a:t>
            </a:r>
            <a:r>
              <a:rPr lang="ru-RU" b="1" dirty="0" err="1">
                <a:latin typeface="Montserrat Light" panose="00000400000000000000" pitchFamily="2" charset="-52"/>
              </a:rPr>
              <a:t>uid</a:t>
            </a:r>
            <a:r>
              <a:rPr lang="ru-RU" b="1" dirty="0">
                <a:latin typeface="Montserrat Light" panose="00000400000000000000" pitchFamily="2" charset="-52"/>
              </a:rPr>
              <a:t>&gt;[:&lt;группа | </a:t>
            </a:r>
            <a:r>
              <a:rPr lang="ru-RU" b="1" dirty="0" err="1">
                <a:latin typeface="Montserrat Light" panose="00000400000000000000" pitchFamily="2" charset="-52"/>
              </a:rPr>
              <a:t>gid</a:t>
            </a:r>
            <a:r>
              <a:rPr lang="ru-RU" b="1" dirty="0">
                <a:latin typeface="Montserrat Light" panose="00000400000000000000" pitchFamily="2" charset="-52"/>
              </a:rPr>
              <a:t>&gt;]</a:t>
            </a:r>
            <a:r>
              <a:rPr lang="ru-RU" dirty="0">
                <a:latin typeface="Montserrat Light" panose="00000400000000000000" pitchFamily="2" charset="-52"/>
              </a:rPr>
              <a:t>)</a:t>
            </a:r>
            <a:r>
              <a:rPr lang="en-US" dirty="0">
                <a:latin typeface="Montserrat Light" panose="00000400000000000000" pitchFamily="2" charset="-52"/>
              </a:rPr>
              <a:t>;</a:t>
            </a:r>
            <a:endParaRPr lang="ru-RU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b="1" dirty="0">
                <a:latin typeface="Montserrat Light" panose="00000400000000000000" pitchFamily="2" charset="-52"/>
              </a:rPr>
              <a:t>--</a:t>
            </a:r>
            <a:r>
              <a:rPr lang="ru-RU" b="1" dirty="0" err="1">
                <a:latin typeface="Montserrat Light" panose="00000400000000000000" pitchFamily="2" charset="-52"/>
              </a:rPr>
              <a:t>userns</a:t>
            </a:r>
            <a:r>
              <a:rPr lang="ru-RU" b="1" dirty="0">
                <a:latin typeface="Montserrat Light" panose="00000400000000000000" pitchFamily="2" charset="-52"/>
              </a:rPr>
              <a:t> </a:t>
            </a:r>
            <a:r>
              <a:rPr lang="ru-RU" dirty="0">
                <a:latin typeface="Montserrat Light" panose="00000400000000000000" pitchFamily="2" charset="-52"/>
              </a:rPr>
              <a:t>– пользовательское пространство имен для использования</a:t>
            </a:r>
            <a:r>
              <a:rPr lang="en-US" dirty="0">
                <a:latin typeface="Montserrat Light" panose="00000400000000000000" pitchFamily="2" charset="-52"/>
              </a:rPr>
              <a:t>;</a:t>
            </a:r>
            <a:endParaRPr lang="ru-RU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b="1" dirty="0">
                <a:latin typeface="Montserrat Light" panose="00000400000000000000" pitchFamily="2" charset="-52"/>
              </a:rPr>
              <a:t>--</a:t>
            </a:r>
            <a:r>
              <a:rPr lang="ru-RU" b="1" dirty="0" err="1">
                <a:latin typeface="Montserrat Light" panose="00000400000000000000" pitchFamily="2" charset="-52"/>
              </a:rPr>
              <a:t>uts</a:t>
            </a:r>
            <a:r>
              <a:rPr lang="ru-RU" b="1" dirty="0">
                <a:latin typeface="Montserrat Light" panose="00000400000000000000" pitchFamily="2" charset="-52"/>
              </a:rPr>
              <a:t> </a:t>
            </a:r>
            <a:r>
              <a:rPr lang="ru-RU" dirty="0">
                <a:latin typeface="Montserrat Light" panose="00000400000000000000" pitchFamily="2" charset="-52"/>
              </a:rPr>
              <a:t>– пространство имен UTS для использования</a:t>
            </a:r>
            <a:r>
              <a:rPr lang="en-US" dirty="0">
                <a:latin typeface="Montserrat Light" panose="00000400000000000000" pitchFamily="2" charset="-52"/>
              </a:rPr>
              <a:t>;</a:t>
            </a:r>
            <a:endParaRPr lang="ru-RU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b="1" dirty="0">
                <a:latin typeface="Montserrat Light" panose="00000400000000000000" pitchFamily="2" charset="-52"/>
              </a:rPr>
              <a:t>--</a:t>
            </a:r>
            <a:r>
              <a:rPr lang="ru-RU" b="1" dirty="0" err="1">
                <a:latin typeface="Montserrat Light" panose="00000400000000000000" pitchFamily="2" charset="-52"/>
              </a:rPr>
              <a:t>volume</a:t>
            </a:r>
            <a:r>
              <a:rPr lang="ru-RU" b="1" dirty="0">
                <a:latin typeface="Montserrat Light" panose="00000400000000000000" pitchFamily="2" charset="-52"/>
              </a:rPr>
              <a:t> </a:t>
            </a:r>
            <a:r>
              <a:rPr lang="ru-RU" dirty="0">
                <a:latin typeface="Montserrat Light" panose="00000400000000000000" pitchFamily="2" charset="-52"/>
              </a:rPr>
              <a:t>, </a:t>
            </a:r>
            <a:r>
              <a:rPr lang="ru-RU" b="1" dirty="0">
                <a:latin typeface="Montserrat Light" panose="00000400000000000000" pitchFamily="2" charset="-52"/>
              </a:rPr>
              <a:t>-v </a:t>
            </a:r>
            <a:r>
              <a:rPr lang="ru-RU" dirty="0">
                <a:latin typeface="Montserrat Light" panose="00000400000000000000" pitchFamily="2" charset="-52"/>
              </a:rPr>
              <a:t>– привязать смонтировать том</a:t>
            </a:r>
            <a:r>
              <a:rPr lang="en-US" dirty="0">
                <a:latin typeface="Montserrat Light" panose="00000400000000000000" pitchFamily="2" charset="-52"/>
              </a:rPr>
              <a:t>;</a:t>
            </a:r>
            <a:endParaRPr lang="ru-RU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b="1" dirty="0">
                <a:latin typeface="Montserrat Light" panose="00000400000000000000" pitchFamily="2" charset="-52"/>
              </a:rPr>
              <a:t>--</a:t>
            </a:r>
            <a:r>
              <a:rPr lang="ru-RU" b="1" dirty="0" err="1">
                <a:latin typeface="Montserrat Light" panose="00000400000000000000" pitchFamily="2" charset="-52"/>
              </a:rPr>
              <a:t>volume-driver</a:t>
            </a:r>
            <a:r>
              <a:rPr lang="ru-RU" b="1" dirty="0">
                <a:latin typeface="Montserrat Light" panose="00000400000000000000" pitchFamily="2" charset="-52"/>
              </a:rPr>
              <a:t> </a:t>
            </a:r>
            <a:r>
              <a:rPr lang="ru-RU" dirty="0">
                <a:latin typeface="Montserrat Light" panose="00000400000000000000" pitchFamily="2" charset="-52"/>
              </a:rPr>
              <a:t>– дополнительный драйвер тома для контейнера</a:t>
            </a:r>
            <a:r>
              <a:rPr lang="en-US" dirty="0">
                <a:latin typeface="Montserrat Light" panose="00000400000000000000" pitchFamily="2" charset="-52"/>
              </a:rPr>
              <a:t>;</a:t>
            </a:r>
            <a:endParaRPr lang="ru-RU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b="1" dirty="0">
                <a:latin typeface="Montserrat Light" panose="00000400000000000000" pitchFamily="2" charset="-52"/>
              </a:rPr>
              <a:t>--</a:t>
            </a:r>
            <a:r>
              <a:rPr lang="ru-RU" b="1" dirty="0" err="1">
                <a:latin typeface="Montserrat Light" panose="00000400000000000000" pitchFamily="2" charset="-52"/>
              </a:rPr>
              <a:t>volumes-from</a:t>
            </a:r>
            <a:r>
              <a:rPr lang="ru-RU" b="1" dirty="0">
                <a:latin typeface="Montserrat Light" panose="00000400000000000000" pitchFamily="2" charset="-52"/>
              </a:rPr>
              <a:t> </a:t>
            </a:r>
            <a:r>
              <a:rPr lang="ru-RU" dirty="0">
                <a:latin typeface="Montserrat Light" panose="00000400000000000000" pitchFamily="2" charset="-52"/>
              </a:rPr>
              <a:t>– монтируйте тома из указанных контейнеров</a:t>
            </a:r>
            <a:r>
              <a:rPr lang="en-US" dirty="0">
                <a:latin typeface="Montserrat Light" panose="00000400000000000000" pitchFamily="2" charset="-52"/>
              </a:rPr>
              <a:t>;</a:t>
            </a:r>
            <a:endParaRPr lang="ru-RU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r>
              <a:rPr lang="ru-RU" b="1" dirty="0">
                <a:latin typeface="Montserrat Light" panose="00000400000000000000" pitchFamily="2" charset="-52"/>
              </a:rPr>
              <a:t>--</a:t>
            </a:r>
            <a:r>
              <a:rPr lang="ru-RU" b="1" dirty="0" err="1">
                <a:latin typeface="Montserrat Light" panose="00000400000000000000" pitchFamily="2" charset="-52"/>
              </a:rPr>
              <a:t>workdir</a:t>
            </a:r>
            <a:r>
              <a:rPr lang="ru-RU" b="1" dirty="0">
                <a:latin typeface="Montserrat Light" panose="00000400000000000000" pitchFamily="2" charset="-52"/>
              </a:rPr>
              <a:t> </a:t>
            </a:r>
            <a:r>
              <a:rPr lang="ru-RU" dirty="0">
                <a:latin typeface="Montserrat Light" panose="00000400000000000000" pitchFamily="2" charset="-52"/>
              </a:rPr>
              <a:t>, </a:t>
            </a:r>
            <a:r>
              <a:rPr lang="ru-RU" b="1" dirty="0">
                <a:latin typeface="Montserrat Light" panose="00000400000000000000" pitchFamily="2" charset="-52"/>
              </a:rPr>
              <a:t>-w </a:t>
            </a:r>
            <a:r>
              <a:rPr lang="ru-RU" dirty="0">
                <a:latin typeface="Montserrat Light" panose="00000400000000000000" pitchFamily="2" charset="-52"/>
              </a:rPr>
              <a:t>– рабочий каталог внутри контейнера</a:t>
            </a:r>
            <a:r>
              <a:rPr lang="en-US" dirty="0">
                <a:latin typeface="Montserrat Light" panose="00000400000000000000" pitchFamily="2" charset="-52"/>
              </a:rPr>
              <a:t>.</a:t>
            </a:r>
            <a:endParaRPr lang="ru-RU" dirty="0">
              <a:latin typeface="Montserrat Light" panose="00000400000000000000" pitchFamily="2" charset="-52"/>
            </a:endParaRPr>
          </a:p>
          <a:p>
            <a:pPr marL="0" indent="360363">
              <a:buNone/>
            </a:pPr>
            <a:endParaRPr lang="ru-RU" dirty="0">
              <a:latin typeface="Montserrat Light" panose="000004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266975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04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829571C-1045-174A-AFAB-65AE5CF453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/>
          <a:p>
            <a:r>
              <a:rPr lang="ru-RU" sz="4300" dirty="0" smtClean="0">
                <a:latin typeface="Montserrat" pitchFamily="2" charset="0"/>
                <a:cs typeface="Times New Roman" panose="02020603050405020304" pitchFamily="18" charset="0"/>
              </a:rPr>
              <a:t>Сети в </a:t>
            </a:r>
            <a:r>
              <a:rPr lang="en-US" sz="4300" dirty="0">
                <a:latin typeface="Montserrat" pitchFamily="2" charset="0"/>
                <a:cs typeface="Times New Roman" panose="02020603050405020304" pitchFamily="18" charset="0"/>
              </a:rPr>
              <a:t>D</a:t>
            </a:r>
            <a:r>
              <a:rPr lang="en-US" sz="4300" dirty="0" smtClean="0">
                <a:latin typeface="Montserrat" pitchFamily="2" charset="0"/>
                <a:cs typeface="Times New Roman" panose="02020603050405020304" pitchFamily="18" charset="0"/>
              </a:rPr>
              <a:t>ocker</a:t>
            </a:r>
            <a:endParaRPr lang="ru-RU" sz="4300" dirty="0">
              <a:latin typeface="Montserrat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9479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Введение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8490"/>
            <a:ext cx="10515600" cy="4351338"/>
          </a:xfrm>
        </p:spPr>
        <p:txBody>
          <a:bodyPr>
            <a:noAutofit/>
          </a:bodyPr>
          <a:lstStyle/>
          <a:p>
            <a:pPr marL="0" indent="446088" algn="just"/>
            <a:r>
              <a:rPr lang="ru-RU" sz="2400" dirty="0">
                <a:latin typeface="Montserrat Light" panose="00000400000000000000" pitchFamily="2" charset="-52"/>
              </a:rPr>
              <a:t>Сеть </a:t>
            </a:r>
            <a:r>
              <a:rPr lang="ru-RU" sz="2400" b="1" dirty="0" err="1">
                <a:latin typeface="Montserrat Light" panose="00000400000000000000" pitchFamily="2" charset="-52"/>
              </a:rPr>
              <a:t>Docker</a:t>
            </a:r>
            <a:r>
              <a:rPr lang="ru-RU" sz="2400" dirty="0">
                <a:latin typeface="Montserrat Light" panose="00000400000000000000" pitchFamily="2" charset="-52"/>
              </a:rPr>
              <a:t> построена на </a:t>
            </a:r>
            <a:r>
              <a:rPr lang="ru-RU" sz="2400" b="1" dirty="0" err="1">
                <a:latin typeface="Montserrat Light" panose="00000400000000000000" pitchFamily="2" charset="-52"/>
              </a:rPr>
              <a:t>Container</a:t>
            </a:r>
            <a:r>
              <a:rPr lang="ru-RU" sz="2400" b="1" dirty="0">
                <a:latin typeface="Montserrat Light" panose="00000400000000000000" pitchFamily="2" charset="-52"/>
              </a:rPr>
              <a:t> </a:t>
            </a:r>
            <a:r>
              <a:rPr lang="ru-RU" sz="2400" b="1" dirty="0" err="1">
                <a:latin typeface="Montserrat Light" panose="00000400000000000000" pitchFamily="2" charset="-52"/>
              </a:rPr>
              <a:t>Network</a:t>
            </a:r>
            <a:r>
              <a:rPr lang="ru-RU" sz="2400" b="1" dirty="0">
                <a:latin typeface="Montserrat Light" panose="00000400000000000000" pitchFamily="2" charset="-52"/>
              </a:rPr>
              <a:t> </a:t>
            </a:r>
            <a:r>
              <a:rPr lang="ru-RU" sz="2400" b="1" dirty="0" err="1">
                <a:latin typeface="Montserrat Light" panose="00000400000000000000" pitchFamily="2" charset="-52"/>
              </a:rPr>
              <a:t>Model</a:t>
            </a:r>
            <a:r>
              <a:rPr lang="ru-RU" sz="2400" b="1" dirty="0">
                <a:latin typeface="Montserrat Light" panose="00000400000000000000" pitchFamily="2" charset="-52"/>
              </a:rPr>
              <a:t> </a:t>
            </a:r>
            <a:r>
              <a:rPr lang="ru-RU" sz="2400" dirty="0">
                <a:latin typeface="Montserrat Light" panose="00000400000000000000" pitchFamily="2" charset="-52"/>
              </a:rPr>
              <a:t>(CNM), которая позволяет кому угодно создать свой собственный сетевой драйвер. Таким образом, у контейнеров есть доступ к разным типам сетей и они могут подключаться к нескольким сетям одновременно. Помимо различных сторонних сетевых драйверов, у самого </a:t>
            </a:r>
            <a:r>
              <a:rPr lang="ru-RU" sz="2400" dirty="0" err="1">
                <a:latin typeface="Montserrat Light" panose="00000400000000000000" pitchFamily="2" charset="-52"/>
              </a:rPr>
              <a:t>Docker</a:t>
            </a:r>
            <a:r>
              <a:rPr lang="ru-RU" sz="2400" dirty="0">
                <a:latin typeface="Montserrat Light" panose="00000400000000000000" pitchFamily="2" charset="-52"/>
              </a:rPr>
              <a:t>-а есть 4 встроенных:</a:t>
            </a:r>
          </a:p>
          <a:p>
            <a:pPr marL="0" indent="446088" algn="just"/>
            <a:endParaRPr lang="ru-RU" sz="2400" dirty="0">
              <a:latin typeface="Montserrat Light" panose="00000400000000000000" pitchFamily="2" charset="-52"/>
            </a:endParaRPr>
          </a:p>
          <a:p>
            <a:pPr marL="0" indent="446088" algn="just"/>
            <a:endParaRPr lang="ru-RU" sz="2400" dirty="0">
              <a:latin typeface="Montserrat Light" panose="000004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719240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Введение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8490"/>
            <a:ext cx="10515600" cy="4351338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400" b="1" dirty="0" err="1" smtClean="0">
                <a:solidFill>
                  <a:srgbClr val="333333"/>
                </a:solidFill>
                <a:latin typeface="Montserrat Light" panose="00000400000000000000"/>
              </a:rPr>
              <a:t>Bridge</a:t>
            </a:r>
            <a:r>
              <a:rPr lang="ru-RU" altLang="ru-RU" sz="2400" dirty="0">
                <a:solidFill>
                  <a:srgbClr val="333333"/>
                </a:solidFill>
                <a:latin typeface="Montserrat Light" panose="00000400000000000000"/>
              </a:rPr>
              <a:t>: в этой сети контейнеры запускаются по умолчанию. Связь устанавливается через </a:t>
            </a:r>
            <a:r>
              <a:rPr lang="ru-RU" altLang="ru-RU" sz="2400" dirty="0" err="1">
                <a:solidFill>
                  <a:srgbClr val="333333"/>
                </a:solidFill>
                <a:latin typeface="Montserrat Light" panose="00000400000000000000"/>
              </a:rPr>
              <a:t>bridge</a:t>
            </a:r>
            <a:r>
              <a:rPr lang="ru-RU" altLang="ru-RU" sz="2400" dirty="0">
                <a:solidFill>
                  <a:srgbClr val="333333"/>
                </a:solidFill>
                <a:latin typeface="Montserrat Light" panose="00000400000000000000"/>
              </a:rPr>
              <a:t>-интерфейс на хосте. У контейнеров, которые используют одинаковую сеть, есть своя собственная подсеть, и они могут передавать данные друг другу по умолчанию</a:t>
            </a:r>
            <a:r>
              <a:rPr lang="ru-RU" altLang="ru-RU" sz="2400" dirty="0" smtClean="0">
                <a:solidFill>
                  <a:srgbClr val="333333"/>
                </a:solidFill>
                <a:latin typeface="Montserrat Light" panose="00000400000000000000"/>
              </a:rPr>
              <a:t>.</a:t>
            </a:r>
            <a:endParaRPr lang="en-US" altLang="ru-RU" sz="2400" dirty="0" smtClean="0">
              <a:solidFill>
                <a:srgbClr val="333333"/>
              </a:solidFill>
              <a:latin typeface="Montserrat Light" panose="0000040000000000000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ru-RU" sz="2400" dirty="0">
              <a:solidFill>
                <a:srgbClr val="333333"/>
              </a:solidFill>
              <a:latin typeface="Montserrat Light" panose="0000040000000000000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ru-RU" altLang="ru-RU" sz="2400" dirty="0">
              <a:solidFill>
                <a:srgbClr val="333333"/>
              </a:solidFill>
              <a:latin typeface="Montserrat Light" panose="0000040000000000000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400" b="1" dirty="0" err="1">
                <a:solidFill>
                  <a:srgbClr val="333333"/>
                </a:solidFill>
                <a:latin typeface="Montserrat Light" panose="00000400000000000000"/>
              </a:rPr>
              <a:t>Host</a:t>
            </a:r>
            <a:r>
              <a:rPr lang="ru-RU" altLang="ru-RU" sz="2400" dirty="0">
                <a:solidFill>
                  <a:srgbClr val="333333"/>
                </a:solidFill>
                <a:latin typeface="Montserrat Light" panose="00000400000000000000"/>
              </a:rPr>
              <a:t>: этот драйвер дает контейнеру доступ к собственному пространству хоста (контейнер будет видеть и использовать тот же интерфейс, что и хост).</a:t>
            </a:r>
          </a:p>
          <a:p>
            <a:pPr marL="0" indent="446088" algn="just"/>
            <a:endParaRPr lang="ru-RU" sz="2400" dirty="0">
              <a:latin typeface="Montserrat Light" panose="000004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2254372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 smtClean="0">
                <a:latin typeface="Montserrat" pitchFamily="2" charset="0"/>
              </a:rPr>
              <a:t>Введение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8490"/>
            <a:ext cx="10515600" cy="4351338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400" b="1" dirty="0" err="1">
                <a:solidFill>
                  <a:srgbClr val="333333"/>
                </a:solidFill>
                <a:latin typeface="Montserrat Light" panose="00000400000000000000"/>
              </a:rPr>
              <a:t>Macvlan</a:t>
            </a:r>
            <a:r>
              <a:rPr lang="ru-RU" altLang="ru-RU" sz="2400" dirty="0">
                <a:solidFill>
                  <a:srgbClr val="333333"/>
                </a:solidFill>
                <a:latin typeface="Montserrat Light" panose="00000400000000000000"/>
              </a:rPr>
              <a:t>: этот драйвер дает контейнерам прямой доступ к интерфейсу и </a:t>
            </a:r>
            <a:r>
              <a:rPr lang="ru-RU" altLang="ru-RU" sz="2400" dirty="0" err="1">
                <a:solidFill>
                  <a:srgbClr val="333333"/>
                </a:solidFill>
                <a:latin typeface="Montserrat Light" panose="00000400000000000000"/>
              </a:rPr>
              <a:t>суб</a:t>
            </a:r>
            <a:r>
              <a:rPr lang="ru-RU" altLang="ru-RU" sz="2400" dirty="0">
                <a:solidFill>
                  <a:srgbClr val="333333"/>
                </a:solidFill>
                <a:latin typeface="Montserrat Light" panose="00000400000000000000"/>
              </a:rPr>
              <a:t>-интерфейсу (</a:t>
            </a:r>
            <a:r>
              <a:rPr lang="ru-RU" altLang="ru-RU" sz="2400" dirty="0" err="1">
                <a:solidFill>
                  <a:srgbClr val="333333"/>
                </a:solidFill>
                <a:latin typeface="Montserrat Light" panose="00000400000000000000"/>
              </a:rPr>
              <a:t>vlan</a:t>
            </a:r>
            <a:r>
              <a:rPr lang="ru-RU" altLang="ru-RU" sz="2400" dirty="0">
                <a:solidFill>
                  <a:srgbClr val="333333"/>
                </a:solidFill>
                <a:latin typeface="Montserrat Light" panose="00000400000000000000"/>
              </a:rPr>
              <a:t>) хоста. Также он разрешает </a:t>
            </a:r>
            <a:r>
              <a:rPr lang="ru-RU" altLang="ru-RU" sz="2400" dirty="0" err="1">
                <a:solidFill>
                  <a:srgbClr val="333333"/>
                </a:solidFill>
                <a:latin typeface="Montserrat Light" panose="00000400000000000000"/>
              </a:rPr>
              <a:t>транкинг</a:t>
            </a:r>
            <a:r>
              <a:rPr lang="ru-RU" altLang="ru-RU" sz="2400" dirty="0" smtClean="0">
                <a:solidFill>
                  <a:srgbClr val="333333"/>
                </a:solidFill>
                <a:latin typeface="Montserrat Light" panose="00000400000000000000"/>
              </a:rPr>
              <a:t>.</a:t>
            </a:r>
            <a:endParaRPr lang="en-US" altLang="ru-RU" sz="2400" dirty="0" smtClean="0">
              <a:solidFill>
                <a:srgbClr val="333333"/>
              </a:solidFill>
              <a:latin typeface="Montserrat Light" panose="0000040000000000000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ru-RU" sz="2400" dirty="0">
              <a:solidFill>
                <a:srgbClr val="333333"/>
              </a:solidFill>
              <a:latin typeface="Montserrat Light" panose="0000040000000000000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ru-RU" altLang="ru-RU" sz="2400" dirty="0">
              <a:solidFill>
                <a:srgbClr val="333333"/>
              </a:solidFill>
              <a:latin typeface="Montserrat Light" panose="0000040000000000000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400" b="1" dirty="0" err="1">
                <a:solidFill>
                  <a:srgbClr val="333333"/>
                </a:solidFill>
                <a:latin typeface="Montserrat Light" panose="00000400000000000000"/>
              </a:rPr>
              <a:t>Overlay</a:t>
            </a:r>
            <a:r>
              <a:rPr lang="ru-RU" altLang="ru-RU" sz="2400" dirty="0">
                <a:solidFill>
                  <a:srgbClr val="333333"/>
                </a:solidFill>
                <a:latin typeface="Montserrat Light" panose="00000400000000000000"/>
              </a:rPr>
              <a:t>: этот драйвер позволяет строить сети на нескольких хостах с </a:t>
            </a:r>
            <a:r>
              <a:rPr lang="ru-RU" altLang="ru-RU" sz="2400" dirty="0" err="1">
                <a:solidFill>
                  <a:srgbClr val="333333"/>
                </a:solidFill>
                <a:latin typeface="Montserrat Light" panose="00000400000000000000"/>
              </a:rPr>
              <a:t>Docker</a:t>
            </a:r>
            <a:r>
              <a:rPr lang="ru-RU" altLang="ru-RU" sz="2400" dirty="0">
                <a:solidFill>
                  <a:srgbClr val="333333"/>
                </a:solidFill>
                <a:latin typeface="Montserrat Light" panose="00000400000000000000"/>
              </a:rPr>
              <a:t> (обычно на </a:t>
            </a:r>
            <a:r>
              <a:rPr lang="ru-RU" altLang="ru-RU" sz="2400" dirty="0" err="1">
                <a:solidFill>
                  <a:srgbClr val="333333"/>
                </a:solidFill>
                <a:latin typeface="Montserrat Light" panose="00000400000000000000"/>
              </a:rPr>
              <a:t>Docker</a:t>
            </a:r>
            <a:r>
              <a:rPr lang="ru-RU" altLang="ru-RU" sz="2400" dirty="0">
                <a:solidFill>
                  <a:srgbClr val="333333"/>
                </a:solidFill>
                <a:latin typeface="Montserrat Light" panose="00000400000000000000"/>
              </a:rPr>
              <a:t> </a:t>
            </a:r>
            <a:r>
              <a:rPr lang="ru-RU" altLang="ru-RU" sz="2400" dirty="0" err="1">
                <a:solidFill>
                  <a:srgbClr val="333333"/>
                </a:solidFill>
                <a:latin typeface="Montserrat Light" panose="00000400000000000000"/>
              </a:rPr>
              <a:t>Swarm</a:t>
            </a:r>
            <a:r>
              <a:rPr lang="ru-RU" altLang="ru-RU" sz="2400" dirty="0">
                <a:solidFill>
                  <a:srgbClr val="333333"/>
                </a:solidFill>
                <a:latin typeface="Montserrat Light" panose="00000400000000000000"/>
              </a:rPr>
              <a:t> кластере). У контейнеров также есть свои адреса сети и подсети, и они могут напрямую обмениваться данными, даже если они располагаются физически на разных хостах.</a:t>
            </a:r>
            <a:r>
              <a:rPr lang="ru-RU" altLang="ru-RU" sz="1200" dirty="0">
                <a:latin typeface="Montserrat Light" panose="00000400000000000000"/>
              </a:rPr>
              <a:t/>
            </a:r>
            <a:br>
              <a:rPr lang="ru-RU" altLang="ru-RU" sz="1200" dirty="0">
                <a:latin typeface="Montserrat Light" panose="00000400000000000000"/>
              </a:rPr>
            </a:br>
            <a:endParaRPr lang="ru-RU" altLang="ru-RU" sz="3600" dirty="0">
              <a:latin typeface="Montserrat Light" panose="000004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31320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Сети типа мост (</a:t>
            </a:r>
            <a:r>
              <a:rPr lang="en-US" sz="3200" dirty="0">
                <a:latin typeface="Montserrat" pitchFamily="2" charset="0"/>
              </a:rPr>
              <a:t>bridge)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-157729"/>
            <a:ext cx="80150" cy="3154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3808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130633" y="1704513"/>
            <a:ext cx="993073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>
                <a:latin typeface="Montserrat Light" panose="00000400000000000000"/>
              </a:rPr>
              <a:t>По умолчанию для контейнеров используется </a:t>
            </a:r>
            <a:r>
              <a:rPr lang="ru-RU" altLang="ru-RU" sz="2000" b="1" dirty="0" err="1">
                <a:latin typeface="Montserrat Light" panose="00000400000000000000"/>
              </a:rPr>
              <a:t>bridge</a:t>
            </a:r>
            <a:r>
              <a:rPr lang="ru-RU" altLang="ru-RU" sz="2000" dirty="0">
                <a:latin typeface="Montserrat Light" panose="00000400000000000000"/>
              </a:rPr>
              <a:t>. </a:t>
            </a:r>
            <a:endParaRPr lang="en-US" altLang="ru-RU" sz="2000" dirty="0">
              <a:latin typeface="Montserrat Light" panose="0000040000000000000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>
                <a:latin typeface="Montserrat Light" panose="00000400000000000000"/>
              </a:rPr>
              <a:t>При первом запуске контейнера </a:t>
            </a:r>
            <a:r>
              <a:rPr lang="ru-RU" altLang="ru-RU" sz="2000" b="1" dirty="0" err="1">
                <a:latin typeface="Montserrat Light" panose="00000400000000000000"/>
              </a:rPr>
              <a:t>Docker</a:t>
            </a:r>
            <a:r>
              <a:rPr lang="ru-RU" altLang="ru-RU" sz="2000" dirty="0">
                <a:latin typeface="Montserrat Light" panose="00000400000000000000"/>
              </a:rPr>
              <a:t> создает дефолтную </a:t>
            </a:r>
            <a:r>
              <a:rPr lang="ru-RU" altLang="ru-RU" sz="2000" dirty="0" err="1">
                <a:latin typeface="Montserrat Light" panose="00000400000000000000"/>
              </a:rPr>
              <a:t>bridge</a:t>
            </a:r>
            <a:r>
              <a:rPr lang="ru-RU" altLang="ru-RU" sz="2000" dirty="0">
                <a:latin typeface="Montserrat Light" panose="00000400000000000000"/>
              </a:rPr>
              <a:t>-сеть с одноименным названием. </a:t>
            </a:r>
            <a:endParaRPr lang="en-US" altLang="ru-RU" sz="2000" dirty="0">
              <a:latin typeface="Montserrat Light" panose="0000040000000000000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>
                <a:latin typeface="Montserrat Light" panose="00000400000000000000"/>
              </a:rPr>
              <a:t>Эту сеть можно увидеть в общем списке по команде </a:t>
            </a:r>
            <a:r>
              <a:rPr lang="ru-RU" altLang="ru-RU" sz="2000" b="1" dirty="0" err="1">
                <a:latin typeface="Montserrat Light" panose="00000400000000000000"/>
              </a:rPr>
              <a:t>docker</a:t>
            </a:r>
            <a:r>
              <a:rPr lang="ru-RU" altLang="ru-RU" sz="2000" b="1" dirty="0">
                <a:latin typeface="Montserrat Light" panose="00000400000000000000"/>
              </a:rPr>
              <a:t> </a:t>
            </a:r>
            <a:r>
              <a:rPr lang="ru-RU" altLang="ru-RU" sz="2000" b="1" dirty="0" err="1">
                <a:latin typeface="Montserrat Light" panose="00000400000000000000"/>
              </a:rPr>
              <a:t>network</a:t>
            </a:r>
            <a:r>
              <a:rPr lang="ru-RU" altLang="ru-RU" sz="2000" b="1" dirty="0">
                <a:latin typeface="Montserrat Light" panose="00000400000000000000"/>
              </a:rPr>
              <a:t> </a:t>
            </a:r>
            <a:r>
              <a:rPr lang="ru-RU" altLang="ru-RU" sz="2000" b="1" dirty="0" err="1">
                <a:latin typeface="Montserrat Light" panose="00000400000000000000"/>
              </a:rPr>
              <a:t>ls</a:t>
            </a:r>
            <a:r>
              <a:rPr lang="ru-RU" altLang="ru-RU" sz="2000" b="1" dirty="0">
                <a:latin typeface="Montserrat Light" panose="00000400000000000000"/>
              </a:rPr>
              <a:t>: </a:t>
            </a:r>
          </a:p>
        </p:txBody>
      </p:sp>
      <p:pic>
        <p:nvPicPr>
          <p:cNvPr id="3077" name="Picture 5" descr="docker network l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5426" y="4023334"/>
            <a:ext cx="9527442" cy="1975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8051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Сети типа мост (</a:t>
            </a:r>
            <a:r>
              <a:rPr lang="en-US" sz="3200" dirty="0">
                <a:latin typeface="Montserrat" pitchFamily="2" charset="0"/>
              </a:rPr>
              <a:t>bridge)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1844" y="1484486"/>
            <a:ext cx="10515600" cy="844244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400" dirty="0" smtClean="0">
                <a:solidFill>
                  <a:srgbClr val="333333"/>
                </a:solidFill>
                <a:latin typeface="Montserrat Light" panose="00000400000000000000"/>
              </a:rPr>
              <a:t>Чтобы </a:t>
            </a:r>
            <a:r>
              <a:rPr lang="ru-RU" altLang="ru-RU" sz="2400" dirty="0">
                <a:solidFill>
                  <a:srgbClr val="333333"/>
                </a:solidFill>
                <a:latin typeface="Montserrat Light" panose="00000400000000000000"/>
              </a:rPr>
              <a:t>проинспектировать ее свойства, запустим команду </a:t>
            </a:r>
            <a:r>
              <a:rPr lang="ru-RU" altLang="ru-RU" sz="2400" b="1" dirty="0" err="1">
                <a:solidFill>
                  <a:srgbClr val="333333"/>
                </a:solidFill>
                <a:latin typeface="Montserrat Light" panose="00000400000000000000"/>
              </a:rPr>
              <a:t>docker</a:t>
            </a:r>
            <a:r>
              <a:rPr lang="ru-RU" altLang="ru-RU" sz="2400" b="1" dirty="0">
                <a:solidFill>
                  <a:srgbClr val="333333"/>
                </a:solidFill>
                <a:latin typeface="Montserrat Light" panose="00000400000000000000"/>
              </a:rPr>
              <a:t> </a:t>
            </a:r>
            <a:r>
              <a:rPr lang="ru-RU" altLang="ru-RU" sz="2400" b="1" dirty="0" err="1">
                <a:solidFill>
                  <a:srgbClr val="333333"/>
                </a:solidFill>
                <a:latin typeface="Montserrat Light" panose="00000400000000000000"/>
              </a:rPr>
              <a:t>network</a:t>
            </a:r>
            <a:r>
              <a:rPr lang="ru-RU" altLang="ru-RU" sz="2400" b="1" dirty="0">
                <a:solidFill>
                  <a:srgbClr val="333333"/>
                </a:solidFill>
                <a:latin typeface="Montserrat Light" panose="00000400000000000000"/>
              </a:rPr>
              <a:t> </a:t>
            </a:r>
            <a:r>
              <a:rPr lang="ru-RU" altLang="ru-RU" sz="2400" b="1" dirty="0" err="1">
                <a:solidFill>
                  <a:srgbClr val="333333"/>
                </a:solidFill>
                <a:latin typeface="Montserrat Light" panose="00000400000000000000"/>
              </a:rPr>
              <a:t>inspect</a:t>
            </a:r>
            <a:r>
              <a:rPr lang="ru-RU" altLang="ru-RU" sz="2400" b="1" dirty="0">
                <a:solidFill>
                  <a:srgbClr val="333333"/>
                </a:solidFill>
                <a:latin typeface="Montserrat Light" panose="00000400000000000000"/>
              </a:rPr>
              <a:t> </a:t>
            </a:r>
            <a:r>
              <a:rPr lang="ru-RU" altLang="ru-RU" sz="2400" b="1" dirty="0" err="1">
                <a:solidFill>
                  <a:srgbClr val="333333"/>
                </a:solidFill>
                <a:latin typeface="Montserrat Light" panose="00000400000000000000"/>
              </a:rPr>
              <a:t>bridge</a:t>
            </a:r>
            <a:r>
              <a:rPr lang="ru-RU" altLang="ru-RU" sz="2400" dirty="0">
                <a:solidFill>
                  <a:srgbClr val="333333"/>
                </a:solidFill>
                <a:latin typeface="Montserrat Light" panose="00000400000000000000"/>
              </a:rPr>
              <a:t>: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ru-RU" sz="2400" dirty="0" smtClean="0">
              <a:solidFill>
                <a:srgbClr val="333333"/>
              </a:solidFill>
              <a:latin typeface="Montserrat Light" panose="0000040000000000000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1200" dirty="0">
                <a:latin typeface="Montserrat Light" panose="00000400000000000000"/>
              </a:rPr>
              <a:t/>
            </a:r>
            <a:br>
              <a:rPr lang="ru-RU" altLang="ru-RU" sz="1200" dirty="0">
                <a:latin typeface="Montserrat Light" panose="00000400000000000000"/>
              </a:rPr>
            </a:br>
            <a:endParaRPr lang="ru-RU" altLang="ru-RU" sz="3600" dirty="0">
              <a:latin typeface="Montserrat Light" panose="00000400000000000000"/>
            </a:endParaRPr>
          </a:p>
        </p:txBody>
      </p:sp>
      <p:pic>
        <p:nvPicPr>
          <p:cNvPr id="5123" name="Picture 3" descr="docker network inspect brid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6602" y="2328730"/>
            <a:ext cx="4578795" cy="3842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2785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Сети типа мост (</a:t>
            </a:r>
            <a:r>
              <a:rPr lang="en-US" sz="3200" dirty="0">
                <a:latin typeface="Montserrat" pitchFamily="2" charset="0"/>
              </a:rPr>
              <a:t>bridge)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8490"/>
            <a:ext cx="10515600" cy="4369383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400" dirty="0" smtClean="0">
                <a:solidFill>
                  <a:srgbClr val="333333"/>
                </a:solidFill>
                <a:latin typeface="Montserrat Light" panose="00000400000000000000"/>
              </a:rPr>
              <a:t>Вы </a:t>
            </a:r>
            <a:r>
              <a:rPr lang="ru-RU" altLang="ru-RU" sz="2400" dirty="0">
                <a:solidFill>
                  <a:srgbClr val="333333"/>
                </a:solidFill>
                <a:latin typeface="Montserrat Light" panose="00000400000000000000"/>
              </a:rPr>
              <a:t>также можете создать свои собственные </a:t>
            </a:r>
            <a:r>
              <a:rPr lang="ru-RU" altLang="ru-RU" sz="2400" dirty="0" err="1">
                <a:solidFill>
                  <a:srgbClr val="333333"/>
                </a:solidFill>
                <a:latin typeface="Montserrat Light" panose="00000400000000000000"/>
              </a:rPr>
              <a:t>bridge</a:t>
            </a:r>
            <a:r>
              <a:rPr lang="ru-RU" altLang="ru-RU" sz="2400" dirty="0">
                <a:solidFill>
                  <a:srgbClr val="333333"/>
                </a:solidFill>
                <a:latin typeface="Montserrat Light" panose="00000400000000000000"/>
              </a:rPr>
              <a:t>-сети при помощи команды </a:t>
            </a:r>
            <a:r>
              <a:rPr lang="ru-RU" altLang="ru-RU" sz="2400" b="1" dirty="0" err="1">
                <a:solidFill>
                  <a:srgbClr val="333333"/>
                </a:solidFill>
                <a:latin typeface="Montserrat Light" panose="00000400000000000000"/>
              </a:rPr>
              <a:t>docker</a:t>
            </a:r>
            <a:r>
              <a:rPr lang="ru-RU" altLang="ru-RU" sz="2400" b="1" dirty="0">
                <a:solidFill>
                  <a:srgbClr val="333333"/>
                </a:solidFill>
                <a:latin typeface="Montserrat Light" panose="00000400000000000000"/>
              </a:rPr>
              <a:t> </a:t>
            </a:r>
            <a:r>
              <a:rPr lang="ru-RU" altLang="ru-RU" sz="2400" b="1" dirty="0" err="1">
                <a:solidFill>
                  <a:srgbClr val="333333"/>
                </a:solidFill>
                <a:latin typeface="Montserrat Light" panose="00000400000000000000"/>
              </a:rPr>
              <a:t>network</a:t>
            </a:r>
            <a:r>
              <a:rPr lang="ru-RU" altLang="ru-RU" sz="2400" b="1" dirty="0">
                <a:solidFill>
                  <a:srgbClr val="333333"/>
                </a:solidFill>
                <a:latin typeface="Montserrat Light" panose="00000400000000000000"/>
              </a:rPr>
              <a:t> </a:t>
            </a:r>
            <a:r>
              <a:rPr lang="ru-RU" altLang="ru-RU" sz="2400" b="1" dirty="0" err="1">
                <a:solidFill>
                  <a:srgbClr val="333333"/>
                </a:solidFill>
                <a:latin typeface="Montserrat Light" panose="00000400000000000000"/>
              </a:rPr>
              <a:t>create</a:t>
            </a:r>
            <a:r>
              <a:rPr lang="ru-RU" altLang="ru-RU" sz="2400" dirty="0">
                <a:solidFill>
                  <a:srgbClr val="333333"/>
                </a:solidFill>
                <a:latin typeface="Montserrat Light" panose="00000400000000000000"/>
              </a:rPr>
              <a:t>, указав опцию </a:t>
            </a:r>
            <a:r>
              <a:rPr lang="ru-RU" altLang="ru-RU" sz="2400" b="1" dirty="0">
                <a:solidFill>
                  <a:srgbClr val="333333"/>
                </a:solidFill>
                <a:latin typeface="Montserrat Light" panose="00000400000000000000"/>
              </a:rPr>
              <a:t>--</a:t>
            </a:r>
            <a:r>
              <a:rPr lang="ru-RU" altLang="ru-RU" sz="2400" b="1" dirty="0" err="1">
                <a:solidFill>
                  <a:srgbClr val="333333"/>
                </a:solidFill>
                <a:latin typeface="Montserrat Light" panose="00000400000000000000"/>
              </a:rPr>
              <a:t>driver</a:t>
            </a:r>
            <a:r>
              <a:rPr lang="ru-RU" altLang="ru-RU" sz="2400" b="1" dirty="0">
                <a:solidFill>
                  <a:srgbClr val="333333"/>
                </a:solidFill>
                <a:latin typeface="Montserrat Light" panose="00000400000000000000"/>
              </a:rPr>
              <a:t> </a:t>
            </a:r>
            <a:r>
              <a:rPr lang="ru-RU" altLang="ru-RU" sz="2400" b="1" dirty="0" err="1">
                <a:solidFill>
                  <a:srgbClr val="333333"/>
                </a:solidFill>
                <a:latin typeface="Montserrat Light" panose="00000400000000000000"/>
              </a:rPr>
              <a:t>bridge</a:t>
            </a:r>
            <a:r>
              <a:rPr lang="ru-RU" altLang="ru-RU" sz="2400" b="1" dirty="0" smtClean="0">
                <a:solidFill>
                  <a:srgbClr val="333333"/>
                </a:solidFill>
                <a:latin typeface="Montserrat Light" panose="00000400000000000000"/>
              </a:rPr>
              <a:t>.</a:t>
            </a:r>
            <a:endParaRPr lang="en-US" altLang="ru-RU" sz="2400" b="1" dirty="0" smtClean="0">
              <a:solidFill>
                <a:srgbClr val="333333"/>
              </a:solidFill>
              <a:latin typeface="Montserrat Light" panose="0000040000000000000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ru-RU" sz="2400" b="1" dirty="0">
              <a:solidFill>
                <a:srgbClr val="333333"/>
              </a:solidFill>
              <a:latin typeface="Montserrat Light" panose="0000040000000000000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ru-RU" sz="2400" b="1" dirty="0" smtClean="0">
              <a:solidFill>
                <a:srgbClr val="333333"/>
              </a:solidFill>
              <a:latin typeface="Montserrat Light" panose="0000040000000000000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400" dirty="0" smtClean="0">
                <a:solidFill>
                  <a:srgbClr val="333333"/>
                </a:solidFill>
                <a:latin typeface="Montserrat Light" panose="00000400000000000000"/>
              </a:rPr>
              <a:t>Команда</a:t>
            </a:r>
            <a:r>
              <a:rPr lang="ru-RU" altLang="ru-RU" sz="2400" dirty="0">
                <a:solidFill>
                  <a:srgbClr val="333333"/>
                </a:solidFill>
                <a:latin typeface="Montserrat Light" panose="00000400000000000000"/>
              </a:rPr>
              <a:t> </a:t>
            </a:r>
            <a:r>
              <a:rPr lang="en-US" altLang="ru-RU" sz="2400" b="1" dirty="0" err="1">
                <a:solidFill>
                  <a:srgbClr val="333333"/>
                </a:solidFill>
                <a:latin typeface="Montserrat Light" panose="00000400000000000000"/>
              </a:rPr>
              <a:t>docker</a:t>
            </a:r>
            <a:r>
              <a:rPr lang="en-US" altLang="ru-RU" sz="2400" b="1" dirty="0">
                <a:solidFill>
                  <a:srgbClr val="333333"/>
                </a:solidFill>
                <a:latin typeface="Montserrat Light" panose="00000400000000000000"/>
              </a:rPr>
              <a:t> network create --driver bridge --subnet 192.168.100.0/24 --</a:t>
            </a:r>
            <a:r>
              <a:rPr lang="en-US" altLang="ru-RU" sz="2400" b="1" dirty="0" err="1">
                <a:solidFill>
                  <a:srgbClr val="333333"/>
                </a:solidFill>
                <a:latin typeface="Montserrat Light" panose="00000400000000000000"/>
              </a:rPr>
              <a:t>ip</a:t>
            </a:r>
            <a:r>
              <a:rPr lang="en-US" altLang="ru-RU" sz="2400" b="1" dirty="0">
                <a:solidFill>
                  <a:srgbClr val="333333"/>
                </a:solidFill>
                <a:latin typeface="Montserrat Light" panose="00000400000000000000"/>
              </a:rPr>
              <a:t>-range 192.168.100.0/24 my-bridge-network</a:t>
            </a:r>
            <a:r>
              <a:rPr lang="en-US" altLang="ru-RU" sz="2400" dirty="0">
                <a:solidFill>
                  <a:srgbClr val="333333"/>
                </a:solidFill>
                <a:latin typeface="Montserrat Light" panose="00000400000000000000"/>
              </a:rPr>
              <a:t> </a:t>
            </a:r>
            <a:r>
              <a:rPr lang="ru-RU" altLang="ru-RU" sz="2400" dirty="0">
                <a:solidFill>
                  <a:srgbClr val="333333"/>
                </a:solidFill>
                <a:latin typeface="Montserrat Light" panose="00000400000000000000"/>
              </a:rPr>
              <a:t>создает еще одну </a:t>
            </a:r>
            <a:r>
              <a:rPr lang="en-US" altLang="ru-RU" sz="2400" dirty="0">
                <a:solidFill>
                  <a:srgbClr val="333333"/>
                </a:solidFill>
                <a:latin typeface="Montserrat Light" panose="00000400000000000000"/>
              </a:rPr>
              <a:t>bridge-</a:t>
            </a:r>
            <a:r>
              <a:rPr lang="ru-RU" altLang="ru-RU" sz="2400" dirty="0">
                <a:solidFill>
                  <a:srgbClr val="333333"/>
                </a:solidFill>
                <a:latin typeface="Montserrat Light" panose="00000400000000000000"/>
              </a:rPr>
              <a:t>сеть с именем “</a:t>
            </a:r>
            <a:r>
              <a:rPr lang="en-US" altLang="ru-RU" sz="2400" dirty="0">
                <a:solidFill>
                  <a:srgbClr val="333333"/>
                </a:solidFill>
                <a:latin typeface="Montserrat Light" panose="00000400000000000000"/>
              </a:rPr>
              <a:t>my-bridge-network” </a:t>
            </a:r>
            <a:r>
              <a:rPr lang="ru-RU" altLang="ru-RU" sz="2400" dirty="0">
                <a:solidFill>
                  <a:srgbClr val="333333"/>
                </a:solidFill>
                <a:latin typeface="Montserrat Light" panose="00000400000000000000"/>
              </a:rPr>
              <a:t>и подсетью 192.168.100.0/24.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400" b="1" dirty="0" smtClean="0">
                <a:solidFill>
                  <a:srgbClr val="333333"/>
                </a:solidFill>
                <a:latin typeface="Montserrat Light" panose="00000400000000000000"/>
              </a:rPr>
              <a:t/>
            </a:r>
            <a:br>
              <a:rPr lang="ru-RU" altLang="ru-RU" sz="2400" b="1" dirty="0" smtClean="0">
                <a:solidFill>
                  <a:srgbClr val="333333"/>
                </a:solidFill>
                <a:latin typeface="Montserrat Light" panose="00000400000000000000"/>
              </a:rPr>
            </a:br>
            <a:endParaRPr lang="ru-RU" altLang="ru-RU" sz="2400" b="1" dirty="0" smtClean="0">
              <a:solidFill>
                <a:srgbClr val="333333"/>
              </a:solidFill>
              <a:latin typeface="Montserrat Light" panose="0000040000000000000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ru-RU" sz="2400" dirty="0" smtClean="0">
              <a:solidFill>
                <a:srgbClr val="333333"/>
              </a:solidFill>
              <a:latin typeface="Montserrat Light" panose="0000040000000000000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ru-RU" altLang="ru-RU" sz="2400" dirty="0">
              <a:solidFill>
                <a:srgbClr val="333333"/>
              </a:solidFill>
              <a:latin typeface="Montserrat Light" panose="000004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1709172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Bridge-</a:t>
            </a:r>
            <a:r>
              <a:rPr lang="ru-RU" dirty="0"/>
              <a:t>интерфейсы в </a:t>
            </a:r>
            <a:r>
              <a:rPr lang="en-US" dirty="0" smtClean="0"/>
              <a:t>Linux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8490"/>
            <a:ext cx="10515600" cy="2292755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400" dirty="0">
                <a:latin typeface="Montserrat Light" panose="00000400000000000000"/>
              </a:rPr>
              <a:t>Каждая </a:t>
            </a:r>
            <a:r>
              <a:rPr lang="ru-RU" altLang="ru-RU" sz="2400" dirty="0" err="1">
                <a:latin typeface="Montserrat Light" panose="00000400000000000000"/>
              </a:rPr>
              <a:t>bridge</a:t>
            </a:r>
            <a:r>
              <a:rPr lang="ru-RU" altLang="ru-RU" sz="2400" dirty="0">
                <a:latin typeface="Montserrat Light" panose="00000400000000000000"/>
              </a:rPr>
              <a:t>-сеть имеет свое представление в виде интерфейса на хосте. С сетью “</a:t>
            </a:r>
            <a:r>
              <a:rPr lang="ru-RU" altLang="ru-RU" sz="2400" dirty="0" err="1">
                <a:latin typeface="Montserrat Light" panose="00000400000000000000"/>
              </a:rPr>
              <a:t>bridge</a:t>
            </a:r>
            <a:r>
              <a:rPr lang="ru-RU" altLang="ru-RU" sz="2400" dirty="0">
                <a:latin typeface="Montserrat Light" panose="00000400000000000000"/>
              </a:rPr>
              <a:t>”, которая стоит по умолчанию, обычно ассоциируется интерфейс docker0, и с каждой новой сетью, которая создается при помощи команды</a:t>
            </a:r>
            <a:r>
              <a:rPr lang="ru-RU" altLang="ru-RU" sz="2400" b="1" dirty="0">
                <a:latin typeface="Montserrat Light" panose="00000400000000000000"/>
              </a:rPr>
              <a:t> </a:t>
            </a:r>
            <a:r>
              <a:rPr lang="ru-RU" altLang="ru-RU" sz="2400" b="1" dirty="0" err="1">
                <a:latin typeface="Montserrat Light" panose="00000400000000000000"/>
              </a:rPr>
              <a:t>docker</a:t>
            </a:r>
            <a:r>
              <a:rPr lang="ru-RU" altLang="ru-RU" sz="2400" b="1" dirty="0">
                <a:latin typeface="Montserrat Light" panose="00000400000000000000"/>
              </a:rPr>
              <a:t> </a:t>
            </a:r>
            <a:r>
              <a:rPr lang="ru-RU" altLang="ru-RU" sz="2400" b="1" dirty="0" err="1">
                <a:latin typeface="Montserrat Light" panose="00000400000000000000"/>
              </a:rPr>
              <a:t>network</a:t>
            </a:r>
            <a:r>
              <a:rPr lang="ru-RU" altLang="ru-RU" sz="2400" b="1" dirty="0">
                <a:latin typeface="Montserrat Light" panose="00000400000000000000"/>
              </a:rPr>
              <a:t> </a:t>
            </a:r>
            <a:r>
              <a:rPr lang="ru-RU" altLang="ru-RU" sz="2400" b="1" dirty="0" err="1">
                <a:latin typeface="Montserrat Light" panose="00000400000000000000"/>
              </a:rPr>
              <a:t>create</a:t>
            </a:r>
            <a:r>
              <a:rPr lang="ru-RU" altLang="ru-RU" sz="2400" dirty="0">
                <a:latin typeface="Montserrat Light" panose="00000400000000000000"/>
              </a:rPr>
              <a:t>, будет ассоциироваться свой собственный новый интерфейс.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ru-RU" altLang="ru-RU" sz="3600" dirty="0">
              <a:latin typeface="Montserrat Light" panose="00000400000000000000"/>
            </a:endParaRPr>
          </a:p>
        </p:txBody>
      </p:sp>
      <p:pic>
        <p:nvPicPr>
          <p:cNvPr id="6148" name="Picture 4" descr="ifconfig docker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1812" y="3970337"/>
            <a:ext cx="8908376" cy="2062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5494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И</a:t>
            </a:r>
            <a:r>
              <a:rPr lang="ru-RU" sz="3200" dirty="0" smtClean="0">
                <a:latin typeface="Montserrat" pitchFamily="2" charset="0"/>
              </a:rPr>
              <a:t>тог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8490"/>
            <a:ext cx="10515600" cy="4351338"/>
          </a:xfrm>
        </p:spPr>
        <p:txBody>
          <a:bodyPr>
            <a:no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sz="2400" dirty="0">
                <a:solidFill>
                  <a:srgbClr val="333333"/>
                </a:solidFill>
                <a:latin typeface="Montserrat Light" panose="00000400000000000000"/>
              </a:rPr>
              <a:t>У </a:t>
            </a:r>
            <a:r>
              <a:rPr lang="ru-RU" sz="2400" dirty="0" err="1">
                <a:solidFill>
                  <a:srgbClr val="333333"/>
                </a:solidFill>
                <a:latin typeface="Montserrat Light" panose="00000400000000000000"/>
              </a:rPr>
              <a:t>bridge</a:t>
            </a:r>
            <a:r>
              <a:rPr lang="ru-RU" sz="2400" dirty="0">
                <a:solidFill>
                  <a:srgbClr val="333333"/>
                </a:solidFill>
                <a:latin typeface="Montserrat Light" panose="00000400000000000000"/>
              </a:rPr>
              <a:t>-сети есть соответствующий </a:t>
            </a:r>
            <a:r>
              <a:rPr lang="ru-RU" sz="2400" dirty="0" err="1">
                <a:solidFill>
                  <a:srgbClr val="333333"/>
                </a:solidFill>
                <a:latin typeface="Montserrat Light" panose="00000400000000000000"/>
              </a:rPr>
              <a:t>bridge</a:t>
            </a:r>
            <a:r>
              <a:rPr lang="ru-RU" sz="2400" dirty="0">
                <a:solidFill>
                  <a:srgbClr val="333333"/>
                </a:solidFill>
                <a:latin typeface="Montserrat Light" panose="00000400000000000000"/>
              </a:rPr>
              <a:t>-интерфейс в </a:t>
            </a:r>
            <a:r>
              <a:rPr lang="ru-RU" sz="2400" dirty="0" err="1">
                <a:solidFill>
                  <a:srgbClr val="333333"/>
                </a:solidFill>
                <a:latin typeface="Montserrat Light" panose="00000400000000000000"/>
              </a:rPr>
              <a:t>Linux</a:t>
            </a:r>
            <a:r>
              <a:rPr lang="ru-RU" sz="2400" dirty="0">
                <a:solidFill>
                  <a:srgbClr val="333333"/>
                </a:solidFill>
                <a:latin typeface="Montserrat Light" panose="00000400000000000000"/>
              </a:rPr>
              <a:t> на хосте, который действует как </a:t>
            </a:r>
            <a:r>
              <a:rPr lang="ru-RU" sz="2400" dirty="0" smtClean="0">
                <a:solidFill>
                  <a:srgbClr val="333333"/>
                </a:solidFill>
                <a:latin typeface="Montserrat Light" panose="00000400000000000000"/>
              </a:rPr>
              <a:t>layer2</a:t>
            </a:r>
            <a:r>
              <a:rPr lang="en-US" sz="2400" dirty="0" smtClean="0">
                <a:solidFill>
                  <a:srgbClr val="333333"/>
                </a:solidFill>
                <a:latin typeface="Montserrat Light" panose="00000400000000000000"/>
              </a:rPr>
              <a:t> </a:t>
            </a:r>
            <a:r>
              <a:rPr lang="en-US" sz="2400" dirty="0" err="1" smtClean="0">
                <a:solidFill>
                  <a:srgbClr val="333333"/>
                </a:solidFill>
                <a:latin typeface="Montserrat Light" panose="00000400000000000000"/>
              </a:rPr>
              <a:t>swicth</a:t>
            </a:r>
            <a:r>
              <a:rPr lang="ru-RU" sz="2400" dirty="0" smtClean="0">
                <a:solidFill>
                  <a:srgbClr val="333333"/>
                </a:solidFill>
                <a:latin typeface="Montserrat Light" panose="00000400000000000000"/>
              </a:rPr>
              <a:t> </a:t>
            </a:r>
            <a:r>
              <a:rPr lang="ru-RU" sz="2400" dirty="0">
                <a:solidFill>
                  <a:srgbClr val="333333"/>
                </a:solidFill>
                <a:latin typeface="Montserrat Light" panose="00000400000000000000"/>
              </a:rPr>
              <a:t>и который соединяет разные контейнеры одной подсети</a:t>
            </a:r>
            <a:r>
              <a:rPr lang="ru-RU" sz="2400" dirty="0" smtClean="0">
                <a:solidFill>
                  <a:srgbClr val="333333"/>
                </a:solidFill>
                <a:latin typeface="Montserrat Light" panose="00000400000000000000"/>
              </a:rPr>
              <a:t>.</a:t>
            </a:r>
            <a:endParaRPr lang="en-US" sz="2400" dirty="0" smtClean="0">
              <a:solidFill>
                <a:srgbClr val="333333"/>
              </a:solidFill>
              <a:latin typeface="Montserrat Light" panose="0000040000000000000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ru-RU" sz="2400" dirty="0">
              <a:solidFill>
                <a:srgbClr val="333333"/>
              </a:solidFill>
              <a:latin typeface="Montserrat Light" panose="0000040000000000000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400" dirty="0">
                <a:latin typeface="Montserrat Light" panose="00000400000000000000"/>
              </a:rPr>
              <a:t>У каждого интерфейса сети есть соответствующий виртуальный интерфейс на хосте, который создается во время работы контейнера</a:t>
            </a:r>
            <a:r>
              <a:rPr lang="ru-RU" altLang="ru-RU" sz="2400" dirty="0" smtClean="0">
                <a:latin typeface="Montserrat Light" panose="0000040000000000000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ru-RU" altLang="ru-RU" sz="2400" dirty="0">
              <a:latin typeface="Montserrat Light" panose="0000040000000000000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400" dirty="0">
                <a:latin typeface="Montserrat Light" panose="00000400000000000000"/>
              </a:rPr>
              <a:t>Контейнеры, которые обмениваются данными с внешним миром через </a:t>
            </a:r>
            <a:r>
              <a:rPr lang="ru-RU" altLang="ru-RU" sz="2400" dirty="0" err="1">
                <a:latin typeface="Montserrat Light" panose="00000400000000000000"/>
              </a:rPr>
              <a:t>bridge</a:t>
            </a:r>
            <a:r>
              <a:rPr lang="ru-RU" altLang="ru-RU" sz="2400" dirty="0">
                <a:latin typeface="Montserrat Light" panose="00000400000000000000"/>
              </a:rPr>
              <a:t>-интерфейс, прячут свой IP за адресом хоста. Для этого добавляются необходимые правила </a:t>
            </a:r>
            <a:r>
              <a:rPr lang="ru-RU" altLang="ru-RU" sz="2400" dirty="0" err="1">
                <a:latin typeface="Montserrat Light" panose="00000400000000000000"/>
              </a:rPr>
              <a:t>nat</a:t>
            </a:r>
            <a:r>
              <a:rPr lang="ru-RU" altLang="ru-RU" sz="2400" dirty="0">
                <a:latin typeface="Montserrat Light" panose="00000400000000000000"/>
              </a:rPr>
              <a:t>-таблицу в </a:t>
            </a:r>
            <a:r>
              <a:rPr lang="ru-RU" altLang="ru-RU" sz="2400" dirty="0" err="1">
                <a:latin typeface="Montserrat Light" panose="00000400000000000000"/>
              </a:rPr>
              <a:t>iptables</a:t>
            </a:r>
            <a:r>
              <a:rPr lang="ru-RU" altLang="ru-RU" sz="2400" dirty="0">
                <a:latin typeface="Montserrat Light" panose="0000040000000000000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68373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04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829571C-1045-174A-AFAB-65AE5CF453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/>
          <a:p>
            <a:r>
              <a:rPr lang="en-US" sz="4300" dirty="0" smtClean="0">
                <a:latin typeface="Montserrat" pitchFamily="2" charset="0"/>
                <a:cs typeface="Times New Roman" panose="02020603050405020304" pitchFamily="18" charset="0"/>
              </a:rPr>
              <a:t>Docker volumes</a:t>
            </a:r>
            <a:endParaRPr lang="ru-RU" sz="4300" dirty="0">
              <a:latin typeface="Montserrat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4526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Введение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8490"/>
            <a:ext cx="10515600" cy="4351338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>
                <a:latin typeface="Montserrat Light" panose="00000400000000000000"/>
              </a:rPr>
              <a:t>В контейнерах </a:t>
            </a:r>
            <a:r>
              <a:rPr lang="ru-RU" sz="2400" dirty="0" err="1">
                <a:latin typeface="Montserrat Light" panose="00000400000000000000"/>
              </a:rPr>
              <a:t>Docker</a:t>
            </a:r>
            <a:r>
              <a:rPr lang="ru-RU" sz="2400" dirty="0">
                <a:latin typeface="Montserrat Light" panose="00000400000000000000"/>
              </a:rPr>
              <a:t> организовать работу с временными данными можно двумя </a:t>
            </a:r>
            <a:r>
              <a:rPr lang="ru-RU" sz="2400" dirty="0" smtClean="0">
                <a:latin typeface="Montserrat Light" panose="00000400000000000000"/>
              </a:rPr>
              <a:t>способами</a:t>
            </a:r>
            <a:r>
              <a:rPr lang="en-US" sz="2400" dirty="0" smtClean="0">
                <a:latin typeface="Montserrat Light" panose="00000400000000000000"/>
              </a:rPr>
              <a:t>:</a:t>
            </a:r>
            <a:r>
              <a:rPr lang="ru-RU" sz="3200" dirty="0">
                <a:latin typeface="Montserrat Light" panose="00000400000000000000"/>
              </a:rPr>
              <a:t/>
            </a:r>
            <a:br>
              <a:rPr lang="ru-RU" sz="3200" dirty="0">
                <a:latin typeface="Montserrat Light" panose="00000400000000000000"/>
              </a:rPr>
            </a:br>
            <a:endParaRPr lang="en-US" sz="3200" dirty="0" smtClean="0">
              <a:latin typeface="Montserrat Light" panose="0000040000000000000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sz="2400" dirty="0" smtClean="0">
                <a:latin typeface="Montserrat Light" panose="00000400000000000000"/>
              </a:rPr>
              <a:t>По </a:t>
            </a:r>
            <a:r>
              <a:rPr lang="ru-RU" sz="2400" dirty="0">
                <a:latin typeface="Montserrat Light" panose="00000400000000000000"/>
              </a:rPr>
              <a:t>умолчанию файлы, создаваемые приложением, работающим в контейнере, сохраняются в слое контейнера, поддерживающем запись. Для того чтобы этот механизм работал, ничего специально настраивать не нужно. Получается дёшево и сердито. Приложению достаточно просто сохранить данные и продолжить заниматься своими делами. Однако после того как контейнер перестанет существовать, исчезнут и данные, сохранённые таким вот нехитрым способом</a:t>
            </a:r>
            <a:r>
              <a:rPr lang="ru-RU" sz="2400" dirty="0" smtClean="0">
                <a:latin typeface="Montserrat Light" panose="00000400000000000000"/>
              </a:rPr>
              <a:t>.</a:t>
            </a:r>
            <a:endParaRPr lang="en-US" sz="2400" dirty="0" smtClean="0">
              <a:latin typeface="Montserrat Light" panose="0000040000000000000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 smtClean="0">
              <a:latin typeface="Montserrat Light" panose="000004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2853171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Введение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8490"/>
            <a:ext cx="10515600" cy="4351338"/>
          </a:xfrm>
        </p:spPr>
        <p:txBody>
          <a:bodyPr>
            <a:no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sz="2000" dirty="0">
                <a:latin typeface="Montserrat Light" panose="00000400000000000000"/>
              </a:rPr>
              <a:t>Для хранения временных файлов в </a:t>
            </a:r>
            <a:r>
              <a:rPr lang="ru-RU" sz="2000" b="1" dirty="0" err="1">
                <a:latin typeface="Montserrat Light" panose="00000400000000000000"/>
              </a:rPr>
              <a:t>Docker</a:t>
            </a:r>
            <a:r>
              <a:rPr lang="ru-RU" sz="2000" dirty="0">
                <a:latin typeface="Montserrat Light" panose="00000400000000000000"/>
              </a:rPr>
              <a:t> можно воспользоваться ещё одним решением, подходящим для тех случаев, когда требуется более высокий уровень производительности, в сравнении с тем, который достижим при использовании стандартного механизма временного хранения данных. Если вам не нужно, чтобы ваши данные хранились бы дольше, чем существует контейнер, вы можете подключить к контейнеру </a:t>
            </a:r>
            <a:r>
              <a:rPr lang="ru-RU" sz="2000" dirty="0" err="1">
                <a:latin typeface="Montserrat Light" panose="00000400000000000000"/>
              </a:rPr>
              <a:t>tmpfs</a:t>
            </a:r>
            <a:r>
              <a:rPr lang="ru-RU" sz="2000" dirty="0">
                <a:latin typeface="Montserrat Light" panose="00000400000000000000"/>
              </a:rPr>
              <a:t> — временное хранилище информации, которое использует оперативную память хоста. Это позволит ускорить выполнение операций по записи и чтению данных.</a:t>
            </a:r>
            <a:r>
              <a:rPr lang="ru-RU" dirty="0">
                <a:latin typeface="Montserrat Light" panose="00000400000000000000"/>
              </a:rPr>
              <a:t/>
            </a:r>
            <a:br>
              <a:rPr lang="ru-RU" dirty="0">
                <a:latin typeface="Montserrat Light" panose="00000400000000000000"/>
              </a:rPr>
            </a:br>
            <a:r>
              <a:rPr lang="ru-RU" dirty="0">
                <a:latin typeface="Montserrat Light" panose="00000400000000000000"/>
              </a:rPr>
              <a:t/>
            </a:r>
            <a:br>
              <a:rPr lang="ru-RU" dirty="0">
                <a:latin typeface="Montserrat Light" panose="00000400000000000000"/>
              </a:rPr>
            </a:br>
            <a:r>
              <a:rPr lang="ru-RU" sz="2000" dirty="0">
                <a:latin typeface="Montserrat Light" panose="00000400000000000000"/>
              </a:rPr>
              <a:t>Часто бывает так, что данные нужно хранить и после того, как контейнер прекратит существовать. Для этого нам пригодятся механизмы постоянного хранения данных.</a:t>
            </a:r>
            <a:endParaRPr lang="ru-RU" altLang="ru-RU" dirty="0">
              <a:latin typeface="Montserrat Light" panose="000004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2004449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>
            <a:normAutofit/>
          </a:bodyPr>
          <a:lstStyle/>
          <a:p>
            <a:pPr algn="ctr"/>
            <a:r>
              <a:rPr lang="ru-RU" dirty="0"/>
              <a:t>Постоянное хранение </a:t>
            </a:r>
            <a:r>
              <a:rPr lang="ru-RU" dirty="0" smtClean="0"/>
              <a:t>данных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8490"/>
            <a:ext cx="10515600" cy="2258572"/>
          </a:xfrm>
        </p:spPr>
        <p:txBody>
          <a:bodyPr>
            <a:no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>
                <a:latin typeface="Montserrat Light" panose="00000400000000000000"/>
              </a:rPr>
              <a:t>Существуют два способа, позволяющих сделать срок жизни данных большим срока жизни контейнера. Один из способов заключается в использовании технологии </a:t>
            </a:r>
            <a:r>
              <a:rPr lang="ru-RU" altLang="ru-RU" sz="2000" dirty="0" err="1">
                <a:latin typeface="Montserrat Light" panose="00000400000000000000"/>
              </a:rPr>
              <a:t>bind</a:t>
            </a:r>
            <a:r>
              <a:rPr lang="ru-RU" altLang="ru-RU" sz="2000" dirty="0">
                <a:latin typeface="Montserrat Light" panose="00000400000000000000"/>
              </a:rPr>
              <a:t> </a:t>
            </a:r>
            <a:r>
              <a:rPr lang="ru-RU" altLang="ru-RU" sz="2000" dirty="0" err="1">
                <a:latin typeface="Montserrat Light" panose="00000400000000000000"/>
              </a:rPr>
              <a:t>mount</a:t>
            </a:r>
            <a:r>
              <a:rPr lang="ru-RU" altLang="ru-RU" sz="2000" dirty="0">
                <a:latin typeface="Montserrat Light" panose="00000400000000000000"/>
              </a:rPr>
              <a:t>. При таком подходе к контейнеру можно </a:t>
            </a:r>
            <a:r>
              <a:rPr lang="ru-RU" altLang="ru-RU" sz="2000" dirty="0" err="1">
                <a:latin typeface="Montserrat Light" panose="00000400000000000000"/>
              </a:rPr>
              <a:t>примонтировать</a:t>
            </a:r>
            <a:r>
              <a:rPr lang="ru-RU" altLang="ru-RU" sz="2000" dirty="0">
                <a:latin typeface="Montserrat Light" panose="00000400000000000000"/>
              </a:rPr>
              <a:t>, например, реально существующую папку. Работать с данными, хранящимися в такой папке, смогут и процессы, находящиеся за пределами </a:t>
            </a:r>
            <a:r>
              <a:rPr lang="ru-RU" altLang="ru-RU" sz="2000" dirty="0" err="1">
                <a:latin typeface="Montserrat Light" panose="00000400000000000000"/>
              </a:rPr>
              <a:t>Docker</a:t>
            </a:r>
            <a:r>
              <a:rPr lang="ru-RU" altLang="ru-RU" sz="2000" dirty="0">
                <a:latin typeface="Montserrat Light" panose="00000400000000000000"/>
              </a:rPr>
              <a:t>. Вот как выглядят монтирование </a:t>
            </a:r>
            <a:r>
              <a:rPr lang="ru-RU" altLang="ru-RU" sz="2000" dirty="0" err="1">
                <a:latin typeface="Montserrat Light" panose="00000400000000000000"/>
              </a:rPr>
              <a:t>tmpfs</a:t>
            </a:r>
            <a:r>
              <a:rPr lang="ru-RU" altLang="ru-RU" sz="2000" dirty="0">
                <a:latin typeface="Montserrat Light" panose="00000400000000000000"/>
              </a:rPr>
              <a:t> и технология </a:t>
            </a:r>
            <a:r>
              <a:rPr lang="ru-RU" altLang="ru-RU" sz="2000" dirty="0" err="1">
                <a:latin typeface="Montserrat Light" panose="00000400000000000000"/>
              </a:rPr>
              <a:t>bind</a:t>
            </a:r>
            <a:r>
              <a:rPr lang="ru-RU" altLang="ru-RU" sz="2000" dirty="0">
                <a:latin typeface="Montserrat Light" panose="00000400000000000000"/>
              </a:rPr>
              <a:t> </a:t>
            </a:r>
            <a:r>
              <a:rPr lang="ru-RU" altLang="ru-RU" sz="2000" dirty="0" err="1">
                <a:latin typeface="Montserrat Light" panose="00000400000000000000"/>
              </a:rPr>
              <a:t>mount</a:t>
            </a:r>
            <a:r>
              <a:rPr lang="ru-RU" altLang="ru-RU" sz="2000" dirty="0">
                <a:latin typeface="Montserrat Light" panose="00000400000000000000"/>
              </a:rPr>
              <a:t>.</a:t>
            </a:r>
          </a:p>
        </p:txBody>
      </p:sp>
      <p:pic>
        <p:nvPicPr>
          <p:cNvPr id="10242" name="Picture 2" descr="https://habrastorage.org/r/w1560/getpro/habr/post_images/29c/1ea/9a4/29c1ea9a4546930dd8d03c7c5f521cc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5225" y="3760149"/>
            <a:ext cx="4781550" cy="242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5721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/>
              <a:t>Постоянное хранение данных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8490"/>
            <a:ext cx="10515600" cy="4351338"/>
          </a:xfrm>
        </p:spPr>
        <p:txBody>
          <a:bodyPr>
            <a:no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dirty="0">
                <a:latin typeface="Montserrat Light" panose="00000400000000000000"/>
              </a:rPr>
              <a:t>Минусы использования технологии </a:t>
            </a:r>
            <a:r>
              <a:rPr lang="ru-RU" altLang="ru-RU" dirty="0" err="1">
                <a:latin typeface="Montserrat Light" panose="00000400000000000000"/>
              </a:rPr>
              <a:t>bind</a:t>
            </a:r>
            <a:r>
              <a:rPr lang="ru-RU" altLang="ru-RU" dirty="0">
                <a:latin typeface="Montserrat Light" panose="00000400000000000000"/>
              </a:rPr>
              <a:t> </a:t>
            </a:r>
            <a:r>
              <a:rPr lang="ru-RU" altLang="ru-RU" dirty="0" err="1">
                <a:latin typeface="Montserrat Light" panose="00000400000000000000"/>
              </a:rPr>
              <a:t>mount</a:t>
            </a:r>
            <a:r>
              <a:rPr lang="ru-RU" altLang="ru-RU" dirty="0">
                <a:latin typeface="Montserrat Light" panose="00000400000000000000"/>
              </a:rPr>
              <a:t> заключаются в том, что её использование усложняет резервное копирование данных, миграцию данных, совместное использование данных несколькими контейнерами. Гораздо лучше для постоянного хранения данных использовать тома </a:t>
            </a:r>
            <a:r>
              <a:rPr lang="ru-RU" altLang="ru-RU" dirty="0" err="1">
                <a:latin typeface="Montserrat Light" panose="00000400000000000000"/>
              </a:rPr>
              <a:t>Docker</a:t>
            </a:r>
            <a:r>
              <a:rPr lang="ru-RU" altLang="ru-RU" dirty="0">
                <a:latin typeface="Montserrat Light" panose="0000040000000000000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4306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Тома </a:t>
            </a:r>
            <a:r>
              <a:rPr lang="en-US" sz="3200" dirty="0">
                <a:latin typeface="Montserrat" pitchFamily="2" charset="0"/>
              </a:rPr>
              <a:t>Docker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8490"/>
            <a:ext cx="10515600" cy="4351338"/>
          </a:xfrm>
        </p:spPr>
        <p:txBody>
          <a:bodyPr>
            <a:noAutofit/>
          </a:bodyPr>
          <a:lstStyle/>
          <a:p>
            <a:r>
              <a:rPr lang="ru-RU" sz="1800" dirty="0">
                <a:latin typeface="Montserrat Light" panose="00000400000000000000"/>
              </a:rPr>
              <a:t>Том — это файловая система, которая расположена на хост-машине за пределами контейнеров. Созданием и управлением томами занимается </a:t>
            </a:r>
            <a:r>
              <a:rPr lang="ru-RU" sz="1800" dirty="0" err="1">
                <a:latin typeface="Montserrat Light" panose="00000400000000000000"/>
              </a:rPr>
              <a:t>Docker</a:t>
            </a:r>
            <a:r>
              <a:rPr lang="ru-RU" sz="1800" dirty="0">
                <a:latin typeface="Montserrat Light" panose="00000400000000000000"/>
              </a:rPr>
              <a:t>. Вот основные свойства томов </a:t>
            </a:r>
            <a:r>
              <a:rPr lang="ru-RU" sz="1800" dirty="0" err="1" smtClean="0">
                <a:latin typeface="Montserrat Light" panose="00000400000000000000"/>
              </a:rPr>
              <a:t>Docker</a:t>
            </a:r>
            <a:r>
              <a:rPr lang="ru-RU" sz="1800" dirty="0" smtClean="0">
                <a:latin typeface="Montserrat Light" panose="00000400000000000000"/>
              </a:rPr>
              <a:t>:</a:t>
            </a:r>
            <a:endParaRPr lang="en-US" sz="1800" dirty="0" smtClean="0">
              <a:latin typeface="Montserrat Light" panose="00000400000000000000"/>
            </a:endParaRPr>
          </a:p>
          <a:p>
            <a:endParaRPr lang="en-US" sz="1800" dirty="0">
              <a:latin typeface="Montserrat Light" panose="00000400000000000000"/>
            </a:endParaRPr>
          </a:p>
          <a:p>
            <a:r>
              <a:rPr lang="ru-RU" sz="1800" dirty="0" smtClean="0">
                <a:latin typeface="Montserrat Light" panose="00000400000000000000"/>
              </a:rPr>
              <a:t>Они </a:t>
            </a:r>
            <a:r>
              <a:rPr lang="ru-RU" sz="1800" dirty="0">
                <a:latin typeface="Montserrat Light" panose="00000400000000000000"/>
              </a:rPr>
              <a:t>представляют собой средства для постоянного хранения информации.</a:t>
            </a:r>
          </a:p>
          <a:p>
            <a:r>
              <a:rPr lang="ru-RU" sz="1800" dirty="0">
                <a:latin typeface="Montserrat Light" panose="00000400000000000000"/>
              </a:rPr>
              <a:t>Они самостоятельны и отделены от контейнеров.</a:t>
            </a:r>
          </a:p>
          <a:p>
            <a:r>
              <a:rPr lang="ru-RU" sz="1800" dirty="0">
                <a:latin typeface="Montserrat Light" panose="00000400000000000000"/>
              </a:rPr>
              <a:t>Ими могут совместно пользоваться разные контейнеры.</a:t>
            </a:r>
          </a:p>
          <a:p>
            <a:r>
              <a:rPr lang="ru-RU" sz="1800" dirty="0">
                <a:latin typeface="Montserrat Light" panose="00000400000000000000"/>
              </a:rPr>
              <a:t>Они позволяют организовать эффективное чтение и запись данных.</a:t>
            </a:r>
          </a:p>
          <a:p>
            <a:r>
              <a:rPr lang="ru-RU" sz="1800" dirty="0">
                <a:latin typeface="Montserrat Light" panose="00000400000000000000"/>
              </a:rPr>
              <a:t>Тома можно размещать на ресурсах удалённого облачного провайдера.</a:t>
            </a:r>
          </a:p>
          <a:p>
            <a:r>
              <a:rPr lang="ru-RU" sz="1800" dirty="0">
                <a:latin typeface="Montserrat Light" panose="00000400000000000000"/>
              </a:rPr>
              <a:t>Их можно шифровать.</a:t>
            </a:r>
          </a:p>
          <a:p>
            <a:r>
              <a:rPr lang="ru-RU" sz="1800" dirty="0">
                <a:latin typeface="Montserrat Light" panose="00000400000000000000"/>
              </a:rPr>
              <a:t>Им можно давать имена.</a:t>
            </a:r>
          </a:p>
          <a:p>
            <a:r>
              <a:rPr lang="ru-RU" sz="1800" dirty="0">
                <a:latin typeface="Montserrat Light" panose="00000400000000000000"/>
              </a:rPr>
              <a:t>Контейнер может организовать заблаговременное наполнение тома данными.</a:t>
            </a:r>
          </a:p>
          <a:p>
            <a:r>
              <a:rPr lang="ru-RU" sz="1800" dirty="0">
                <a:latin typeface="Montserrat Light" panose="00000400000000000000"/>
              </a:rPr>
              <a:t>Они удобны для тестирования.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ru-RU" altLang="ru-RU" sz="1800" dirty="0">
              <a:latin typeface="Montserrat Light" panose="000004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3486286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Тома </a:t>
            </a:r>
            <a:r>
              <a:rPr lang="en-US" sz="3200" dirty="0">
                <a:latin typeface="Montserrat" pitchFamily="2" charset="0"/>
              </a:rPr>
              <a:t>Docker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8490"/>
            <a:ext cx="10515600" cy="4351338"/>
          </a:xfrm>
        </p:spPr>
        <p:txBody>
          <a:bodyPr>
            <a:no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dirty="0">
                <a:latin typeface="Montserrat Light" panose="00000400000000000000"/>
              </a:rPr>
              <a:t>Создать самостоятельный том можно следующей </a:t>
            </a:r>
            <a:r>
              <a:rPr lang="ru-RU" dirty="0" smtClean="0">
                <a:latin typeface="Montserrat Light" panose="00000400000000000000"/>
              </a:rPr>
              <a:t>командой</a:t>
            </a:r>
            <a:r>
              <a:rPr lang="en-US" dirty="0" smtClean="0">
                <a:latin typeface="Montserrat Light" panose="00000400000000000000"/>
              </a:rPr>
              <a:t>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Montserrat Light" panose="0000040000000000000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b="1" dirty="0" err="1">
                <a:latin typeface="Montserrat Light" panose="00000400000000000000"/>
              </a:rPr>
              <a:t>docker</a:t>
            </a:r>
            <a:r>
              <a:rPr lang="en-US" b="1" dirty="0">
                <a:latin typeface="Montserrat Light" panose="00000400000000000000"/>
              </a:rPr>
              <a:t> volume create —-name </a:t>
            </a:r>
            <a:r>
              <a:rPr lang="en-US" b="1" dirty="0" err="1">
                <a:latin typeface="Montserrat Light" panose="00000400000000000000"/>
              </a:rPr>
              <a:t>my_volume</a:t>
            </a:r>
            <a:endParaRPr lang="en-US" b="1" dirty="0" smtClean="0">
              <a:latin typeface="Montserrat Light" panose="000004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3583633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Тома </a:t>
            </a:r>
            <a:r>
              <a:rPr lang="en-US" sz="3200" dirty="0">
                <a:latin typeface="Montserrat" pitchFamily="2" charset="0"/>
              </a:rPr>
              <a:t>Docker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8490"/>
            <a:ext cx="10515600" cy="1822736"/>
          </a:xfrm>
        </p:spPr>
        <p:txBody>
          <a:bodyPr>
            <a:no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dirty="0">
                <a:latin typeface="Montserrat Light" panose="00000400000000000000"/>
              </a:rPr>
              <a:t>Для того чтобы просмотреть список томов </a:t>
            </a:r>
            <a:r>
              <a:rPr lang="ru-RU" dirty="0" err="1">
                <a:latin typeface="Montserrat Light" panose="00000400000000000000"/>
              </a:rPr>
              <a:t>Docker</a:t>
            </a:r>
            <a:r>
              <a:rPr lang="ru-RU" dirty="0">
                <a:latin typeface="Montserrat Light" panose="00000400000000000000"/>
              </a:rPr>
              <a:t>, воспользуйтесь следующей </a:t>
            </a:r>
            <a:r>
              <a:rPr lang="ru-RU" dirty="0" smtClean="0">
                <a:latin typeface="Montserrat Light" panose="00000400000000000000"/>
              </a:rPr>
              <a:t>командой</a:t>
            </a:r>
            <a:r>
              <a:rPr lang="en-US" dirty="0" smtClean="0">
                <a:latin typeface="Montserrat Light" panose="00000400000000000000"/>
              </a:rPr>
              <a:t>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Montserrat Light" panose="0000040000000000000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b="1" dirty="0" err="1">
                <a:latin typeface="Montserrat Light" panose="00000400000000000000"/>
              </a:rPr>
              <a:t>d</a:t>
            </a:r>
            <a:r>
              <a:rPr lang="en-US" b="1" dirty="0" err="1" smtClean="0">
                <a:latin typeface="Montserrat Light" panose="00000400000000000000"/>
              </a:rPr>
              <a:t>ocker</a:t>
            </a:r>
            <a:r>
              <a:rPr lang="en-US" b="1" dirty="0" smtClean="0">
                <a:latin typeface="Montserrat Light" panose="00000400000000000000"/>
              </a:rPr>
              <a:t> volume ls</a:t>
            </a:r>
          </a:p>
        </p:txBody>
      </p:sp>
    </p:spTree>
    <p:extLst>
      <p:ext uri="{BB962C8B-B14F-4D97-AF65-F5344CB8AC3E}">
        <p14:creationId xmlns:p14="http://schemas.microsoft.com/office/powerpoint/2010/main" val="1444682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Тома </a:t>
            </a:r>
            <a:r>
              <a:rPr lang="en-US" sz="3200" dirty="0">
                <a:latin typeface="Montserrat" pitchFamily="2" charset="0"/>
              </a:rPr>
              <a:t>Docker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8490"/>
            <a:ext cx="10515600" cy="4351338"/>
          </a:xfrm>
        </p:spPr>
        <p:txBody>
          <a:bodyPr>
            <a:no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dirty="0">
                <a:latin typeface="Montserrat Light" panose="00000400000000000000"/>
              </a:rPr>
              <a:t>Исследовать конкретный том можно </a:t>
            </a:r>
            <a:r>
              <a:rPr lang="ru-RU" dirty="0" smtClean="0">
                <a:latin typeface="Montserrat Light" panose="00000400000000000000"/>
              </a:rPr>
              <a:t>так</a:t>
            </a:r>
            <a:r>
              <a:rPr lang="en-US" dirty="0" smtClean="0">
                <a:latin typeface="Montserrat Light" panose="00000400000000000000"/>
              </a:rPr>
              <a:t>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Montserrat Light" panose="0000040000000000000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dirty="0" smtClean="0">
              <a:latin typeface="Montserrat Light" panose="0000040000000000000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b="1" dirty="0" err="1" smtClean="0">
                <a:latin typeface="Montserrat Light" panose="00000400000000000000"/>
              </a:rPr>
              <a:t>docker</a:t>
            </a:r>
            <a:r>
              <a:rPr lang="en-US" b="1" dirty="0" smtClean="0">
                <a:latin typeface="Montserrat Light" panose="00000400000000000000"/>
              </a:rPr>
              <a:t> volume inspect </a:t>
            </a:r>
            <a:r>
              <a:rPr lang="en-US" b="1" dirty="0" err="1" smtClean="0">
                <a:latin typeface="Montserrat Light" panose="00000400000000000000"/>
              </a:rPr>
              <a:t>my_volume</a:t>
            </a:r>
            <a:endParaRPr lang="en-US" b="1" dirty="0" smtClean="0">
              <a:latin typeface="Montserrat Light" panose="0000040000000000000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959556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Тома </a:t>
            </a:r>
            <a:r>
              <a:rPr lang="en-US" sz="3200" dirty="0">
                <a:latin typeface="Montserrat" pitchFamily="2" charset="0"/>
              </a:rPr>
              <a:t>Docker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8490"/>
            <a:ext cx="10515600" cy="4351338"/>
          </a:xfrm>
        </p:spPr>
        <p:txBody>
          <a:bodyPr>
            <a:no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dirty="0">
                <a:latin typeface="Montserrat Light" panose="00000400000000000000"/>
              </a:rPr>
              <a:t>Удалить том можно </a:t>
            </a:r>
            <a:r>
              <a:rPr lang="ru-RU" dirty="0" smtClean="0">
                <a:latin typeface="Montserrat Light" panose="00000400000000000000"/>
              </a:rPr>
              <a:t>так:</a:t>
            </a:r>
            <a:endParaRPr lang="en-US" dirty="0" smtClean="0">
              <a:latin typeface="Montserrat Light" panose="0000040000000000000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Montserrat Light" panose="0000040000000000000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dirty="0" smtClean="0">
              <a:latin typeface="Montserrat Light" panose="0000040000000000000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b="1" dirty="0" err="1" smtClean="0">
                <a:latin typeface="Montserrat Light" panose="00000400000000000000"/>
              </a:rPr>
              <a:t>docker</a:t>
            </a:r>
            <a:r>
              <a:rPr lang="en-US" b="1" dirty="0" smtClean="0">
                <a:latin typeface="Montserrat Light" panose="00000400000000000000"/>
              </a:rPr>
              <a:t> </a:t>
            </a:r>
            <a:r>
              <a:rPr lang="en-US" b="1" dirty="0">
                <a:latin typeface="Montserrat Light" panose="00000400000000000000"/>
              </a:rPr>
              <a:t>volume </a:t>
            </a:r>
            <a:r>
              <a:rPr lang="en-US" b="1" dirty="0" err="1">
                <a:latin typeface="Montserrat Light" panose="00000400000000000000"/>
              </a:rPr>
              <a:t>rm</a:t>
            </a:r>
            <a:r>
              <a:rPr lang="en-US" b="1" dirty="0">
                <a:latin typeface="Montserrat Light" panose="00000400000000000000"/>
              </a:rPr>
              <a:t> </a:t>
            </a:r>
            <a:r>
              <a:rPr lang="en-US" b="1" dirty="0" err="1">
                <a:latin typeface="Montserrat Light" panose="00000400000000000000"/>
              </a:rPr>
              <a:t>my_volume</a:t>
            </a:r>
            <a:endParaRPr lang="en-US" b="1" dirty="0" smtClean="0">
              <a:latin typeface="Montserrat Light" panose="0000040000000000000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883525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Тома </a:t>
            </a:r>
            <a:r>
              <a:rPr lang="en-US" sz="3200" dirty="0">
                <a:latin typeface="Montserrat" pitchFamily="2" charset="0"/>
              </a:rPr>
              <a:t>Docker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8490"/>
            <a:ext cx="10515600" cy="4351338"/>
          </a:xfrm>
        </p:spPr>
        <p:txBody>
          <a:bodyPr>
            <a:no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dirty="0">
                <a:latin typeface="Montserrat Light" panose="00000400000000000000"/>
              </a:rPr>
              <a:t>Для того чтобы удалить все тома, которые не используются контейнерами, можно прибегнуть к такой команде:</a:t>
            </a:r>
            <a:endParaRPr lang="en-US" dirty="0" smtClean="0">
              <a:latin typeface="Montserrat Light" panose="0000040000000000000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dirty="0" smtClean="0">
              <a:latin typeface="Montserrat Light" panose="0000040000000000000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b="1" dirty="0" err="1">
                <a:latin typeface="Montserrat Light" panose="00000400000000000000"/>
              </a:rPr>
              <a:t>docker</a:t>
            </a:r>
            <a:r>
              <a:rPr lang="en-US" b="1" dirty="0">
                <a:latin typeface="Montserrat Light" panose="00000400000000000000"/>
              </a:rPr>
              <a:t> volume prune</a:t>
            </a:r>
            <a:endParaRPr lang="en-US" dirty="0" smtClean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dirty="0" smtClean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dirty="0">
                <a:latin typeface="Montserrat Light" panose="00000400000000000000"/>
              </a:rPr>
              <a:t>Перед удалением томов </a:t>
            </a:r>
            <a:r>
              <a:rPr lang="ru-RU" dirty="0" err="1">
                <a:latin typeface="Montserrat Light" panose="00000400000000000000"/>
              </a:rPr>
              <a:t>Docker</a:t>
            </a:r>
            <a:r>
              <a:rPr lang="ru-RU" dirty="0">
                <a:latin typeface="Montserrat Light" panose="00000400000000000000"/>
              </a:rPr>
              <a:t> запросит у вас подтверждение выполнения этой операции.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956855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Тома </a:t>
            </a:r>
            <a:r>
              <a:rPr lang="en-US" sz="3200" dirty="0">
                <a:latin typeface="Montserrat" pitchFamily="2" charset="0"/>
              </a:rPr>
              <a:t>Docker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8490"/>
            <a:ext cx="10515600" cy="4351338"/>
          </a:xfrm>
        </p:spPr>
        <p:txBody>
          <a:bodyPr>
            <a:no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dirty="0">
                <a:latin typeface="Montserrat Light" panose="00000400000000000000"/>
              </a:rPr>
              <a:t>Если том связан с каким-либо контейнером, такой том нельзя удалить до тех пор, пока не удалён соответствующий контейнер. </a:t>
            </a:r>
            <a:endParaRPr lang="en-US" dirty="0" smtClean="0">
              <a:latin typeface="Montserrat Light" panose="0000040000000000000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dirty="0" smtClean="0">
                <a:latin typeface="Montserrat Light" panose="00000400000000000000"/>
              </a:rPr>
              <a:t>При </a:t>
            </a:r>
            <a:r>
              <a:rPr lang="ru-RU" dirty="0">
                <a:latin typeface="Montserrat Light" panose="00000400000000000000"/>
              </a:rPr>
              <a:t>этом, даже если контейнер удалён, </a:t>
            </a:r>
            <a:r>
              <a:rPr lang="ru-RU" dirty="0" err="1">
                <a:latin typeface="Montserrat Light" panose="00000400000000000000"/>
              </a:rPr>
              <a:t>Docker</a:t>
            </a:r>
            <a:r>
              <a:rPr lang="ru-RU" dirty="0">
                <a:latin typeface="Montserrat Light" panose="00000400000000000000"/>
              </a:rPr>
              <a:t> не всегда это понимает. Если это случилось — можете воспользоваться следующей </a:t>
            </a:r>
            <a:r>
              <a:rPr lang="ru-RU" dirty="0" smtClean="0">
                <a:latin typeface="Montserrat Light" panose="00000400000000000000"/>
              </a:rPr>
              <a:t>командой</a:t>
            </a:r>
            <a:r>
              <a:rPr lang="en-US" dirty="0" smtClean="0">
                <a:latin typeface="Montserrat Light" panose="00000400000000000000"/>
              </a:rPr>
              <a:t>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Montserrat Light" panose="0000040000000000000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b="1" dirty="0" err="1">
                <a:latin typeface="Montserrat Light" panose="00000400000000000000"/>
              </a:rPr>
              <a:t>docker</a:t>
            </a:r>
            <a:r>
              <a:rPr lang="en-US" b="1" dirty="0">
                <a:latin typeface="Montserrat Light" panose="00000400000000000000"/>
              </a:rPr>
              <a:t> system prune</a:t>
            </a:r>
            <a:endParaRPr lang="en-US" b="1" dirty="0" smtClean="0">
              <a:latin typeface="Montserrat Light" panose="000004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1081307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04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829571C-1045-174A-AFAB-65AE5CF453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/>
          <a:p>
            <a:r>
              <a:rPr lang="en-US" sz="4300" dirty="0" smtClean="0">
                <a:latin typeface="Montserrat" pitchFamily="2" charset="0"/>
                <a:cs typeface="Times New Roman" panose="02020603050405020304" pitchFamily="18" charset="0"/>
              </a:rPr>
              <a:t>Docker compose</a:t>
            </a:r>
            <a:endParaRPr lang="ru-RU" sz="4300" dirty="0">
              <a:latin typeface="Montserrat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958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Введение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8490"/>
            <a:ext cx="10515600" cy="1805645"/>
          </a:xfrm>
        </p:spPr>
        <p:txBody>
          <a:bodyPr>
            <a:no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dirty="0" err="1">
                <a:latin typeface="Montserrat Light" panose="00000400000000000000"/>
              </a:rPr>
              <a:t>Docker</a:t>
            </a:r>
            <a:r>
              <a:rPr lang="ru-RU" dirty="0">
                <a:latin typeface="Montserrat Light" panose="00000400000000000000"/>
              </a:rPr>
              <a:t> </a:t>
            </a:r>
            <a:r>
              <a:rPr lang="ru-RU" dirty="0" err="1">
                <a:latin typeface="Montserrat Light" panose="00000400000000000000"/>
              </a:rPr>
              <a:t>Compose</a:t>
            </a:r>
            <a:r>
              <a:rPr lang="ru-RU" dirty="0">
                <a:latin typeface="Montserrat Light" panose="00000400000000000000"/>
              </a:rPr>
              <a:t> — это инструментальное средство, входящее в состав </a:t>
            </a:r>
            <a:r>
              <a:rPr lang="ru-RU" dirty="0" err="1">
                <a:latin typeface="Montserrat Light" panose="00000400000000000000"/>
              </a:rPr>
              <a:t>Docker</a:t>
            </a:r>
            <a:r>
              <a:rPr lang="ru-RU" dirty="0">
                <a:latin typeface="Montserrat Light" panose="00000400000000000000"/>
              </a:rPr>
              <a:t>. Оно предназначено для решения задач, связанных с развёртыванием проектов.</a:t>
            </a:r>
            <a:endParaRPr lang="en-US" b="1" dirty="0" smtClean="0">
              <a:latin typeface="Montserrat Light" panose="00000400000000000000"/>
            </a:endParaRPr>
          </a:p>
        </p:txBody>
      </p:sp>
      <p:pic>
        <p:nvPicPr>
          <p:cNvPr id="1026" name="Picture 2" descr="https://habrastorage.org/r/w1560/getpro/habr/post_images/859/489/407/85948940715022ca196b8ad6f1e810d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2093" y="2896562"/>
            <a:ext cx="4647814" cy="3265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9411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Введение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8490"/>
            <a:ext cx="10515600" cy="4420658"/>
          </a:xfrm>
        </p:spPr>
        <p:txBody>
          <a:bodyPr>
            <a:no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dirty="0" err="1">
                <a:latin typeface="Montserrat Light" panose="00000400000000000000"/>
              </a:rPr>
              <a:t>Docker</a:t>
            </a:r>
            <a:r>
              <a:rPr lang="ru-RU" dirty="0">
                <a:latin typeface="Montserrat Light" panose="00000400000000000000"/>
              </a:rPr>
              <a:t> </a:t>
            </a:r>
            <a:r>
              <a:rPr lang="ru-RU" dirty="0" err="1">
                <a:latin typeface="Montserrat Light" panose="00000400000000000000"/>
              </a:rPr>
              <a:t>Compose</a:t>
            </a:r>
            <a:r>
              <a:rPr lang="ru-RU" dirty="0">
                <a:latin typeface="Montserrat Light" panose="00000400000000000000"/>
              </a:rPr>
              <a:t> — это, в умелых руках, весьма мощный инструмент, позволяющий очень быстро развёртывать приложения, отличающиеся сложной архитектурой. </a:t>
            </a:r>
            <a:endParaRPr lang="en-US" dirty="0">
              <a:latin typeface="Montserrat Light" panose="0000040000000000000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dirty="0" smtClean="0">
                <a:latin typeface="Montserrat Light" panose="00000400000000000000"/>
              </a:rPr>
              <a:t>Сейчас </a:t>
            </a:r>
            <a:r>
              <a:rPr lang="ru-RU" dirty="0">
                <a:latin typeface="Montserrat Light" panose="00000400000000000000"/>
              </a:rPr>
              <a:t>мы рассмотрим пример практического использования </a:t>
            </a:r>
            <a:r>
              <a:rPr lang="ru-RU" dirty="0" err="1">
                <a:latin typeface="Montserrat Light" panose="00000400000000000000"/>
              </a:rPr>
              <a:t>Docker</a:t>
            </a:r>
            <a:r>
              <a:rPr lang="ru-RU" dirty="0">
                <a:latin typeface="Montserrat Light" panose="00000400000000000000"/>
              </a:rPr>
              <a:t> </a:t>
            </a:r>
            <a:r>
              <a:rPr lang="ru-RU" dirty="0" err="1">
                <a:latin typeface="Montserrat Light" panose="00000400000000000000"/>
              </a:rPr>
              <a:t>Compose</a:t>
            </a:r>
            <a:r>
              <a:rPr lang="ru-RU" dirty="0">
                <a:latin typeface="Montserrat Light" panose="00000400000000000000"/>
              </a:rPr>
              <a:t>, разбор которого позволит вам оценить те преимущества, которые даст вам использование </a:t>
            </a:r>
            <a:r>
              <a:rPr lang="ru-RU" dirty="0" err="1">
                <a:latin typeface="Montserrat Light" panose="00000400000000000000"/>
              </a:rPr>
              <a:t>Docker</a:t>
            </a:r>
            <a:r>
              <a:rPr lang="ru-RU" dirty="0">
                <a:latin typeface="Montserrat Light" panose="00000400000000000000"/>
              </a:rPr>
              <a:t> </a:t>
            </a:r>
            <a:r>
              <a:rPr lang="ru-RU" dirty="0" err="1">
                <a:latin typeface="Montserrat Light" panose="00000400000000000000"/>
              </a:rPr>
              <a:t>Compose</a:t>
            </a:r>
            <a:r>
              <a:rPr lang="ru-RU" dirty="0">
                <a:latin typeface="Montserrat Light" panose="00000400000000000000"/>
              </a:rPr>
              <a:t>.</a:t>
            </a:r>
            <a:endParaRPr lang="en-US" dirty="0" smtClean="0">
              <a:latin typeface="Montserrat Light" panose="000004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2933358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Введение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8490"/>
            <a:ext cx="10515600" cy="4420658"/>
          </a:xfrm>
        </p:spPr>
        <p:txBody>
          <a:bodyPr>
            <a:no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1600" dirty="0">
                <a:latin typeface="Montserrat Light" panose="00000400000000000000"/>
              </a:rPr>
              <a:t>П</a:t>
            </a:r>
            <a:r>
              <a:rPr lang="ru-RU" sz="1600" dirty="0" smtClean="0">
                <a:latin typeface="Montserrat Light" panose="00000400000000000000"/>
              </a:rPr>
              <a:t>редставьте </a:t>
            </a:r>
            <a:r>
              <a:rPr lang="ru-RU" sz="1600" dirty="0">
                <a:latin typeface="Montserrat Light" panose="00000400000000000000"/>
              </a:rPr>
              <a:t>себе, что вы являетесь разработчиком некоего веб-проекта. В этот проект входит два веб-сайта. Первый позволяет людям, занимающимся бизнесом, создавать, всего в несколько щелчков мышью, интернет-магазины. Второй нацелен на поддержку клиентов. Эти два сайта взаимодействуют с одной и той же базой данных.</a:t>
            </a:r>
            <a:br>
              <a:rPr lang="ru-RU" sz="1600" dirty="0">
                <a:latin typeface="Montserrat Light" panose="00000400000000000000"/>
              </a:rPr>
            </a:br>
            <a:r>
              <a:rPr lang="ru-RU" sz="1600" dirty="0">
                <a:latin typeface="Montserrat Light" panose="00000400000000000000"/>
              </a:rPr>
              <a:t/>
            </a:r>
            <a:br>
              <a:rPr lang="ru-RU" sz="1600" dirty="0">
                <a:latin typeface="Montserrat Light" panose="00000400000000000000"/>
              </a:rPr>
            </a:br>
            <a:r>
              <a:rPr lang="ru-RU" sz="1600" dirty="0">
                <a:latin typeface="Montserrat Light" panose="00000400000000000000"/>
              </a:rPr>
              <a:t>Ваш проект становится всё популярнее, и оказывается, что мощности сервера, на котором он работает, уже недостаточно. В результате вы решаете перевести весь проект на другую машину.</a:t>
            </a:r>
            <a:br>
              <a:rPr lang="ru-RU" sz="1600" dirty="0">
                <a:latin typeface="Montserrat Light" panose="00000400000000000000"/>
              </a:rPr>
            </a:br>
            <a:r>
              <a:rPr lang="ru-RU" sz="1600" dirty="0">
                <a:latin typeface="Montserrat Light" panose="00000400000000000000"/>
              </a:rPr>
              <a:t/>
            </a:r>
            <a:br>
              <a:rPr lang="ru-RU" sz="1600" dirty="0">
                <a:latin typeface="Montserrat Light" panose="00000400000000000000"/>
              </a:rPr>
            </a:br>
            <a:r>
              <a:rPr lang="ru-RU" sz="1600" dirty="0">
                <a:latin typeface="Montserrat Light" panose="00000400000000000000"/>
              </a:rPr>
              <a:t>К сожалению, нечто вроде </a:t>
            </a:r>
            <a:r>
              <a:rPr lang="ru-RU" sz="1600" b="1" dirty="0" err="1">
                <a:latin typeface="Montserrat Light" panose="00000400000000000000"/>
              </a:rPr>
              <a:t>Docker</a:t>
            </a:r>
            <a:r>
              <a:rPr lang="ru-RU" sz="1600" b="1" dirty="0">
                <a:latin typeface="Montserrat Light" panose="00000400000000000000"/>
              </a:rPr>
              <a:t> </a:t>
            </a:r>
            <a:r>
              <a:rPr lang="ru-RU" sz="1600" b="1" dirty="0" err="1">
                <a:latin typeface="Montserrat Light" panose="00000400000000000000"/>
              </a:rPr>
              <a:t>Compose</a:t>
            </a:r>
            <a:r>
              <a:rPr lang="ru-RU" sz="1600" b="1" dirty="0">
                <a:latin typeface="Montserrat Light" panose="00000400000000000000"/>
              </a:rPr>
              <a:t> </a:t>
            </a:r>
            <a:r>
              <a:rPr lang="ru-RU" sz="1600" dirty="0">
                <a:latin typeface="Montserrat Light" panose="00000400000000000000"/>
              </a:rPr>
              <a:t>вы не использовали. Поэтому вам придётся переносить и перенастраивать сервисы по одному, надеясь на то, что вы, в процессе этой работы, ничего не забудете.</a:t>
            </a:r>
            <a:br>
              <a:rPr lang="ru-RU" sz="1600" dirty="0">
                <a:latin typeface="Montserrat Light" panose="00000400000000000000"/>
              </a:rPr>
            </a:br>
            <a:r>
              <a:rPr lang="ru-RU" sz="1600" dirty="0">
                <a:latin typeface="Montserrat Light" panose="00000400000000000000"/>
              </a:rPr>
              <a:t/>
            </a:r>
            <a:br>
              <a:rPr lang="ru-RU" sz="1600" dirty="0">
                <a:latin typeface="Montserrat Light" panose="00000400000000000000"/>
              </a:rPr>
            </a:br>
            <a:r>
              <a:rPr lang="ru-RU" sz="1600" dirty="0">
                <a:latin typeface="Montserrat Light" panose="00000400000000000000"/>
              </a:rPr>
              <a:t>Если же вы используете </a:t>
            </a:r>
            <a:r>
              <a:rPr lang="ru-RU" sz="1600" b="1" dirty="0" err="1">
                <a:latin typeface="Montserrat Light" panose="00000400000000000000"/>
              </a:rPr>
              <a:t>Docker</a:t>
            </a:r>
            <a:r>
              <a:rPr lang="ru-RU" sz="1600" b="1" dirty="0">
                <a:latin typeface="Montserrat Light" panose="00000400000000000000"/>
              </a:rPr>
              <a:t> </a:t>
            </a:r>
            <a:r>
              <a:rPr lang="ru-RU" sz="1600" b="1" dirty="0" err="1">
                <a:latin typeface="Montserrat Light" panose="00000400000000000000"/>
              </a:rPr>
              <a:t>Compose</a:t>
            </a:r>
            <a:r>
              <a:rPr lang="ru-RU" sz="1600" dirty="0">
                <a:latin typeface="Montserrat Light" panose="00000400000000000000"/>
              </a:rPr>
              <a:t>, то перенос вашего проекта на новый сервер — это вопрос, который решается выполнением нескольких команд. Для того чтобы завершить перенос проекта на новое место, вам нужно лишь выполнить кое-какие настройки и загрузить на новый сервер резервную копию базы данных.</a:t>
            </a:r>
            <a:endParaRPr lang="en-US" sz="1600" dirty="0" smtClean="0">
              <a:latin typeface="Montserrat Light" panose="000004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899733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 Создание проекта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8490"/>
            <a:ext cx="10515600" cy="4420658"/>
          </a:xfrm>
        </p:spPr>
        <p:txBody>
          <a:bodyPr>
            <a:no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dirty="0" smtClean="0">
                <a:latin typeface="Montserrat Light" panose="00000400000000000000"/>
              </a:rPr>
              <a:t>Все настройки находятся в одном файле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dirty="0" err="1" smtClean="0">
                <a:latin typeface="Montserrat Light" panose="00000400000000000000"/>
              </a:rPr>
              <a:t>docker-compose.ym</a:t>
            </a:r>
            <a:r>
              <a:rPr lang="ru-RU" altLang="ru-RU" sz="2000" dirty="0" err="1" smtClean="0">
                <a:solidFill>
                  <a:srgbClr val="333333"/>
                </a:solidFill>
                <a:latin typeface="Montserrat Light" panose="00000400000000000000"/>
              </a:rPr>
              <a:t>l</a:t>
            </a:r>
            <a:r>
              <a:rPr lang="ru-RU" altLang="ru-RU" sz="3200" dirty="0">
                <a:solidFill>
                  <a:srgbClr val="333333"/>
                </a:solidFill>
                <a:latin typeface="Montserrat Light" panose="00000400000000000000"/>
              </a:rPr>
              <a:t>. </a:t>
            </a:r>
            <a:r>
              <a:rPr lang="ru-RU" altLang="ru-RU" dirty="0">
                <a:solidFill>
                  <a:srgbClr val="333333"/>
                </a:solidFill>
                <a:latin typeface="Montserrat Light" panose="00000400000000000000"/>
              </a:rPr>
              <a:t>Это файл </a:t>
            </a:r>
            <a:r>
              <a:rPr lang="ru-RU" altLang="ru-RU" dirty="0" err="1">
                <a:solidFill>
                  <a:srgbClr val="333333"/>
                </a:solidFill>
                <a:latin typeface="Montserrat Light" panose="00000400000000000000"/>
              </a:rPr>
              <a:t>Docker</a:t>
            </a:r>
            <a:r>
              <a:rPr lang="ru-RU" altLang="ru-RU" dirty="0">
                <a:solidFill>
                  <a:srgbClr val="333333"/>
                </a:solidFill>
                <a:latin typeface="Montserrat Light" panose="00000400000000000000"/>
              </a:rPr>
              <a:t> </a:t>
            </a:r>
            <a:r>
              <a:rPr lang="ru-RU" altLang="ru-RU" dirty="0" err="1">
                <a:solidFill>
                  <a:srgbClr val="333333"/>
                </a:solidFill>
                <a:latin typeface="Montserrat Light" panose="00000400000000000000"/>
              </a:rPr>
              <a:t>Compose</a:t>
            </a:r>
            <a:r>
              <a:rPr lang="ru-RU" altLang="ru-RU" dirty="0">
                <a:solidFill>
                  <a:srgbClr val="333333"/>
                </a:solidFill>
                <a:latin typeface="Montserrat Light" panose="00000400000000000000"/>
              </a:rPr>
              <a:t>, который будет содержать инструкции, необходимые для запуска и настройки сервисов.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40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dirty="0" smtClean="0">
              <a:latin typeface="Montserrat Light" panose="000004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1210046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 smtClean="0">
                <a:latin typeface="Montserrat" pitchFamily="2" charset="0"/>
              </a:rPr>
              <a:t>Синтаксис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8490"/>
            <a:ext cx="10515600" cy="4420658"/>
          </a:xfrm>
        </p:spPr>
        <p:txBody>
          <a:bodyPr>
            <a:no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dirty="0" smtClean="0">
                <a:latin typeface="Montserrat Light" panose="00000400000000000000"/>
              </a:rPr>
              <a:t>Синтаксис </a:t>
            </a:r>
            <a:r>
              <a:rPr lang="ru-RU" dirty="0">
                <a:latin typeface="Montserrat Light" panose="00000400000000000000"/>
              </a:rPr>
              <a:t>YAML и должен содержать такие данные: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dirty="0" smtClean="0">
              <a:latin typeface="Montserrat Light" panose="0000040000000000000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dirty="0" err="1" smtClean="0">
                <a:latin typeface="Montserrat Light" panose="00000400000000000000"/>
              </a:rPr>
              <a:t>version</a:t>
            </a:r>
            <a:r>
              <a:rPr lang="ru-RU" dirty="0">
                <a:latin typeface="Montserrat Light" panose="00000400000000000000"/>
              </a:rPr>
              <a:t>: </a:t>
            </a:r>
            <a:endParaRPr lang="ru-RU" dirty="0" smtClean="0">
              <a:latin typeface="Montserrat Light" panose="0000040000000000000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dirty="0">
                <a:latin typeface="Montserrat Light" panose="00000400000000000000"/>
              </a:rPr>
              <a:t> </a:t>
            </a:r>
            <a:r>
              <a:rPr lang="ru-RU" dirty="0" smtClean="0">
                <a:latin typeface="Montserrat Light" panose="00000400000000000000"/>
              </a:rPr>
              <a:t>'версия</a:t>
            </a:r>
            <a:r>
              <a:rPr lang="ru-RU" dirty="0">
                <a:latin typeface="Montserrat Light" panose="00000400000000000000"/>
              </a:rPr>
              <a:t>' </a:t>
            </a:r>
            <a:endParaRPr lang="ru-RU" dirty="0" smtClean="0">
              <a:latin typeface="Montserrat Light" panose="0000040000000000000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dirty="0" err="1" smtClean="0">
                <a:latin typeface="Montserrat Light" panose="00000400000000000000"/>
              </a:rPr>
              <a:t>networks</a:t>
            </a:r>
            <a:r>
              <a:rPr lang="ru-RU" dirty="0">
                <a:latin typeface="Montserrat Light" panose="00000400000000000000"/>
              </a:rPr>
              <a:t>: </a:t>
            </a:r>
            <a:endParaRPr lang="ru-RU" dirty="0" smtClean="0">
              <a:latin typeface="Montserrat Light" panose="0000040000000000000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dirty="0">
                <a:latin typeface="Montserrat Light" panose="00000400000000000000"/>
              </a:rPr>
              <a:t> </a:t>
            </a:r>
            <a:r>
              <a:rPr lang="ru-RU" dirty="0" smtClean="0">
                <a:latin typeface="Montserrat Light" panose="00000400000000000000"/>
              </a:rPr>
              <a:t>сети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dirty="0" err="1" smtClean="0">
                <a:latin typeface="Montserrat Light" panose="00000400000000000000"/>
              </a:rPr>
              <a:t>volumes</a:t>
            </a:r>
            <a:r>
              <a:rPr lang="ru-RU" dirty="0">
                <a:latin typeface="Montserrat Light" panose="00000400000000000000"/>
              </a:rPr>
              <a:t>: </a:t>
            </a:r>
            <a:endParaRPr lang="ru-RU" dirty="0" smtClean="0">
              <a:latin typeface="Montserrat Light" panose="0000040000000000000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dirty="0">
                <a:latin typeface="Montserrat Light" panose="00000400000000000000"/>
              </a:rPr>
              <a:t> </a:t>
            </a:r>
            <a:r>
              <a:rPr lang="ru-RU" dirty="0" smtClean="0">
                <a:latin typeface="Montserrat Light" panose="00000400000000000000"/>
              </a:rPr>
              <a:t>хранилища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dirty="0" err="1" smtClean="0">
                <a:latin typeface="Montserrat Light" panose="00000400000000000000"/>
              </a:rPr>
              <a:t>services</a:t>
            </a:r>
            <a:r>
              <a:rPr lang="ru-RU" dirty="0">
                <a:latin typeface="Montserrat Light" panose="00000400000000000000"/>
              </a:rPr>
              <a:t>: </a:t>
            </a:r>
            <a:endParaRPr lang="ru-RU" dirty="0" smtClean="0">
              <a:latin typeface="Montserrat Light" panose="0000040000000000000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dirty="0">
                <a:latin typeface="Montserrat Light" panose="00000400000000000000"/>
              </a:rPr>
              <a:t> </a:t>
            </a:r>
            <a:r>
              <a:rPr lang="ru-RU" dirty="0" smtClean="0">
                <a:latin typeface="Montserrat Light" panose="00000400000000000000"/>
              </a:rPr>
              <a:t>контейнеры </a:t>
            </a:r>
            <a:endParaRPr lang="ru-RU" dirty="0">
              <a:latin typeface="Montserrat Light" panose="0000040000000000000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dirty="0" smtClean="0">
              <a:latin typeface="Montserrat Light" panose="000004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3769996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Введение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8490"/>
            <a:ext cx="10515600" cy="4420658"/>
          </a:xfrm>
        </p:spPr>
        <p:txBody>
          <a:bodyPr>
            <a:no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dirty="0" smtClean="0">
                <a:latin typeface="Montserrat Light" panose="00000400000000000000"/>
              </a:rPr>
              <a:t>В </a:t>
            </a:r>
            <a:r>
              <a:rPr lang="en-US" b="1" dirty="0" err="1" smtClean="0">
                <a:latin typeface="Montserrat Light" panose="00000400000000000000"/>
              </a:rPr>
              <a:t>docker</a:t>
            </a:r>
            <a:r>
              <a:rPr lang="en-US" b="1" dirty="0" smtClean="0">
                <a:latin typeface="Montserrat Light" panose="00000400000000000000"/>
              </a:rPr>
              <a:t>-compose</a:t>
            </a:r>
            <a:r>
              <a:rPr lang="en-US" dirty="0" smtClean="0">
                <a:latin typeface="Montserrat Light" panose="00000400000000000000"/>
              </a:rPr>
              <a:t> </a:t>
            </a:r>
            <a:r>
              <a:rPr lang="ru-RU" dirty="0" smtClean="0">
                <a:latin typeface="Montserrat Light" panose="00000400000000000000"/>
              </a:rPr>
              <a:t>используются все те же команды что и в </a:t>
            </a:r>
            <a:r>
              <a:rPr lang="en-US" dirty="0" smtClean="0">
                <a:latin typeface="Montserrat Light" panose="00000400000000000000"/>
              </a:rPr>
              <a:t>Docker </a:t>
            </a:r>
            <a:r>
              <a:rPr lang="ru-RU" dirty="0" smtClean="0">
                <a:latin typeface="Montserrat Light" panose="00000400000000000000"/>
              </a:rPr>
              <a:t>но в формате </a:t>
            </a:r>
            <a:r>
              <a:rPr lang="en-US" dirty="0" err="1" smtClean="0">
                <a:latin typeface="Montserrat Light" panose="00000400000000000000"/>
              </a:rPr>
              <a:t>yaml</a:t>
            </a:r>
            <a:r>
              <a:rPr lang="en-US" dirty="0">
                <a:latin typeface="Montserrat Light" panose="00000400000000000000"/>
              </a:rPr>
              <a:t>.</a:t>
            </a:r>
            <a:endParaRPr lang="en-US" dirty="0" smtClean="0">
              <a:latin typeface="Montserrat Light" panose="000004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930306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787" y="658745"/>
            <a:ext cx="9115634" cy="5536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451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Введение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8490"/>
            <a:ext cx="10515600" cy="4420658"/>
          </a:xfrm>
        </p:spPr>
        <p:txBody>
          <a:bodyPr>
            <a:no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dirty="0" smtClean="0">
                <a:latin typeface="Montserrat Light" panose="00000400000000000000"/>
              </a:rPr>
              <a:t>Команды: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dirty="0" smtClean="0">
                <a:latin typeface="Montserrat Light" panose="00000400000000000000"/>
              </a:rPr>
              <a:t>запуск </a:t>
            </a:r>
            <a:r>
              <a:rPr lang="en-US" b="1" dirty="0" err="1">
                <a:latin typeface="Montserrat Light" panose="00000400000000000000"/>
              </a:rPr>
              <a:t>docker</a:t>
            </a:r>
            <a:r>
              <a:rPr lang="en-US" b="1" dirty="0">
                <a:latin typeface="Montserrat Light" panose="00000400000000000000"/>
              </a:rPr>
              <a:t>-compose up </a:t>
            </a:r>
            <a:endParaRPr lang="ru-RU" b="1" dirty="0" smtClean="0">
              <a:latin typeface="Montserrat Light" panose="0000040000000000000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dirty="0" smtClean="0">
                <a:latin typeface="Montserrat Light" panose="00000400000000000000"/>
              </a:rPr>
              <a:t>запуск в фоне </a:t>
            </a:r>
            <a:r>
              <a:rPr lang="en-US" b="1" dirty="0" err="1">
                <a:latin typeface="Montserrat Light" panose="00000400000000000000"/>
              </a:rPr>
              <a:t>docker</a:t>
            </a:r>
            <a:r>
              <a:rPr lang="en-US" b="1" dirty="0">
                <a:latin typeface="Montserrat Light" panose="00000400000000000000"/>
              </a:rPr>
              <a:t>-compose up </a:t>
            </a:r>
            <a:r>
              <a:rPr lang="en-US" b="1" dirty="0" smtClean="0">
                <a:latin typeface="Montserrat Light" panose="00000400000000000000"/>
              </a:rPr>
              <a:t>–d</a:t>
            </a:r>
            <a:endParaRPr lang="ru-RU" b="1" dirty="0" smtClean="0">
              <a:latin typeface="Montserrat Light" panose="0000040000000000000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dirty="0" smtClean="0">
                <a:latin typeface="Montserrat Light" panose="00000400000000000000"/>
              </a:rPr>
              <a:t>остановить контейнеры </a:t>
            </a:r>
            <a:r>
              <a:rPr lang="en-US" b="1" dirty="0" err="1">
                <a:latin typeface="Montserrat Light" panose="00000400000000000000"/>
              </a:rPr>
              <a:t>docker</a:t>
            </a:r>
            <a:r>
              <a:rPr lang="en-US" b="1" dirty="0">
                <a:latin typeface="Montserrat Light" panose="00000400000000000000"/>
              </a:rPr>
              <a:t>-compose </a:t>
            </a:r>
            <a:r>
              <a:rPr lang="en-US" b="1" dirty="0" smtClean="0">
                <a:latin typeface="Montserrat Light" panose="00000400000000000000"/>
              </a:rPr>
              <a:t>stop</a:t>
            </a:r>
            <a:endParaRPr lang="ru-RU" b="1" dirty="0" smtClean="0">
              <a:latin typeface="Montserrat Light" panose="0000040000000000000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dirty="0" smtClean="0">
                <a:latin typeface="Montserrat Light" panose="00000400000000000000"/>
              </a:rPr>
              <a:t>Остановить и удалить контейнеры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b="1" dirty="0" err="1" smtClean="0">
                <a:latin typeface="Montserrat Light" panose="00000400000000000000"/>
              </a:rPr>
              <a:t>docker</a:t>
            </a:r>
            <a:r>
              <a:rPr lang="en-US" b="1" dirty="0" smtClean="0">
                <a:latin typeface="Montserrat Light" panose="00000400000000000000"/>
              </a:rPr>
              <a:t>-compose down</a:t>
            </a:r>
            <a:endParaRPr lang="ru-RU" b="1" dirty="0" smtClean="0">
              <a:latin typeface="Montserrat Light" panose="0000040000000000000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b="1" dirty="0" smtClean="0">
              <a:latin typeface="Montserrat Light" panose="000004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2295517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04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829571C-1045-174A-AFAB-65AE5CF453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/>
          <a:p>
            <a:r>
              <a:rPr lang="en-US" sz="4300" dirty="0" err="1" smtClean="0">
                <a:latin typeface="Montserrat" pitchFamily="2" charset="0"/>
                <a:cs typeface="Times New Roman" panose="02020603050405020304" pitchFamily="18" charset="0"/>
              </a:rPr>
              <a:t>Dockefile</a:t>
            </a:r>
            <a:endParaRPr lang="ru-RU" sz="4300" dirty="0">
              <a:latin typeface="Montserrat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468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Введение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8490"/>
            <a:ext cx="10515600" cy="4420658"/>
          </a:xfrm>
        </p:spPr>
        <p:txBody>
          <a:bodyPr>
            <a:no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sz="2600" dirty="0" smtClean="0">
                <a:latin typeface="Montserrat Light" panose="00000400000000000000"/>
              </a:rPr>
              <a:t>Вспомни</a:t>
            </a:r>
            <a:r>
              <a:rPr lang="ru-RU" sz="2600" dirty="0">
                <a:latin typeface="Montserrat Light" panose="00000400000000000000"/>
              </a:rPr>
              <a:t>м</a:t>
            </a:r>
            <a:r>
              <a:rPr lang="ru-RU" sz="2600" dirty="0" smtClean="0">
                <a:latin typeface="Montserrat Light" panose="00000400000000000000"/>
              </a:rPr>
              <a:t> </a:t>
            </a:r>
            <a:r>
              <a:rPr lang="ru-RU" sz="2600" dirty="0">
                <a:latin typeface="Montserrat Light" panose="00000400000000000000"/>
              </a:rPr>
              <a:t>о том, что контейнер </a:t>
            </a:r>
            <a:r>
              <a:rPr lang="ru-RU" sz="2600" dirty="0" err="1">
                <a:latin typeface="Montserrat Light" panose="00000400000000000000"/>
              </a:rPr>
              <a:t>Docker</a:t>
            </a:r>
            <a:r>
              <a:rPr lang="ru-RU" sz="2600" dirty="0">
                <a:latin typeface="Montserrat Light" panose="00000400000000000000"/>
              </a:rPr>
              <a:t> — это образ </a:t>
            </a:r>
            <a:r>
              <a:rPr lang="ru-RU" sz="2600" dirty="0" err="1">
                <a:latin typeface="Montserrat Light" panose="00000400000000000000"/>
              </a:rPr>
              <a:t>Docker</a:t>
            </a:r>
            <a:r>
              <a:rPr lang="ru-RU" sz="2600" dirty="0">
                <a:latin typeface="Montserrat Light" panose="00000400000000000000"/>
              </a:rPr>
              <a:t>, вызванный к жизни. Это — самодостаточная операционная система, в которой имеется только самое необходимое и код приложения.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ru-RU" sz="2600" dirty="0">
              <a:latin typeface="Montserrat Light" panose="0000040000000000000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sz="2600" dirty="0">
                <a:latin typeface="Montserrat Light" panose="00000400000000000000"/>
              </a:rPr>
              <a:t>Образы </a:t>
            </a:r>
            <a:r>
              <a:rPr lang="ru-RU" sz="2600" dirty="0" err="1">
                <a:latin typeface="Montserrat Light" panose="00000400000000000000"/>
              </a:rPr>
              <a:t>Docker</a:t>
            </a:r>
            <a:r>
              <a:rPr lang="ru-RU" sz="2600" dirty="0">
                <a:latin typeface="Montserrat Light" panose="00000400000000000000"/>
              </a:rPr>
              <a:t> являются результатом процесса их сборки, а контейнеры </a:t>
            </a:r>
            <a:r>
              <a:rPr lang="ru-RU" sz="2600" dirty="0" err="1">
                <a:latin typeface="Montserrat Light" panose="00000400000000000000"/>
              </a:rPr>
              <a:t>Docker</a:t>
            </a:r>
            <a:r>
              <a:rPr lang="ru-RU" sz="2600" dirty="0">
                <a:latin typeface="Montserrat Light" panose="00000400000000000000"/>
              </a:rPr>
              <a:t> — это выполняющиеся образы. В самом сердце </a:t>
            </a:r>
            <a:r>
              <a:rPr lang="ru-RU" sz="2600" dirty="0" err="1">
                <a:latin typeface="Montserrat Light" panose="00000400000000000000"/>
              </a:rPr>
              <a:t>Docker</a:t>
            </a:r>
            <a:r>
              <a:rPr lang="ru-RU" sz="2600" dirty="0">
                <a:latin typeface="Montserrat Light" panose="00000400000000000000"/>
              </a:rPr>
              <a:t> находятся файлы </a:t>
            </a:r>
            <a:r>
              <a:rPr lang="ru-RU" sz="2600" dirty="0" err="1">
                <a:latin typeface="Montserrat Light" panose="00000400000000000000"/>
              </a:rPr>
              <a:t>Dockerfile</a:t>
            </a:r>
            <a:r>
              <a:rPr lang="ru-RU" sz="2600" dirty="0">
                <a:latin typeface="Montserrat Light" panose="00000400000000000000"/>
              </a:rPr>
              <a:t>. Подобные файлы сообщают </a:t>
            </a:r>
            <a:r>
              <a:rPr lang="ru-RU" sz="2600" dirty="0" err="1">
                <a:latin typeface="Montserrat Light" panose="00000400000000000000"/>
              </a:rPr>
              <a:t>Docker</a:t>
            </a:r>
            <a:r>
              <a:rPr lang="ru-RU" sz="2600" dirty="0">
                <a:latin typeface="Montserrat Light" panose="00000400000000000000"/>
              </a:rPr>
              <a:t> о том, как собирать образы, на основе которых создаются контейнеры.</a:t>
            </a:r>
            <a:endParaRPr lang="en-US" sz="2600" dirty="0" smtClean="0">
              <a:latin typeface="Montserrat Light" panose="000004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334099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Введение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8490"/>
            <a:ext cx="10515600" cy="4420658"/>
          </a:xfrm>
        </p:spPr>
        <p:txBody>
          <a:bodyPr>
            <a:no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sz="2600" dirty="0">
                <a:latin typeface="Montserrat Light" panose="00000400000000000000"/>
              </a:rPr>
              <a:t>Каждый слой, на самом деле, это всего лишь файл, который описывает изменение состояния образа в сравнении с тем состоянием, в котором он пребывал после добавления предыдущего слоя. В </a:t>
            </a:r>
            <a:r>
              <a:rPr lang="ru-RU" sz="2600" dirty="0" err="1">
                <a:latin typeface="Montserrat Light" panose="00000400000000000000"/>
              </a:rPr>
              <a:t>Unix</a:t>
            </a:r>
            <a:r>
              <a:rPr lang="ru-RU" sz="2600" dirty="0">
                <a:latin typeface="Montserrat Light" panose="00000400000000000000"/>
              </a:rPr>
              <a:t>, кстати, практически всё что угодно — это файл.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ru-RU" sz="2600" dirty="0">
              <a:latin typeface="Montserrat Light" panose="0000040000000000000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sz="2600" dirty="0">
                <a:latin typeface="Montserrat Light" panose="00000400000000000000"/>
              </a:rPr>
              <a:t>Базовый образ — это то, что является исходным слоем (или слоями) создаваемого образа. Базовый образ ещё называют родительским образом.</a:t>
            </a:r>
          </a:p>
        </p:txBody>
      </p:sp>
    </p:spTree>
    <p:extLst>
      <p:ext uri="{BB962C8B-B14F-4D97-AF65-F5344CB8AC3E}">
        <p14:creationId xmlns:p14="http://schemas.microsoft.com/office/powerpoint/2010/main" val="3680373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Введение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8490"/>
            <a:ext cx="10515600" cy="2446579"/>
          </a:xfrm>
        </p:spPr>
        <p:txBody>
          <a:bodyPr>
            <a:no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600" dirty="0" smtClean="0">
                <a:latin typeface="Montserrat Light" panose="00000400000000000000"/>
              </a:rPr>
              <a:t>В файлах </a:t>
            </a:r>
            <a:r>
              <a:rPr lang="ru-RU" sz="2600" dirty="0" err="1">
                <a:latin typeface="Montserrat Light" panose="00000400000000000000"/>
              </a:rPr>
              <a:t>Dockerfile</a:t>
            </a:r>
            <a:r>
              <a:rPr lang="ru-RU" sz="2600" dirty="0">
                <a:latin typeface="Montserrat Light" panose="00000400000000000000"/>
              </a:rPr>
              <a:t> содержатся инструкции по созданию образа. С них, набранных заглавными буквами, начинаются строки этого файла. После инструкций идут их аргументы. Инструкции, при сборке образа, обрабатываются сверху вниз. Вот как это выглядит: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838200" y="4329650"/>
            <a:ext cx="49519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4D4D4C"/>
                </a:solidFill>
                <a:latin typeface="Menlo"/>
              </a:rPr>
              <a:t>FROM ubuntu:18.04 COPY . /app</a:t>
            </a:r>
            <a:endParaRPr lang="ru-RU" b="1" dirty="0">
              <a:latin typeface="Montserrat Light" panose="000004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1861816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Введение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8490"/>
            <a:ext cx="10515600" cy="4420658"/>
          </a:xfrm>
        </p:spPr>
        <p:txBody>
          <a:bodyPr>
            <a:no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sz="2600" dirty="0">
                <a:latin typeface="Montserrat Light" panose="00000400000000000000"/>
              </a:rPr>
              <a:t>Слои в итоговом образе создают только инструкции </a:t>
            </a:r>
            <a:r>
              <a:rPr lang="ru-RU" sz="2600" b="1" dirty="0">
                <a:latin typeface="Montserrat Light" panose="00000400000000000000"/>
              </a:rPr>
              <a:t>FROM</a:t>
            </a:r>
            <a:r>
              <a:rPr lang="ru-RU" sz="2600" dirty="0">
                <a:latin typeface="Montserrat Light" panose="00000400000000000000"/>
              </a:rPr>
              <a:t>, </a:t>
            </a:r>
            <a:r>
              <a:rPr lang="ru-RU" sz="2600" b="1" dirty="0">
                <a:latin typeface="Montserrat Light" panose="00000400000000000000"/>
              </a:rPr>
              <a:t>RUN</a:t>
            </a:r>
            <a:r>
              <a:rPr lang="ru-RU" sz="2600" dirty="0">
                <a:latin typeface="Montserrat Light" panose="00000400000000000000"/>
              </a:rPr>
              <a:t>, </a:t>
            </a:r>
            <a:r>
              <a:rPr lang="ru-RU" sz="2600" b="1" dirty="0">
                <a:latin typeface="Montserrat Light" panose="00000400000000000000"/>
              </a:rPr>
              <a:t>COPY</a:t>
            </a:r>
            <a:r>
              <a:rPr lang="ru-RU" sz="2600" dirty="0">
                <a:latin typeface="Montserrat Light" panose="00000400000000000000"/>
              </a:rPr>
              <a:t>, и </a:t>
            </a:r>
            <a:r>
              <a:rPr lang="ru-RU" sz="2600" b="1" dirty="0">
                <a:latin typeface="Montserrat Light" panose="00000400000000000000"/>
              </a:rPr>
              <a:t>ADD</a:t>
            </a:r>
            <a:r>
              <a:rPr lang="ru-RU" sz="2600" dirty="0">
                <a:latin typeface="Montserrat Light" panose="00000400000000000000"/>
              </a:rPr>
              <a:t>. Другие инструкции что-то настраивают, описывают метаданные, или сообщают </a:t>
            </a:r>
            <a:r>
              <a:rPr lang="ru-RU" sz="2600" dirty="0" err="1">
                <a:latin typeface="Montserrat Light" panose="00000400000000000000"/>
              </a:rPr>
              <a:t>Docker</a:t>
            </a:r>
            <a:r>
              <a:rPr lang="ru-RU" sz="2600" dirty="0">
                <a:latin typeface="Montserrat Light" panose="00000400000000000000"/>
              </a:rPr>
              <a:t> о том, что во время выполнения контейнера нужно что-то сделать, например — открыть какой-то порт или выполнить какую-то команду. </a:t>
            </a:r>
          </a:p>
        </p:txBody>
      </p:sp>
    </p:spTree>
    <p:extLst>
      <p:ext uri="{BB962C8B-B14F-4D97-AF65-F5344CB8AC3E}">
        <p14:creationId xmlns:p14="http://schemas.microsoft.com/office/powerpoint/2010/main" val="2942171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 smtClean="0">
                <a:latin typeface="Montserrat" pitchFamily="2" charset="0"/>
              </a:rPr>
              <a:t>инструкции </a:t>
            </a:r>
            <a:r>
              <a:rPr lang="en-US" sz="3200" dirty="0" err="1">
                <a:latin typeface="Montserrat" pitchFamily="2" charset="0"/>
              </a:rPr>
              <a:t>Dockerfile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8490"/>
            <a:ext cx="10515600" cy="4420658"/>
          </a:xfrm>
        </p:spPr>
        <p:txBody>
          <a:bodyPr>
            <a:no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ru-RU" altLang="ru-RU" sz="2400" b="1" dirty="0" smtClean="0">
                <a:solidFill>
                  <a:srgbClr val="333333"/>
                </a:solidFill>
                <a:latin typeface="Montserrat Light" panose="00000400000000000000"/>
              </a:rPr>
              <a:t>FROM</a:t>
            </a:r>
            <a:r>
              <a:rPr lang="ru-RU" altLang="ru-RU" sz="2400" dirty="0">
                <a:solidFill>
                  <a:srgbClr val="333333"/>
                </a:solidFill>
                <a:latin typeface="Montserrat Light" panose="00000400000000000000"/>
              </a:rPr>
              <a:t> — задаёт базовый (родительский) </a:t>
            </a:r>
            <a:r>
              <a:rPr lang="ru-RU" altLang="ru-RU" sz="2400" dirty="0" smtClean="0">
                <a:solidFill>
                  <a:srgbClr val="333333"/>
                </a:solidFill>
                <a:latin typeface="Montserrat Light" panose="00000400000000000000"/>
              </a:rPr>
              <a:t>образ.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ru-RU" altLang="ru-RU" sz="2400" b="1" dirty="0" smtClean="0">
                <a:solidFill>
                  <a:srgbClr val="333333"/>
                </a:solidFill>
                <a:latin typeface="Montserrat Light" panose="00000400000000000000"/>
              </a:rPr>
              <a:t>LABEL</a:t>
            </a:r>
            <a:r>
              <a:rPr lang="ru-RU" altLang="ru-RU" sz="2400" dirty="0">
                <a:solidFill>
                  <a:srgbClr val="333333"/>
                </a:solidFill>
                <a:latin typeface="Montserrat Light" panose="00000400000000000000"/>
              </a:rPr>
              <a:t> — описывает метаданные. Например — сведения о том, кто создал и поддерживает образ.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ru-RU" altLang="ru-RU" sz="2400" b="1" dirty="0">
                <a:solidFill>
                  <a:srgbClr val="333333"/>
                </a:solidFill>
                <a:latin typeface="Montserrat Light" panose="00000400000000000000"/>
              </a:rPr>
              <a:t>ENV</a:t>
            </a:r>
            <a:r>
              <a:rPr lang="ru-RU" altLang="ru-RU" sz="2400" dirty="0">
                <a:solidFill>
                  <a:srgbClr val="333333"/>
                </a:solidFill>
                <a:latin typeface="Montserrat Light" panose="00000400000000000000"/>
              </a:rPr>
              <a:t> — устанавливает постоянные переменные среды.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ru-RU" altLang="ru-RU" sz="2400" b="1" dirty="0">
                <a:solidFill>
                  <a:srgbClr val="333333"/>
                </a:solidFill>
                <a:latin typeface="Montserrat Light" panose="00000400000000000000"/>
              </a:rPr>
              <a:t>RUN</a:t>
            </a:r>
            <a:r>
              <a:rPr lang="ru-RU" altLang="ru-RU" sz="2400" dirty="0">
                <a:solidFill>
                  <a:srgbClr val="333333"/>
                </a:solidFill>
                <a:latin typeface="Montserrat Light" panose="00000400000000000000"/>
              </a:rPr>
              <a:t> — выполняет команду и создаёт слой образа. Используется для установки в контейнер пакетов.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ru-RU" altLang="ru-RU" sz="2400" b="1" dirty="0">
                <a:solidFill>
                  <a:srgbClr val="333333"/>
                </a:solidFill>
                <a:latin typeface="Montserrat Light" panose="00000400000000000000"/>
              </a:rPr>
              <a:t>COPY</a:t>
            </a:r>
            <a:r>
              <a:rPr lang="ru-RU" altLang="ru-RU" sz="2400" dirty="0">
                <a:solidFill>
                  <a:srgbClr val="333333"/>
                </a:solidFill>
                <a:latin typeface="Montserrat Light" panose="00000400000000000000"/>
              </a:rPr>
              <a:t> — копирует в контейнер файлы и папки.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ru-RU" altLang="ru-RU" sz="2400" b="1" dirty="0">
                <a:solidFill>
                  <a:srgbClr val="333333"/>
                </a:solidFill>
                <a:latin typeface="Montserrat Light" panose="00000400000000000000"/>
              </a:rPr>
              <a:t>ADD</a:t>
            </a:r>
            <a:r>
              <a:rPr lang="ru-RU" altLang="ru-RU" sz="2400" dirty="0">
                <a:solidFill>
                  <a:srgbClr val="333333"/>
                </a:solidFill>
                <a:latin typeface="Montserrat Light" panose="00000400000000000000"/>
              </a:rPr>
              <a:t> — копирует файлы и папки в контейнер, может распаковывать локальные .</a:t>
            </a:r>
            <a:r>
              <a:rPr lang="ru-RU" altLang="ru-RU" sz="2400" dirty="0" err="1">
                <a:solidFill>
                  <a:srgbClr val="333333"/>
                </a:solidFill>
                <a:latin typeface="Montserrat Light" panose="00000400000000000000"/>
              </a:rPr>
              <a:t>tar</a:t>
            </a:r>
            <a:r>
              <a:rPr lang="ru-RU" altLang="ru-RU" sz="2400" dirty="0">
                <a:solidFill>
                  <a:srgbClr val="333333"/>
                </a:solidFill>
                <a:latin typeface="Montserrat Light" panose="00000400000000000000"/>
              </a:rPr>
              <a:t>-файлы.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2400" dirty="0">
              <a:latin typeface="Montserrat Light" panose="000004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1302833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инструкции </a:t>
            </a:r>
            <a:r>
              <a:rPr lang="en-US" sz="3200" dirty="0" err="1">
                <a:latin typeface="Montserrat" pitchFamily="2" charset="0"/>
              </a:rPr>
              <a:t>Dockerfile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8668"/>
            <a:ext cx="10515600" cy="4420658"/>
          </a:xfrm>
        </p:spPr>
        <p:txBody>
          <a:bodyPr>
            <a:no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ru-RU" altLang="ru-RU" sz="2200" b="1" dirty="0">
                <a:solidFill>
                  <a:srgbClr val="333333"/>
                </a:solidFill>
                <a:latin typeface="Montserrat Light" panose="00000400000000000000"/>
              </a:rPr>
              <a:t>CMD</a:t>
            </a: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 — описывает команду с аргументами, которую нужно выполнить когда контейнер будет запущен. Аргументы могут быть переопределены при запуске контейнера. В файле может присутствовать лишь одна инструкция CMD.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ru-RU" altLang="ru-RU" sz="2200" b="1" dirty="0">
                <a:solidFill>
                  <a:srgbClr val="333333"/>
                </a:solidFill>
                <a:latin typeface="Montserrat Light" panose="00000400000000000000"/>
              </a:rPr>
              <a:t>WORKDIR</a:t>
            </a: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 — задаёт рабочую директорию для следующей инструкции.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ru-RU" altLang="ru-RU" sz="2200" b="1" dirty="0">
                <a:solidFill>
                  <a:srgbClr val="333333"/>
                </a:solidFill>
                <a:latin typeface="Montserrat Light" panose="00000400000000000000"/>
              </a:rPr>
              <a:t>ARG</a:t>
            </a: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 — задаёт переменные для передачи </a:t>
            </a:r>
            <a:r>
              <a:rPr lang="ru-RU" altLang="ru-RU" sz="2200" dirty="0" err="1">
                <a:solidFill>
                  <a:srgbClr val="333333"/>
                </a:solidFill>
                <a:latin typeface="Montserrat Light" panose="00000400000000000000"/>
              </a:rPr>
              <a:t>Docker</a:t>
            </a: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 во время сборки образа.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ru-RU" altLang="ru-RU" sz="2200" b="1" dirty="0">
                <a:solidFill>
                  <a:srgbClr val="333333"/>
                </a:solidFill>
                <a:latin typeface="Montserrat Light" panose="00000400000000000000"/>
              </a:rPr>
              <a:t>ENTRYPOINT</a:t>
            </a: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 — предоставляет команду с аргументами для вызова во время выполнения контейнера. Аргументы не переопределяются.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ru-RU" altLang="ru-RU" sz="2200" b="1" dirty="0">
                <a:solidFill>
                  <a:srgbClr val="333333"/>
                </a:solidFill>
                <a:latin typeface="Montserrat Light" panose="00000400000000000000"/>
              </a:rPr>
              <a:t>EXPOSE</a:t>
            </a: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 — указывает на необходимость открыть порт.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ru-RU" altLang="ru-RU" sz="2200" b="1" dirty="0">
                <a:solidFill>
                  <a:srgbClr val="333333"/>
                </a:solidFill>
                <a:latin typeface="Montserrat Light" panose="00000400000000000000"/>
              </a:rPr>
              <a:t>VOLUME</a:t>
            </a: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 — создаёт точку монтирования для работы с постоянным хранилищем.</a:t>
            </a:r>
          </a:p>
        </p:txBody>
      </p:sp>
    </p:spTree>
    <p:extLst>
      <p:ext uri="{BB962C8B-B14F-4D97-AF65-F5344CB8AC3E}">
        <p14:creationId xmlns:p14="http://schemas.microsoft.com/office/powerpoint/2010/main" val="1699511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 smtClean="0">
                <a:latin typeface="Montserrat" pitchFamily="2" charset="0"/>
              </a:rPr>
              <a:t>Пример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8668"/>
            <a:ext cx="10515600" cy="4420658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200" dirty="0" err="1">
                <a:solidFill>
                  <a:srgbClr val="333333"/>
                </a:solidFill>
                <a:latin typeface="Montserrat Light" panose="00000400000000000000"/>
              </a:rPr>
              <a:t>Dockerfile</a:t>
            </a: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 может быть чрезвычайно простым и коротким. Например — таким</a:t>
            </a:r>
            <a:r>
              <a:rPr lang="ru-RU" altLang="ru-RU" sz="2200" dirty="0" smtClean="0">
                <a:solidFill>
                  <a:srgbClr val="333333"/>
                </a:solidFill>
                <a:latin typeface="Montserrat Light" panose="00000400000000000000"/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2200" dirty="0" smtClean="0">
              <a:solidFill>
                <a:srgbClr val="333333"/>
              </a:solidFill>
              <a:latin typeface="Montserrat Light" panose="0000040000000000000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ru-RU" sz="2200" dirty="0">
                <a:solidFill>
                  <a:srgbClr val="333333"/>
                </a:solidFill>
                <a:latin typeface="Montserrat Light" panose="00000400000000000000"/>
              </a:rPr>
              <a:t>FROM python:3.7.2-alpine3.8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ru-RU" sz="2200" dirty="0">
                <a:solidFill>
                  <a:srgbClr val="333333"/>
                </a:solidFill>
                <a:latin typeface="Montserrat Light" panose="00000400000000000000"/>
              </a:rPr>
              <a:t>LABEL maintainer="jeffmshale@gmail.com"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ru-RU" sz="2200" dirty="0">
                <a:solidFill>
                  <a:srgbClr val="333333"/>
                </a:solidFill>
                <a:latin typeface="Montserrat Light" panose="00000400000000000000"/>
              </a:rPr>
              <a:t>ENV ADMIN="</a:t>
            </a:r>
            <a:r>
              <a:rPr lang="en-US" altLang="ru-RU" sz="2200" dirty="0" err="1">
                <a:solidFill>
                  <a:srgbClr val="333333"/>
                </a:solidFill>
                <a:latin typeface="Montserrat Light" panose="00000400000000000000"/>
              </a:rPr>
              <a:t>jeff</a:t>
            </a:r>
            <a:r>
              <a:rPr lang="en-US" altLang="ru-RU" sz="2200" dirty="0">
                <a:solidFill>
                  <a:srgbClr val="333333"/>
                </a:solidFill>
                <a:latin typeface="Montserrat Light" panose="00000400000000000000"/>
              </a:rPr>
              <a:t>"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ru-RU" sz="2200" dirty="0">
                <a:solidFill>
                  <a:srgbClr val="333333"/>
                </a:solidFill>
                <a:latin typeface="Montserrat Light" panose="00000400000000000000"/>
              </a:rPr>
              <a:t>RUN </a:t>
            </a:r>
            <a:r>
              <a:rPr lang="en-US" altLang="ru-RU" sz="2200" dirty="0" err="1">
                <a:solidFill>
                  <a:srgbClr val="333333"/>
                </a:solidFill>
                <a:latin typeface="Montserrat Light" panose="00000400000000000000"/>
              </a:rPr>
              <a:t>apk</a:t>
            </a:r>
            <a:r>
              <a:rPr lang="en-US" altLang="ru-RU" sz="2200" dirty="0">
                <a:solidFill>
                  <a:srgbClr val="333333"/>
                </a:solidFill>
                <a:latin typeface="Montserrat Light" panose="00000400000000000000"/>
              </a:rPr>
              <a:t> update &amp;&amp; </a:t>
            </a:r>
            <a:r>
              <a:rPr lang="en-US" altLang="ru-RU" sz="2200" dirty="0" err="1">
                <a:solidFill>
                  <a:srgbClr val="333333"/>
                </a:solidFill>
                <a:latin typeface="Montserrat Light" panose="00000400000000000000"/>
              </a:rPr>
              <a:t>apk</a:t>
            </a:r>
            <a:r>
              <a:rPr lang="en-US" altLang="ru-RU" sz="2200" dirty="0">
                <a:solidFill>
                  <a:srgbClr val="333333"/>
                </a:solidFill>
                <a:latin typeface="Montserrat Light" panose="00000400000000000000"/>
              </a:rPr>
              <a:t> upgrade &amp;&amp; </a:t>
            </a:r>
            <a:r>
              <a:rPr lang="en-US" altLang="ru-RU" sz="2200" dirty="0" err="1">
                <a:solidFill>
                  <a:srgbClr val="333333"/>
                </a:solidFill>
                <a:latin typeface="Montserrat Light" panose="00000400000000000000"/>
              </a:rPr>
              <a:t>apk</a:t>
            </a:r>
            <a:r>
              <a:rPr lang="en-US" altLang="ru-RU" sz="2200" dirty="0">
                <a:solidFill>
                  <a:srgbClr val="333333"/>
                </a:solidFill>
                <a:latin typeface="Montserrat Light" panose="00000400000000000000"/>
              </a:rPr>
              <a:t> add bash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ru-RU" sz="2200" dirty="0">
                <a:solidFill>
                  <a:srgbClr val="333333"/>
                </a:solidFill>
                <a:latin typeface="Montserrat Light" panose="00000400000000000000"/>
              </a:rPr>
              <a:t>COPY . ./app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ru-RU" sz="2200" dirty="0">
                <a:solidFill>
                  <a:srgbClr val="333333"/>
                </a:solidFill>
                <a:latin typeface="Montserrat Light" panose="00000400000000000000"/>
              </a:rPr>
              <a:t>ADD https://raw.githubusercontent.com/discdiver/pachy-vid/master/sample_vids/vid1.mp4 \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ru-RU" sz="2200" dirty="0">
                <a:solidFill>
                  <a:srgbClr val="333333"/>
                </a:solidFill>
                <a:latin typeface="Montserrat Light" panose="00000400000000000000"/>
              </a:rPr>
              <a:t>/</a:t>
            </a:r>
            <a:r>
              <a:rPr lang="en-US" altLang="ru-RU" sz="2200" dirty="0" err="1">
                <a:solidFill>
                  <a:srgbClr val="333333"/>
                </a:solidFill>
                <a:latin typeface="Montserrat Light" panose="00000400000000000000"/>
              </a:rPr>
              <a:t>my_app_directory</a:t>
            </a:r>
            <a:endParaRPr lang="en-US" altLang="ru-RU" sz="2200" dirty="0">
              <a:solidFill>
                <a:srgbClr val="333333"/>
              </a:solidFill>
              <a:latin typeface="Montserrat Light" panose="0000040000000000000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ru-RU" sz="2200" dirty="0">
                <a:solidFill>
                  <a:srgbClr val="333333"/>
                </a:solidFill>
                <a:latin typeface="Montserrat Light" panose="00000400000000000000"/>
              </a:rPr>
              <a:t>RUN ["</a:t>
            </a:r>
            <a:r>
              <a:rPr lang="en-US" altLang="ru-RU" sz="2200" dirty="0" err="1">
                <a:solidFill>
                  <a:srgbClr val="333333"/>
                </a:solidFill>
                <a:latin typeface="Montserrat Light" panose="00000400000000000000"/>
              </a:rPr>
              <a:t>mkdir</a:t>
            </a:r>
            <a:r>
              <a:rPr lang="en-US" altLang="ru-RU" sz="2200" dirty="0">
                <a:solidFill>
                  <a:srgbClr val="333333"/>
                </a:solidFill>
                <a:latin typeface="Montserrat Light" panose="00000400000000000000"/>
              </a:rPr>
              <a:t>", "/</a:t>
            </a:r>
            <a:r>
              <a:rPr lang="en-US" altLang="ru-RU" sz="2200" dirty="0" err="1">
                <a:solidFill>
                  <a:srgbClr val="333333"/>
                </a:solidFill>
                <a:latin typeface="Montserrat Light" panose="00000400000000000000"/>
              </a:rPr>
              <a:t>a_directory</a:t>
            </a:r>
            <a:r>
              <a:rPr lang="en-US" altLang="ru-RU" sz="2200" dirty="0">
                <a:solidFill>
                  <a:srgbClr val="333333"/>
                </a:solidFill>
                <a:latin typeface="Montserrat Light" panose="00000400000000000000"/>
              </a:rPr>
              <a:t>"]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ru-RU" sz="2200" dirty="0">
                <a:solidFill>
                  <a:srgbClr val="333333"/>
                </a:solidFill>
                <a:latin typeface="Montserrat Light" panose="00000400000000000000"/>
              </a:rPr>
              <a:t>CMD ["python", "./my_script.py"]</a:t>
            </a:r>
            <a:endParaRPr lang="ru-RU" altLang="ru-RU" sz="2200" dirty="0">
              <a:solidFill>
                <a:srgbClr val="333333"/>
              </a:solidFill>
              <a:latin typeface="Montserrat Light" panose="000004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2867679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Инструкция </a:t>
            </a:r>
            <a:r>
              <a:rPr lang="en-US" sz="3200" dirty="0">
                <a:latin typeface="Montserrat" pitchFamily="2" charset="0"/>
              </a:rPr>
              <a:t>FROM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8668"/>
            <a:ext cx="10515600" cy="4420658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Файл </a:t>
            </a:r>
            <a:r>
              <a:rPr lang="ru-RU" altLang="ru-RU" sz="2200" dirty="0" err="1">
                <a:solidFill>
                  <a:srgbClr val="333333"/>
                </a:solidFill>
                <a:latin typeface="Montserrat Light" panose="00000400000000000000"/>
              </a:rPr>
              <a:t>Dockerfile</a:t>
            </a: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 должен начинаться с инструкции FROM, или с инструкции ARG, за которой идёт инструкция FROM.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2200" b="1" dirty="0" smtClean="0">
              <a:solidFill>
                <a:srgbClr val="333333"/>
              </a:solidFill>
              <a:latin typeface="Montserrat Light" panose="0000040000000000000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Ключевое слово </a:t>
            </a:r>
            <a:r>
              <a:rPr lang="ru-RU" altLang="ru-RU" sz="2200" b="1" dirty="0">
                <a:solidFill>
                  <a:srgbClr val="333333"/>
                </a:solidFill>
                <a:latin typeface="Montserrat Light" panose="00000400000000000000"/>
              </a:rPr>
              <a:t>FROM</a:t>
            </a: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 сообщает </a:t>
            </a:r>
            <a:r>
              <a:rPr lang="ru-RU" altLang="ru-RU" sz="2200" dirty="0" err="1">
                <a:solidFill>
                  <a:srgbClr val="333333"/>
                </a:solidFill>
                <a:latin typeface="Montserrat Light" panose="00000400000000000000"/>
              </a:rPr>
              <a:t>Docker</a:t>
            </a: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 о том, чтобы при сборке образа использовался бы базовый образ, который соответствует предоставленному имени и тегу. </a:t>
            </a:r>
            <a:endParaRPr lang="ru-RU" altLang="ru-RU" sz="2200" dirty="0" smtClean="0">
              <a:solidFill>
                <a:srgbClr val="333333"/>
              </a:solidFill>
              <a:latin typeface="Montserrat Light" panose="0000040000000000000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200" dirty="0" smtClean="0">
                <a:solidFill>
                  <a:srgbClr val="333333"/>
                </a:solidFill>
                <a:latin typeface="Montserrat Light" panose="00000400000000000000"/>
              </a:rPr>
              <a:t>Базовый </a:t>
            </a: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образ, кроме того, ещё называют </a:t>
            </a:r>
            <a:r>
              <a:rPr lang="ru-RU" altLang="ru-RU" sz="2200" b="1" dirty="0">
                <a:solidFill>
                  <a:srgbClr val="333333"/>
                </a:solidFill>
                <a:latin typeface="Montserrat Light" panose="00000400000000000000"/>
              </a:rPr>
              <a:t>родительским образом</a:t>
            </a: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07401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Инструкция </a:t>
            </a:r>
            <a:r>
              <a:rPr lang="en-US" sz="3200" dirty="0">
                <a:latin typeface="Montserrat" pitchFamily="2" charset="0"/>
              </a:rPr>
              <a:t>FROM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8668"/>
            <a:ext cx="10515600" cy="4420658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В этом примере базовый образ хранится в </a:t>
            </a:r>
            <a:r>
              <a:rPr lang="ru-RU" altLang="ru-RU" sz="2200" dirty="0" err="1">
                <a:solidFill>
                  <a:srgbClr val="333333"/>
                </a:solidFill>
                <a:latin typeface="Montserrat Light" panose="00000400000000000000"/>
              </a:rPr>
              <a:t>репозитории</a:t>
            </a: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 </a:t>
            </a:r>
            <a:r>
              <a:rPr lang="ru-RU" altLang="ru-RU" sz="2200" dirty="0" err="1">
                <a:solidFill>
                  <a:srgbClr val="333333"/>
                </a:solidFill>
                <a:latin typeface="Montserrat Light" panose="00000400000000000000"/>
              </a:rPr>
              <a:t>ubuntu</a:t>
            </a: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. </a:t>
            </a:r>
            <a:endParaRPr lang="ru-RU" altLang="ru-RU" sz="2200" dirty="0" smtClean="0">
              <a:solidFill>
                <a:srgbClr val="333333"/>
              </a:solidFill>
              <a:latin typeface="Montserrat Light" panose="0000040000000000000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2200" dirty="0">
              <a:solidFill>
                <a:srgbClr val="333333"/>
              </a:solidFill>
              <a:latin typeface="Montserrat Light" panose="0000040000000000000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200" dirty="0" smtClean="0">
                <a:solidFill>
                  <a:srgbClr val="333333"/>
                </a:solidFill>
                <a:latin typeface="Montserrat Light" panose="00000400000000000000"/>
              </a:rPr>
              <a:t>В рассматриваемом </a:t>
            </a:r>
            <a:r>
              <a:rPr lang="ru-RU" altLang="ru-RU" sz="2200" dirty="0" err="1">
                <a:solidFill>
                  <a:srgbClr val="333333"/>
                </a:solidFill>
                <a:latin typeface="Montserrat Light" panose="00000400000000000000"/>
              </a:rPr>
              <a:t>Dockerfile</a:t>
            </a: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 </a:t>
            </a:r>
            <a:r>
              <a:rPr lang="ru-RU" altLang="ru-RU" sz="2200" dirty="0" smtClean="0">
                <a:solidFill>
                  <a:srgbClr val="333333"/>
                </a:solidFill>
                <a:latin typeface="Montserrat Light" panose="00000400000000000000"/>
              </a:rPr>
              <a:t>есть тег</a:t>
            </a: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 18.04, уточняющий то, какой именно базовый образ нам нужен. Именно этот образ и будет загружен при сборке нашего образа. Если тег в инструкцию не включён, тогда </a:t>
            </a:r>
            <a:r>
              <a:rPr lang="ru-RU" altLang="ru-RU" sz="2200" dirty="0" err="1">
                <a:solidFill>
                  <a:srgbClr val="333333"/>
                </a:solidFill>
                <a:latin typeface="Montserrat Light" panose="00000400000000000000"/>
              </a:rPr>
              <a:t>Docker</a:t>
            </a: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 исходит из предположения о том, что требуется самый свежий образ из </a:t>
            </a:r>
            <a:r>
              <a:rPr lang="ru-RU" altLang="ru-RU" sz="2200" dirty="0" err="1" smtClean="0">
                <a:solidFill>
                  <a:srgbClr val="333333"/>
                </a:solidFill>
                <a:latin typeface="Montserrat Light" panose="00000400000000000000"/>
              </a:rPr>
              <a:t>репозитория</a:t>
            </a:r>
            <a:r>
              <a:rPr lang="ru-RU" altLang="ru-RU" sz="2200" dirty="0" smtClean="0">
                <a:solidFill>
                  <a:srgbClr val="333333"/>
                </a:solidFill>
                <a:latin typeface="Montserrat Light" panose="0000040000000000000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2200" dirty="0">
              <a:solidFill>
                <a:srgbClr val="333333"/>
              </a:solidFill>
              <a:latin typeface="Montserrat Light" panose="0000040000000000000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При создании контейнера слой, в который можно вносить изменения, добавляется поверх всех остальных слоёв. Данные, находящиеся в остальных слоях, можно только читать.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2200" dirty="0">
              <a:solidFill>
                <a:srgbClr val="333333"/>
              </a:solidFill>
              <a:latin typeface="Montserrat Light" panose="000004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4231724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>
            <a:normAutofit/>
          </a:bodyPr>
          <a:lstStyle/>
          <a:p>
            <a:pPr algn="ctr"/>
            <a:r>
              <a:rPr lang="ru-RU" sz="3200" dirty="0">
                <a:latin typeface="Montserrat" pitchFamily="2" charset="0"/>
              </a:rPr>
              <a:t>Инструкция </a:t>
            </a:r>
            <a:r>
              <a:rPr lang="en-US" sz="3200" dirty="0">
                <a:latin typeface="Montserrat" pitchFamily="2" charset="0"/>
              </a:rPr>
              <a:t>FROM</a:t>
            </a:r>
            <a:endParaRPr lang="ru-RU" dirty="0">
              <a:latin typeface="Montserrat" pitchFamily="2" charset="0"/>
            </a:endParaRPr>
          </a:p>
        </p:txBody>
      </p:sp>
      <p:pic>
        <p:nvPicPr>
          <p:cNvPr id="24578" name="Picture 2" descr="https://habrastorage.org/r/w1560/getpro/habr/post_images/912/530/d4f/912530d4f3468f0bff2a064d58d62caf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584" y="1622321"/>
            <a:ext cx="6360831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4490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Инструкция </a:t>
            </a:r>
            <a:r>
              <a:rPr lang="en-US" sz="3200" dirty="0">
                <a:latin typeface="Montserrat" pitchFamily="2" charset="0"/>
              </a:rPr>
              <a:t>LABEL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8668"/>
            <a:ext cx="10515600" cy="4420658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Инструкция</a:t>
            </a:r>
            <a:r>
              <a:rPr lang="ru-RU" altLang="ru-RU" sz="2200" b="1" dirty="0">
                <a:solidFill>
                  <a:srgbClr val="333333"/>
                </a:solidFill>
                <a:latin typeface="Montserrat Light" panose="00000400000000000000"/>
              </a:rPr>
              <a:t> LABEL </a:t>
            </a: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(метка) позволяет добавлять в образ метаданные. В случае с рассматриваемым сейчас файлом, она включает в себя контактные сведения создателя образа. Объявление меток не замедляет процесс сборки образа и не увеличивает его размер. Они лишь содержат в себе полезную информацию об образе </a:t>
            </a:r>
            <a:r>
              <a:rPr lang="ru-RU" altLang="ru-RU" sz="2200" dirty="0" err="1">
                <a:solidFill>
                  <a:srgbClr val="333333"/>
                </a:solidFill>
                <a:latin typeface="Montserrat Light" panose="00000400000000000000"/>
              </a:rPr>
              <a:t>Docker</a:t>
            </a: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, поэтому их рекомендуется включать в файл</a:t>
            </a:r>
          </a:p>
        </p:txBody>
      </p:sp>
    </p:spTree>
    <p:extLst>
      <p:ext uri="{BB962C8B-B14F-4D97-AF65-F5344CB8AC3E}">
        <p14:creationId xmlns:p14="http://schemas.microsoft.com/office/powerpoint/2010/main" val="2315521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Инструкция </a:t>
            </a:r>
            <a:r>
              <a:rPr lang="en-US" sz="3200" dirty="0">
                <a:latin typeface="Montserrat" pitchFamily="2" charset="0"/>
              </a:rPr>
              <a:t>ENV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8668"/>
            <a:ext cx="10515600" cy="4420658"/>
          </a:xfrm>
        </p:spPr>
        <p:txBody>
          <a:bodyPr>
            <a:no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000" dirty="0">
                <a:solidFill>
                  <a:srgbClr val="333333"/>
                </a:solidFill>
                <a:latin typeface="Montserrat Light" panose="00000400000000000000"/>
              </a:rPr>
              <a:t>Инструкция </a:t>
            </a:r>
            <a:r>
              <a:rPr lang="ru-RU" altLang="ru-RU" sz="2000" b="1" dirty="0">
                <a:solidFill>
                  <a:srgbClr val="333333"/>
                </a:solidFill>
                <a:latin typeface="Montserrat Light" panose="00000400000000000000"/>
              </a:rPr>
              <a:t>ENV</a:t>
            </a:r>
            <a:r>
              <a:rPr lang="ru-RU" altLang="ru-RU" sz="2000" dirty="0">
                <a:solidFill>
                  <a:srgbClr val="333333"/>
                </a:solidFill>
                <a:latin typeface="Montserrat Light" panose="00000400000000000000"/>
              </a:rPr>
              <a:t> позволяет задавать постоянные переменные среды, которые будут доступны в контейнере во время его </a:t>
            </a:r>
            <a:r>
              <a:rPr lang="ru-RU" altLang="ru-RU" sz="2000" dirty="0" smtClean="0">
                <a:solidFill>
                  <a:srgbClr val="333333"/>
                </a:solidFill>
                <a:latin typeface="Montserrat Light" panose="00000400000000000000"/>
              </a:rPr>
              <a:t>выполнения.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000" dirty="0">
                <a:solidFill>
                  <a:srgbClr val="333333"/>
                </a:solidFill>
                <a:latin typeface="Montserrat Light" panose="00000400000000000000"/>
              </a:rPr>
              <a:t>Инструкция </a:t>
            </a:r>
            <a:r>
              <a:rPr lang="ru-RU" altLang="ru-RU" sz="2000" b="1" dirty="0">
                <a:solidFill>
                  <a:srgbClr val="333333"/>
                </a:solidFill>
                <a:latin typeface="Montserrat Light" panose="00000400000000000000"/>
              </a:rPr>
              <a:t>ENV</a:t>
            </a:r>
            <a:r>
              <a:rPr lang="ru-RU" altLang="ru-RU" sz="2000" dirty="0">
                <a:solidFill>
                  <a:srgbClr val="333333"/>
                </a:solidFill>
                <a:latin typeface="Montserrat Light" panose="00000400000000000000"/>
              </a:rPr>
              <a:t> хорошо подходит для задания констант. Если вы используете некое значение в </a:t>
            </a:r>
            <a:r>
              <a:rPr lang="ru-RU" altLang="ru-RU" sz="2000" dirty="0" err="1">
                <a:solidFill>
                  <a:srgbClr val="333333"/>
                </a:solidFill>
                <a:latin typeface="Montserrat Light" panose="00000400000000000000"/>
              </a:rPr>
              <a:t>Dockerfile</a:t>
            </a:r>
            <a:r>
              <a:rPr lang="ru-RU" altLang="ru-RU" sz="2000" dirty="0">
                <a:solidFill>
                  <a:srgbClr val="333333"/>
                </a:solidFill>
                <a:latin typeface="Montserrat Light" panose="00000400000000000000"/>
              </a:rPr>
              <a:t> несколько раз, скажем, при описании команд, выполняющихся в контейнере, и подозреваете, что, возможно, вам когда-нибудь придётся сменить его на другое, его имеет смысл записать в подобную </a:t>
            </a:r>
            <a:r>
              <a:rPr lang="ru-RU" altLang="ru-RU" sz="2000" dirty="0" smtClean="0">
                <a:solidFill>
                  <a:srgbClr val="333333"/>
                </a:solidFill>
                <a:latin typeface="Montserrat Light" panose="00000400000000000000"/>
              </a:rPr>
              <a:t>константу.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000" dirty="0" smtClean="0">
                <a:solidFill>
                  <a:srgbClr val="333333"/>
                </a:solidFill>
                <a:latin typeface="Montserrat Light" panose="00000400000000000000"/>
              </a:rPr>
              <a:t>Надо </a:t>
            </a:r>
            <a:r>
              <a:rPr lang="ru-RU" altLang="ru-RU" sz="2000" dirty="0">
                <a:solidFill>
                  <a:srgbClr val="333333"/>
                </a:solidFill>
                <a:latin typeface="Montserrat Light" panose="00000400000000000000"/>
              </a:rPr>
              <a:t>отметить, что в файлах </a:t>
            </a:r>
            <a:r>
              <a:rPr lang="ru-RU" altLang="ru-RU" sz="2000" dirty="0" err="1">
                <a:solidFill>
                  <a:srgbClr val="333333"/>
                </a:solidFill>
                <a:latin typeface="Montserrat Light" panose="00000400000000000000"/>
              </a:rPr>
              <a:t>Dockerfile</a:t>
            </a:r>
            <a:r>
              <a:rPr lang="ru-RU" altLang="ru-RU" sz="2000" dirty="0">
                <a:solidFill>
                  <a:srgbClr val="333333"/>
                </a:solidFill>
                <a:latin typeface="Montserrat Light" panose="00000400000000000000"/>
              </a:rPr>
              <a:t> часто существуют разные способы решения одних и тех же задач. Что именно использовать — это вопрос, на решение которого влияет стремление к соблюдению принятых в среде </a:t>
            </a:r>
            <a:r>
              <a:rPr lang="ru-RU" altLang="ru-RU" sz="2000" dirty="0" err="1">
                <a:solidFill>
                  <a:srgbClr val="333333"/>
                </a:solidFill>
                <a:latin typeface="Montserrat Light" panose="00000400000000000000"/>
              </a:rPr>
              <a:t>Docker</a:t>
            </a:r>
            <a:r>
              <a:rPr lang="ru-RU" altLang="ru-RU" sz="2000" dirty="0">
                <a:solidFill>
                  <a:srgbClr val="333333"/>
                </a:solidFill>
                <a:latin typeface="Montserrat Light" panose="00000400000000000000"/>
              </a:rPr>
              <a:t> методов работы, к обеспечению прозрачности решения и его высокой производительности. </a:t>
            </a:r>
            <a:endParaRPr lang="ru-RU" altLang="ru-RU" sz="2000" dirty="0" smtClean="0">
              <a:solidFill>
                <a:srgbClr val="333333"/>
              </a:solidFill>
              <a:latin typeface="Montserrat Light" panose="0000040000000000000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000" dirty="0" smtClean="0">
                <a:solidFill>
                  <a:srgbClr val="333333"/>
                </a:solidFill>
                <a:latin typeface="Montserrat Light" panose="00000400000000000000"/>
              </a:rPr>
              <a:t>Например</a:t>
            </a:r>
            <a:r>
              <a:rPr lang="ru-RU" altLang="ru-RU" sz="2000" dirty="0">
                <a:solidFill>
                  <a:srgbClr val="333333"/>
                </a:solidFill>
                <a:latin typeface="Montserrat Light" panose="00000400000000000000"/>
              </a:rPr>
              <a:t>, инструкции </a:t>
            </a:r>
            <a:r>
              <a:rPr lang="ru-RU" altLang="ru-RU" sz="2000" b="1" dirty="0">
                <a:solidFill>
                  <a:srgbClr val="333333"/>
                </a:solidFill>
                <a:latin typeface="Montserrat Light" panose="00000400000000000000"/>
              </a:rPr>
              <a:t>RUN, CMD и ENTRYPOINT</a:t>
            </a:r>
            <a:r>
              <a:rPr lang="ru-RU" altLang="ru-RU" sz="2000" dirty="0">
                <a:solidFill>
                  <a:srgbClr val="333333"/>
                </a:solidFill>
                <a:latin typeface="Montserrat Light" panose="00000400000000000000"/>
              </a:rPr>
              <a:t> служат разным целям, но все они используются для выполнения команд.</a:t>
            </a:r>
            <a:r>
              <a:rPr lang="ru-RU" altLang="ru-RU" sz="2000" dirty="0">
                <a:latin typeface="Montserrat Light" panose="00000400000000000000"/>
              </a:rPr>
              <a:t>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1400" dirty="0" smtClean="0">
              <a:solidFill>
                <a:srgbClr val="333333"/>
              </a:solidFill>
              <a:latin typeface="Montserrat Light" panose="000004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511522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Инструкция </a:t>
            </a:r>
            <a:r>
              <a:rPr lang="en-US" sz="3200" dirty="0">
                <a:latin typeface="Montserrat" pitchFamily="2" charset="0"/>
              </a:rPr>
              <a:t>RUN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8668"/>
            <a:ext cx="10515600" cy="4420658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Инструкция </a:t>
            </a:r>
            <a:r>
              <a:rPr lang="ru-RU" altLang="ru-RU" sz="2200" b="1" dirty="0">
                <a:solidFill>
                  <a:srgbClr val="333333"/>
                </a:solidFill>
                <a:latin typeface="Montserrat Light" panose="00000400000000000000"/>
              </a:rPr>
              <a:t>RUN</a:t>
            </a: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 позволяет создать слой во время сборки образа. После её выполнения в образ добавляется новый слой, его состояние фиксируется. </a:t>
            </a:r>
            <a:endParaRPr lang="ru-RU" altLang="ru-RU" sz="2200" dirty="0" smtClean="0">
              <a:solidFill>
                <a:srgbClr val="333333"/>
              </a:solidFill>
              <a:latin typeface="Montserrat Light" panose="0000040000000000000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200" dirty="0" smtClean="0">
                <a:solidFill>
                  <a:srgbClr val="333333"/>
                </a:solidFill>
                <a:latin typeface="Montserrat Light" panose="00000400000000000000"/>
              </a:rPr>
              <a:t>Инструкция</a:t>
            </a:r>
            <a:r>
              <a:rPr lang="ru-RU" altLang="ru-RU" sz="2200" b="1" dirty="0">
                <a:solidFill>
                  <a:srgbClr val="333333"/>
                </a:solidFill>
                <a:latin typeface="Montserrat Light" panose="00000400000000000000"/>
              </a:rPr>
              <a:t> RUN</a:t>
            </a: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 часто используется для установки в образы дополнительных пакетов. </a:t>
            </a:r>
            <a:endParaRPr lang="ru-RU" altLang="ru-RU" sz="2200" dirty="0" smtClean="0">
              <a:solidFill>
                <a:srgbClr val="333333"/>
              </a:solidFill>
              <a:latin typeface="Montserrat Light" panose="0000040000000000000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2200" dirty="0">
              <a:solidFill>
                <a:srgbClr val="333333"/>
              </a:solidFill>
              <a:latin typeface="Montserrat Light" panose="0000040000000000000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200" dirty="0" smtClean="0">
                <a:solidFill>
                  <a:srgbClr val="333333"/>
                </a:solidFill>
                <a:latin typeface="Montserrat Light" panose="00000400000000000000"/>
              </a:rPr>
              <a:t>Инструкция </a:t>
            </a:r>
            <a:r>
              <a:rPr lang="ru-RU" altLang="ru-RU" sz="2200" b="1" dirty="0" smtClean="0">
                <a:solidFill>
                  <a:srgbClr val="333333"/>
                </a:solidFill>
                <a:latin typeface="Montserrat Light" panose="00000400000000000000"/>
              </a:rPr>
              <a:t>RUN</a:t>
            </a:r>
            <a:r>
              <a:rPr lang="ru-RU" altLang="ru-RU" sz="2200" dirty="0" smtClean="0">
                <a:solidFill>
                  <a:srgbClr val="333333"/>
                </a:solidFill>
                <a:latin typeface="Montserrat Light" panose="00000400000000000000"/>
              </a:rPr>
              <a:t> и схожие с ней инструкции — такие, как </a:t>
            </a:r>
            <a:r>
              <a:rPr lang="ru-RU" altLang="ru-RU" sz="2200" b="1" dirty="0" smtClean="0">
                <a:solidFill>
                  <a:srgbClr val="333333"/>
                </a:solidFill>
                <a:latin typeface="Montserrat Light" panose="00000400000000000000"/>
              </a:rPr>
              <a:t>CMD</a:t>
            </a:r>
            <a:r>
              <a:rPr lang="ru-RU" altLang="ru-RU" sz="2200" dirty="0" smtClean="0">
                <a:solidFill>
                  <a:srgbClr val="333333"/>
                </a:solidFill>
                <a:latin typeface="Montserrat Light" panose="00000400000000000000"/>
              </a:rPr>
              <a:t> и </a:t>
            </a:r>
            <a:r>
              <a:rPr lang="ru-RU" altLang="ru-RU" sz="2200" b="1" dirty="0" smtClean="0">
                <a:solidFill>
                  <a:srgbClr val="333333"/>
                </a:solidFill>
                <a:latin typeface="Montserrat Light" panose="00000400000000000000"/>
              </a:rPr>
              <a:t>ENTRYPOINT</a:t>
            </a:r>
            <a:r>
              <a:rPr lang="ru-RU" altLang="ru-RU" sz="2200" dirty="0" smtClean="0">
                <a:solidFill>
                  <a:srgbClr val="333333"/>
                </a:solidFill>
                <a:latin typeface="Montserrat Light" panose="00000400000000000000"/>
              </a:rPr>
              <a:t>, могут быть использованы либо в </a:t>
            </a:r>
            <a:r>
              <a:rPr lang="ru-RU" altLang="ru-RU" sz="2200" dirty="0" err="1" smtClean="0">
                <a:solidFill>
                  <a:srgbClr val="333333"/>
                </a:solidFill>
                <a:latin typeface="Montserrat Light" panose="00000400000000000000"/>
              </a:rPr>
              <a:t>exec</a:t>
            </a:r>
            <a:r>
              <a:rPr lang="ru-RU" altLang="ru-RU" sz="2200" dirty="0" smtClean="0">
                <a:solidFill>
                  <a:srgbClr val="333333"/>
                </a:solidFill>
                <a:latin typeface="Montserrat Light" panose="00000400000000000000"/>
              </a:rPr>
              <a:t>-форме, либо в </a:t>
            </a:r>
            <a:r>
              <a:rPr lang="ru-RU" altLang="ru-RU" sz="2200" dirty="0" err="1" smtClean="0">
                <a:solidFill>
                  <a:srgbClr val="333333"/>
                </a:solidFill>
                <a:latin typeface="Montserrat Light" panose="00000400000000000000"/>
              </a:rPr>
              <a:t>shell</a:t>
            </a:r>
            <a:r>
              <a:rPr lang="ru-RU" altLang="ru-RU" sz="2200" dirty="0" smtClean="0">
                <a:solidFill>
                  <a:srgbClr val="333333"/>
                </a:solidFill>
                <a:latin typeface="Montserrat Light" panose="00000400000000000000"/>
              </a:rPr>
              <a:t>-форме.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200" dirty="0" err="1" smtClean="0">
                <a:solidFill>
                  <a:srgbClr val="333333"/>
                </a:solidFill>
                <a:latin typeface="Montserrat Light" panose="00000400000000000000"/>
              </a:rPr>
              <a:t>Exec</a:t>
            </a:r>
            <a:r>
              <a:rPr lang="ru-RU" altLang="ru-RU" sz="2200" dirty="0" smtClean="0">
                <a:solidFill>
                  <a:srgbClr val="333333"/>
                </a:solidFill>
                <a:latin typeface="Montserrat Light" panose="00000400000000000000"/>
              </a:rPr>
              <a:t>-форма использует синтаксис, напоминающий описание JSON-массива. Например, это может выглядеть так: 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200" dirty="0" smtClean="0">
                <a:solidFill>
                  <a:srgbClr val="333333"/>
                </a:solidFill>
                <a:latin typeface="Montserrat Light" panose="00000400000000000000"/>
              </a:rPr>
              <a:t>RUN ["</a:t>
            </a:r>
            <a:r>
              <a:rPr lang="ru-RU" altLang="ru-RU" sz="2200" dirty="0" err="1" smtClean="0">
                <a:solidFill>
                  <a:srgbClr val="333333"/>
                </a:solidFill>
                <a:latin typeface="Montserrat Light" panose="00000400000000000000"/>
              </a:rPr>
              <a:t>my_executable</a:t>
            </a:r>
            <a:r>
              <a:rPr lang="ru-RU" altLang="ru-RU" sz="2200" dirty="0" smtClean="0">
                <a:solidFill>
                  <a:srgbClr val="333333"/>
                </a:solidFill>
                <a:latin typeface="Montserrat Light" panose="00000400000000000000"/>
              </a:rPr>
              <a:t>", "my_first_param1", "my_second_param2"].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2200" dirty="0">
              <a:solidFill>
                <a:srgbClr val="333333"/>
              </a:solidFill>
              <a:latin typeface="Montserrat Light" panose="000004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3041829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Инструкция </a:t>
            </a:r>
            <a:r>
              <a:rPr lang="en-US" sz="3200" dirty="0">
                <a:latin typeface="Montserrat" pitchFamily="2" charset="0"/>
              </a:rPr>
              <a:t>COPY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8668"/>
            <a:ext cx="10515600" cy="4420658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Инструкция </a:t>
            </a:r>
            <a:r>
              <a:rPr lang="ru-RU" altLang="ru-RU" sz="2200" b="1" dirty="0">
                <a:solidFill>
                  <a:srgbClr val="333333"/>
                </a:solidFill>
                <a:latin typeface="Montserrat Light" panose="00000400000000000000"/>
              </a:rPr>
              <a:t>COPY</a:t>
            </a: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 представлена в нашем файле так: </a:t>
            </a:r>
            <a:endParaRPr lang="ru-RU" altLang="ru-RU" sz="2200" dirty="0" smtClean="0">
              <a:solidFill>
                <a:srgbClr val="333333"/>
              </a:solidFill>
              <a:latin typeface="Montserrat Light" panose="0000040000000000000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2200" dirty="0" smtClean="0">
              <a:solidFill>
                <a:srgbClr val="333333"/>
              </a:solidFill>
              <a:latin typeface="Montserrat Light" panose="0000040000000000000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200" b="1" dirty="0" smtClean="0">
                <a:solidFill>
                  <a:srgbClr val="333333"/>
                </a:solidFill>
                <a:latin typeface="Montserrat Light" panose="00000400000000000000"/>
              </a:rPr>
              <a:t>COPY </a:t>
            </a:r>
            <a:r>
              <a:rPr lang="ru-RU" altLang="ru-RU" sz="2200" b="1" dirty="0">
                <a:solidFill>
                  <a:srgbClr val="333333"/>
                </a:solidFill>
                <a:latin typeface="Montserrat Light" panose="00000400000000000000"/>
              </a:rPr>
              <a:t>. ./</a:t>
            </a:r>
            <a:r>
              <a:rPr lang="ru-RU" altLang="ru-RU" sz="2200" b="1" dirty="0" err="1">
                <a:solidFill>
                  <a:srgbClr val="333333"/>
                </a:solidFill>
                <a:latin typeface="Montserrat Light" panose="00000400000000000000"/>
              </a:rPr>
              <a:t>app</a:t>
            </a:r>
            <a:r>
              <a:rPr lang="ru-RU" altLang="ru-RU" sz="2200" b="1" dirty="0">
                <a:solidFill>
                  <a:srgbClr val="333333"/>
                </a:solidFill>
                <a:latin typeface="Montserrat Light" panose="00000400000000000000"/>
              </a:rPr>
              <a:t>. </a:t>
            </a:r>
            <a:endParaRPr lang="ru-RU" altLang="ru-RU" sz="2200" b="1" dirty="0" smtClean="0">
              <a:solidFill>
                <a:srgbClr val="333333"/>
              </a:solidFill>
              <a:latin typeface="Montserrat Light" panose="0000040000000000000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2200" dirty="0">
              <a:solidFill>
                <a:srgbClr val="333333"/>
              </a:solidFill>
              <a:latin typeface="Montserrat Light" panose="0000040000000000000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200" dirty="0" smtClean="0">
                <a:solidFill>
                  <a:srgbClr val="333333"/>
                </a:solidFill>
                <a:latin typeface="Montserrat Light" panose="00000400000000000000"/>
              </a:rPr>
              <a:t>Она </a:t>
            </a: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сообщает </a:t>
            </a:r>
            <a:r>
              <a:rPr lang="ru-RU" altLang="ru-RU" sz="2200" dirty="0" err="1">
                <a:solidFill>
                  <a:srgbClr val="333333"/>
                </a:solidFill>
                <a:latin typeface="Montserrat Light" panose="00000400000000000000"/>
              </a:rPr>
              <a:t>Docker</a:t>
            </a: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 о том, что нужно взять файлы и папки из локального контекста сборки и добавить их в текущую рабочую директорию образа. Если целевая директория не существует, эта инструкция её создаст.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2200" dirty="0">
              <a:solidFill>
                <a:srgbClr val="333333"/>
              </a:solidFill>
              <a:latin typeface="Montserrat Light" panose="000004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2084264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Инструкция </a:t>
            </a:r>
            <a:r>
              <a:rPr lang="en-US" sz="3200" dirty="0">
                <a:latin typeface="Montserrat" pitchFamily="2" charset="0"/>
              </a:rPr>
              <a:t>ADD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8668"/>
            <a:ext cx="10515600" cy="4420658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Инструкция </a:t>
            </a:r>
            <a:r>
              <a:rPr lang="ru-RU" altLang="ru-RU" sz="2200" b="1" dirty="0">
                <a:solidFill>
                  <a:srgbClr val="333333"/>
                </a:solidFill>
                <a:latin typeface="Montserrat Light" panose="00000400000000000000"/>
              </a:rPr>
              <a:t>ADD</a:t>
            </a: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 позволяет решать те же задачи, что и </a:t>
            </a:r>
            <a:r>
              <a:rPr lang="ru-RU" altLang="ru-RU" sz="2200" b="1" dirty="0">
                <a:solidFill>
                  <a:srgbClr val="333333"/>
                </a:solidFill>
                <a:latin typeface="Montserrat Light" panose="00000400000000000000"/>
              </a:rPr>
              <a:t>COPY</a:t>
            </a: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, но с ней связана ещё пара вариантов использования. Так, с помощью этой инструкции можно добавлять в контейнер файлы, загруженные из удалённых источников, а также распаковывать локальные .</a:t>
            </a:r>
            <a:r>
              <a:rPr lang="ru-RU" altLang="ru-RU" sz="2200" dirty="0" err="1">
                <a:solidFill>
                  <a:srgbClr val="333333"/>
                </a:solidFill>
                <a:latin typeface="Montserrat Light" panose="00000400000000000000"/>
              </a:rPr>
              <a:t>tar</a:t>
            </a: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-файлы.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2200" dirty="0" smtClean="0">
              <a:solidFill>
                <a:srgbClr val="333333"/>
              </a:solidFill>
              <a:latin typeface="Montserrat Light" panose="0000040000000000000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Кроме того, документация предлагает везде, где это возможно, вместо инструкции </a:t>
            </a:r>
            <a:r>
              <a:rPr lang="ru-RU" altLang="ru-RU" sz="2200" b="1" dirty="0">
                <a:solidFill>
                  <a:srgbClr val="333333"/>
                </a:solidFill>
                <a:latin typeface="Montserrat Light" panose="00000400000000000000"/>
              </a:rPr>
              <a:t>ADD</a:t>
            </a: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 использовать инструкцию COPY для того, чтобы сделать файлы </a:t>
            </a:r>
            <a:r>
              <a:rPr lang="ru-RU" altLang="ru-RU" sz="2200" dirty="0" err="1">
                <a:solidFill>
                  <a:srgbClr val="333333"/>
                </a:solidFill>
                <a:latin typeface="Montserrat Light" panose="00000400000000000000"/>
              </a:rPr>
              <a:t>Dockerfile</a:t>
            </a: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 понятнее.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2200" dirty="0" smtClean="0">
              <a:solidFill>
                <a:srgbClr val="333333"/>
              </a:solidFill>
              <a:latin typeface="Montserrat Light" panose="0000040000000000000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2200" dirty="0">
              <a:solidFill>
                <a:srgbClr val="333333"/>
              </a:solidFill>
              <a:latin typeface="Montserrat Light" panose="000004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504308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sz="3200" dirty="0">
                <a:latin typeface="Montserrat" pitchFamily="2" charset="0"/>
              </a:rPr>
              <a:t>Инструкция </a:t>
            </a:r>
            <a:r>
              <a:rPr lang="en-US" sz="3200" dirty="0">
                <a:latin typeface="Montserrat" pitchFamily="2" charset="0"/>
              </a:rPr>
              <a:t>CMD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8668"/>
            <a:ext cx="10515600" cy="4420658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000" dirty="0">
                <a:solidFill>
                  <a:srgbClr val="333333"/>
                </a:solidFill>
                <a:latin typeface="Montserrat Light" panose="00000400000000000000"/>
              </a:rPr>
              <a:t>Инструкция </a:t>
            </a:r>
            <a:r>
              <a:rPr lang="ru-RU" altLang="ru-RU" sz="2000" b="1" dirty="0">
                <a:solidFill>
                  <a:srgbClr val="333333"/>
                </a:solidFill>
                <a:latin typeface="Montserrat Light" panose="00000400000000000000"/>
              </a:rPr>
              <a:t>CMD</a:t>
            </a:r>
            <a:r>
              <a:rPr lang="ru-RU" altLang="ru-RU" sz="2000" dirty="0">
                <a:solidFill>
                  <a:srgbClr val="333333"/>
                </a:solidFill>
                <a:latin typeface="Montserrat Light" panose="00000400000000000000"/>
              </a:rPr>
              <a:t> предоставляет </a:t>
            </a:r>
            <a:r>
              <a:rPr lang="ru-RU" altLang="ru-RU" sz="2000" dirty="0" err="1">
                <a:solidFill>
                  <a:srgbClr val="333333"/>
                </a:solidFill>
                <a:latin typeface="Montserrat Light" panose="00000400000000000000"/>
              </a:rPr>
              <a:t>Docker</a:t>
            </a:r>
            <a:r>
              <a:rPr lang="ru-RU" altLang="ru-RU" sz="2000" dirty="0">
                <a:solidFill>
                  <a:srgbClr val="333333"/>
                </a:solidFill>
                <a:latin typeface="Montserrat Light" panose="00000400000000000000"/>
              </a:rPr>
              <a:t> команду, которую нужно выполнить при запуске контейнера. Результаты выполнения этой команды не добавляются в образ </a:t>
            </a:r>
            <a:r>
              <a:rPr lang="ru-RU" altLang="ru-RU" sz="2000" dirty="0" smtClean="0">
                <a:solidFill>
                  <a:srgbClr val="333333"/>
                </a:solidFill>
                <a:latin typeface="Montserrat Light" panose="00000400000000000000"/>
              </a:rPr>
              <a:t>во </a:t>
            </a:r>
            <a:r>
              <a:rPr lang="ru-RU" altLang="ru-RU" sz="2000" dirty="0">
                <a:solidFill>
                  <a:srgbClr val="333333"/>
                </a:solidFill>
                <a:latin typeface="Montserrat Light" panose="00000400000000000000"/>
              </a:rPr>
              <a:t>время его сборки</a:t>
            </a:r>
            <a:r>
              <a:rPr lang="ru-RU" altLang="ru-RU" sz="2000" dirty="0" smtClean="0">
                <a:solidFill>
                  <a:srgbClr val="333333"/>
                </a:solidFill>
                <a:latin typeface="Montserrat Light" panose="0000040000000000000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000" dirty="0">
                <a:solidFill>
                  <a:srgbClr val="333333"/>
                </a:solidFill>
                <a:latin typeface="Montserrat Light" panose="00000400000000000000"/>
              </a:rPr>
              <a:t>Вот ещё кое-что, что нужно знать об инструкции </a:t>
            </a:r>
            <a:r>
              <a:rPr lang="ru-RU" altLang="ru-RU" sz="2000" b="1" dirty="0">
                <a:solidFill>
                  <a:srgbClr val="333333"/>
                </a:solidFill>
                <a:latin typeface="Montserrat Light" panose="00000400000000000000"/>
              </a:rPr>
              <a:t>CMD</a:t>
            </a:r>
            <a:r>
              <a:rPr lang="ru-RU" altLang="ru-RU" sz="2000" dirty="0" smtClean="0">
                <a:solidFill>
                  <a:srgbClr val="333333"/>
                </a:solidFill>
                <a:latin typeface="Montserrat Light" panose="00000400000000000000"/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2000" dirty="0">
              <a:latin typeface="Montserrat Light" panose="00000400000000000000"/>
            </a:endParaRPr>
          </a:p>
          <a:p>
            <a:pPr marL="0" lvl="0" indent="360363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000" dirty="0">
                <a:solidFill>
                  <a:srgbClr val="333333"/>
                </a:solidFill>
                <a:latin typeface="Montserrat Light" panose="00000400000000000000"/>
              </a:rPr>
              <a:t>В одном файле </a:t>
            </a:r>
            <a:r>
              <a:rPr lang="ru-RU" altLang="ru-RU" sz="2000" dirty="0" err="1">
                <a:solidFill>
                  <a:srgbClr val="333333"/>
                </a:solidFill>
                <a:latin typeface="Montserrat Light" panose="00000400000000000000"/>
              </a:rPr>
              <a:t>Dockerfile</a:t>
            </a:r>
            <a:r>
              <a:rPr lang="ru-RU" altLang="ru-RU" sz="2000" dirty="0">
                <a:solidFill>
                  <a:srgbClr val="333333"/>
                </a:solidFill>
                <a:latin typeface="Montserrat Light" panose="00000400000000000000"/>
              </a:rPr>
              <a:t> может присутствовать лишь одна инструкция </a:t>
            </a:r>
            <a:r>
              <a:rPr lang="ru-RU" altLang="ru-RU" sz="2000" b="1" dirty="0">
                <a:solidFill>
                  <a:srgbClr val="333333"/>
                </a:solidFill>
                <a:latin typeface="Montserrat Light" panose="00000400000000000000"/>
              </a:rPr>
              <a:t>CMD</a:t>
            </a:r>
            <a:r>
              <a:rPr lang="ru-RU" altLang="ru-RU" sz="2000" dirty="0">
                <a:solidFill>
                  <a:srgbClr val="333333"/>
                </a:solidFill>
                <a:latin typeface="Montserrat Light" panose="00000400000000000000"/>
              </a:rPr>
              <a:t>. Если в файле есть несколько таких инструкций, система проигнорирует все кроме последней.</a:t>
            </a:r>
          </a:p>
          <a:p>
            <a:pPr marL="0" lvl="0" indent="360363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000" dirty="0">
                <a:solidFill>
                  <a:srgbClr val="333333"/>
                </a:solidFill>
                <a:latin typeface="Montserrat Light" panose="00000400000000000000"/>
              </a:rPr>
              <a:t>Инструкция </a:t>
            </a:r>
            <a:r>
              <a:rPr lang="ru-RU" altLang="ru-RU" sz="2000" b="1" dirty="0">
                <a:solidFill>
                  <a:srgbClr val="333333"/>
                </a:solidFill>
                <a:latin typeface="Montserrat Light" panose="00000400000000000000"/>
              </a:rPr>
              <a:t>CMD</a:t>
            </a:r>
            <a:r>
              <a:rPr lang="ru-RU" altLang="ru-RU" sz="2000" dirty="0">
                <a:solidFill>
                  <a:srgbClr val="333333"/>
                </a:solidFill>
                <a:latin typeface="Montserrat Light" panose="00000400000000000000"/>
              </a:rPr>
              <a:t> может иметь </a:t>
            </a:r>
            <a:r>
              <a:rPr lang="ru-RU" altLang="ru-RU" sz="2000" dirty="0" err="1">
                <a:solidFill>
                  <a:srgbClr val="333333"/>
                </a:solidFill>
                <a:latin typeface="Montserrat Light" panose="00000400000000000000"/>
              </a:rPr>
              <a:t>exec</a:t>
            </a:r>
            <a:r>
              <a:rPr lang="ru-RU" altLang="ru-RU" sz="2000" dirty="0">
                <a:solidFill>
                  <a:srgbClr val="333333"/>
                </a:solidFill>
                <a:latin typeface="Montserrat Light" panose="00000400000000000000"/>
              </a:rPr>
              <a:t>-форму. Если в эту инструкцию не входит упоминание исполняемого файла, тогда в файле должна присутствовать инструкция ENTRYPOINT. В таком случае обе эти инструкции должны быть представлены в формате JSON.</a:t>
            </a:r>
          </a:p>
          <a:p>
            <a:pPr marL="0" lvl="0" indent="360363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000" dirty="0">
                <a:solidFill>
                  <a:srgbClr val="333333"/>
                </a:solidFill>
                <a:latin typeface="Montserrat Light" panose="00000400000000000000"/>
              </a:rPr>
              <a:t>Аргументы командной строки, передаваемые </a:t>
            </a:r>
            <a:r>
              <a:rPr lang="ru-RU" altLang="ru-RU" sz="2000" dirty="0" err="1">
                <a:solidFill>
                  <a:srgbClr val="333333"/>
                </a:solidFill>
                <a:latin typeface="Montserrat Light" panose="00000400000000000000"/>
              </a:rPr>
              <a:t>docker</a:t>
            </a:r>
            <a:r>
              <a:rPr lang="ru-RU" altLang="ru-RU" sz="2000" dirty="0">
                <a:solidFill>
                  <a:srgbClr val="333333"/>
                </a:solidFill>
                <a:latin typeface="Montserrat Light" panose="00000400000000000000"/>
              </a:rPr>
              <a:t> </a:t>
            </a:r>
            <a:r>
              <a:rPr lang="ru-RU" altLang="ru-RU" sz="2000" dirty="0" err="1">
                <a:solidFill>
                  <a:srgbClr val="333333"/>
                </a:solidFill>
                <a:latin typeface="Montserrat Light" panose="00000400000000000000"/>
              </a:rPr>
              <a:t>run</a:t>
            </a:r>
            <a:r>
              <a:rPr lang="ru-RU" altLang="ru-RU" sz="2000" dirty="0">
                <a:solidFill>
                  <a:srgbClr val="333333"/>
                </a:solidFill>
                <a:latin typeface="Montserrat Light" panose="00000400000000000000"/>
              </a:rPr>
              <a:t>, переопределяют аргументы, предоставленные инструкции </a:t>
            </a:r>
            <a:r>
              <a:rPr lang="ru-RU" altLang="ru-RU" sz="2000" b="1" dirty="0">
                <a:solidFill>
                  <a:srgbClr val="333333"/>
                </a:solidFill>
                <a:latin typeface="Montserrat Light" panose="00000400000000000000"/>
              </a:rPr>
              <a:t>CMD</a:t>
            </a:r>
            <a:r>
              <a:rPr lang="ru-RU" altLang="ru-RU" sz="2000" dirty="0">
                <a:solidFill>
                  <a:srgbClr val="333333"/>
                </a:solidFill>
                <a:latin typeface="Montserrat Light" panose="00000400000000000000"/>
              </a:rPr>
              <a:t> в </a:t>
            </a:r>
            <a:r>
              <a:rPr lang="ru-RU" altLang="ru-RU" sz="2000" dirty="0" err="1">
                <a:solidFill>
                  <a:srgbClr val="333333"/>
                </a:solidFill>
                <a:latin typeface="Montserrat Light" panose="00000400000000000000"/>
              </a:rPr>
              <a:t>Dockerfile</a:t>
            </a:r>
            <a:r>
              <a:rPr lang="ru-RU" altLang="ru-RU" sz="2000" dirty="0">
                <a:solidFill>
                  <a:srgbClr val="333333"/>
                </a:solidFill>
                <a:latin typeface="Montserrat Light" panose="0000040000000000000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1800" dirty="0">
              <a:latin typeface="Montserrat Light" panose="0000040000000000000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1800" dirty="0">
              <a:solidFill>
                <a:srgbClr val="333333"/>
              </a:solidFill>
              <a:latin typeface="Montserrat Light" panose="000004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238583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dirty="0">
                <a:latin typeface="Montserrat" pitchFamily="2" charset="0"/>
              </a:rPr>
              <a:t>Инструкция </a:t>
            </a:r>
            <a:r>
              <a:rPr lang="en-US" dirty="0">
                <a:latin typeface="Montserrat" pitchFamily="2" charset="0"/>
              </a:rPr>
              <a:t>WORKDIR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8668"/>
            <a:ext cx="10515600" cy="4420658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Инструкция </a:t>
            </a:r>
            <a:r>
              <a:rPr lang="ru-RU" altLang="ru-RU" sz="2200" b="1" dirty="0">
                <a:solidFill>
                  <a:srgbClr val="333333"/>
                </a:solidFill>
                <a:latin typeface="Montserrat Light" panose="00000400000000000000"/>
              </a:rPr>
              <a:t>WORKDIR</a:t>
            </a: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 позволяет изменить рабочую директорию контейнера. С этой директорией работают инструкции COPY, ADD, RUN, CMD и ENTRYPOINT, идущие за </a:t>
            </a:r>
            <a:r>
              <a:rPr lang="ru-RU" altLang="ru-RU" sz="2200" b="1" dirty="0">
                <a:solidFill>
                  <a:srgbClr val="333333"/>
                </a:solidFill>
                <a:latin typeface="Montserrat Light" panose="00000400000000000000"/>
              </a:rPr>
              <a:t>WORKDIR</a:t>
            </a: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. </a:t>
            </a:r>
            <a:endParaRPr lang="ru-RU" altLang="ru-RU" sz="2200" dirty="0" smtClean="0">
              <a:solidFill>
                <a:srgbClr val="333333"/>
              </a:solidFill>
              <a:latin typeface="Montserrat Light" panose="0000040000000000000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200" dirty="0" smtClean="0">
                <a:solidFill>
                  <a:srgbClr val="333333"/>
                </a:solidFill>
                <a:latin typeface="Montserrat Light" panose="00000400000000000000"/>
              </a:rPr>
              <a:t>Вот </a:t>
            </a: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некоторые особенности, касающиеся этой инструкции:</a:t>
            </a:r>
            <a:b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</a:br>
            <a:endParaRPr lang="ru-RU" altLang="ru-RU" sz="2200" dirty="0">
              <a:solidFill>
                <a:srgbClr val="333333"/>
              </a:solidFill>
              <a:latin typeface="Montserrat Light" panose="0000040000000000000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Лучше устанавливать с помощью </a:t>
            </a:r>
            <a:r>
              <a:rPr lang="ru-RU" altLang="ru-RU" sz="2200" b="1" dirty="0">
                <a:solidFill>
                  <a:srgbClr val="333333"/>
                </a:solidFill>
                <a:latin typeface="Montserrat Light" panose="00000400000000000000"/>
              </a:rPr>
              <a:t>WORKDIR</a:t>
            </a: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 абсолютные пути к папкам, а не перемещаться по файловой системе с помощью команд </a:t>
            </a:r>
            <a:r>
              <a:rPr lang="ru-RU" altLang="ru-RU" sz="2200" dirty="0" err="1">
                <a:solidFill>
                  <a:srgbClr val="333333"/>
                </a:solidFill>
                <a:latin typeface="Montserrat Light" panose="00000400000000000000"/>
              </a:rPr>
              <a:t>cd</a:t>
            </a: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 в </a:t>
            </a:r>
            <a:r>
              <a:rPr lang="ru-RU" altLang="ru-RU" sz="2200" dirty="0" err="1">
                <a:solidFill>
                  <a:srgbClr val="333333"/>
                </a:solidFill>
                <a:latin typeface="Montserrat Light" panose="00000400000000000000"/>
              </a:rPr>
              <a:t>Dockerfile</a:t>
            </a: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Инструкция WORKDIR автоматически создаёт директорию в том случае, если она не существует.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Можно использовать несколько инструкций WORKDIR. Если таким инструкциям предоставляются относительные пути, то каждая из них меняет текущую рабочую директорию.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1800" dirty="0">
              <a:solidFill>
                <a:srgbClr val="333333"/>
              </a:solidFill>
              <a:latin typeface="Montserrat Light" panose="0000040000000000000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1800" dirty="0">
              <a:solidFill>
                <a:srgbClr val="333333"/>
              </a:solidFill>
              <a:latin typeface="Montserrat Light" panose="000004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512437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dirty="0">
                <a:latin typeface="Montserrat" pitchFamily="2" charset="0"/>
              </a:rPr>
              <a:t>Инструкция </a:t>
            </a:r>
            <a:r>
              <a:rPr lang="en-US" dirty="0">
                <a:latin typeface="Montserrat" pitchFamily="2" charset="0"/>
              </a:rPr>
              <a:t>ARG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8668"/>
            <a:ext cx="10515600" cy="4420658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400" dirty="0">
                <a:solidFill>
                  <a:srgbClr val="333333"/>
                </a:solidFill>
                <a:latin typeface="Montserrat Light" panose="00000400000000000000"/>
              </a:rPr>
              <a:t>Инструкция </a:t>
            </a:r>
            <a:r>
              <a:rPr lang="ru-RU" altLang="ru-RU" sz="2400" b="1" dirty="0">
                <a:solidFill>
                  <a:srgbClr val="333333"/>
                </a:solidFill>
                <a:latin typeface="Montserrat Light" panose="00000400000000000000"/>
              </a:rPr>
              <a:t>ARG</a:t>
            </a:r>
            <a:r>
              <a:rPr lang="ru-RU" altLang="ru-RU" sz="2400" dirty="0">
                <a:solidFill>
                  <a:srgbClr val="333333"/>
                </a:solidFill>
                <a:latin typeface="Montserrat Light" panose="00000400000000000000"/>
              </a:rPr>
              <a:t> позволяет задать переменную, значение которой можно передать из командной строки в образ во время его сборки. Значение для переменной по умолчанию можно представить в </a:t>
            </a:r>
            <a:r>
              <a:rPr lang="ru-RU" altLang="ru-RU" sz="2400" dirty="0" err="1">
                <a:solidFill>
                  <a:srgbClr val="333333"/>
                </a:solidFill>
                <a:latin typeface="Montserrat Light" panose="00000400000000000000"/>
              </a:rPr>
              <a:t>Dockerfile</a:t>
            </a:r>
            <a:r>
              <a:rPr lang="ru-RU" altLang="ru-RU" sz="2400" dirty="0">
                <a:solidFill>
                  <a:srgbClr val="333333"/>
                </a:solidFill>
                <a:latin typeface="Montserrat Light" panose="00000400000000000000"/>
              </a:rPr>
              <a:t>. </a:t>
            </a:r>
            <a:endParaRPr lang="ru-RU" altLang="ru-RU" sz="2400" dirty="0" smtClean="0">
              <a:solidFill>
                <a:srgbClr val="333333"/>
              </a:solidFill>
              <a:latin typeface="Montserrat Light" panose="0000040000000000000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400" dirty="0" smtClean="0">
                <a:solidFill>
                  <a:srgbClr val="333333"/>
                </a:solidFill>
                <a:latin typeface="Montserrat Light" panose="00000400000000000000"/>
              </a:rPr>
              <a:t>Например</a:t>
            </a:r>
            <a:r>
              <a:rPr lang="ru-RU" altLang="ru-RU" sz="2400" dirty="0">
                <a:solidFill>
                  <a:srgbClr val="333333"/>
                </a:solidFill>
                <a:latin typeface="Montserrat Light" panose="00000400000000000000"/>
              </a:rPr>
              <a:t>: ARG </a:t>
            </a:r>
            <a:r>
              <a:rPr lang="ru-RU" altLang="ru-RU" sz="2400" dirty="0" err="1">
                <a:solidFill>
                  <a:srgbClr val="333333"/>
                </a:solidFill>
                <a:latin typeface="Montserrat Light" panose="00000400000000000000"/>
              </a:rPr>
              <a:t>my_var</a:t>
            </a:r>
            <a:r>
              <a:rPr lang="ru-RU" altLang="ru-RU" sz="2400" dirty="0">
                <a:solidFill>
                  <a:srgbClr val="333333"/>
                </a:solidFill>
                <a:latin typeface="Montserrat Light" panose="00000400000000000000"/>
              </a:rPr>
              <a:t>=</a:t>
            </a:r>
            <a:r>
              <a:rPr lang="ru-RU" altLang="ru-RU" sz="2400" dirty="0" err="1">
                <a:solidFill>
                  <a:srgbClr val="333333"/>
                </a:solidFill>
                <a:latin typeface="Montserrat Light" panose="00000400000000000000"/>
              </a:rPr>
              <a:t>my_default_value</a:t>
            </a:r>
            <a:r>
              <a:rPr lang="ru-RU" altLang="ru-RU" sz="2400" dirty="0">
                <a:solidFill>
                  <a:srgbClr val="333333"/>
                </a:solidFill>
                <a:latin typeface="Montserrat Light" panose="00000400000000000000"/>
              </a:rPr>
              <a:t>.</a:t>
            </a:r>
            <a:br>
              <a:rPr lang="ru-RU" altLang="ru-RU" sz="2400" dirty="0">
                <a:solidFill>
                  <a:srgbClr val="333333"/>
                </a:solidFill>
                <a:latin typeface="Montserrat Light" panose="00000400000000000000"/>
              </a:rPr>
            </a:br>
            <a:r>
              <a:rPr lang="ru-RU" altLang="ru-RU" sz="2400" dirty="0">
                <a:solidFill>
                  <a:srgbClr val="333333"/>
                </a:solidFill>
                <a:latin typeface="Montserrat Light" panose="00000400000000000000"/>
              </a:rPr>
              <a:t/>
            </a:r>
            <a:br>
              <a:rPr lang="ru-RU" altLang="ru-RU" sz="2400" dirty="0">
                <a:solidFill>
                  <a:srgbClr val="333333"/>
                </a:solidFill>
                <a:latin typeface="Montserrat Light" panose="00000400000000000000"/>
              </a:rPr>
            </a:br>
            <a:r>
              <a:rPr lang="ru-RU" altLang="ru-RU" sz="2400" dirty="0">
                <a:solidFill>
                  <a:srgbClr val="333333"/>
                </a:solidFill>
                <a:latin typeface="Montserrat Light" panose="00000400000000000000"/>
              </a:rPr>
              <a:t>В отличие от ENV-переменных, ARG-переменные недоступны во время выполнения контейнера. Однако ARG-переменные можно использовать для задания значений по умолчанию для ENV-переменных из командной строки в процессе сборки образа. А ENV-переменные уже будут доступны в контейнере во время его выполнения.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1800" dirty="0">
              <a:solidFill>
                <a:srgbClr val="333333"/>
              </a:solidFill>
              <a:latin typeface="Montserrat Light" panose="000004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814517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5641"/>
            <a:ext cx="10515600" cy="925917"/>
          </a:xfrm>
        </p:spPr>
        <p:txBody>
          <a:bodyPr anchor="ctr"/>
          <a:lstStyle/>
          <a:p>
            <a:pPr algn="ctr"/>
            <a:r>
              <a:rPr lang="ru-RU" dirty="0">
                <a:latin typeface="Montserrat" pitchFamily="2" charset="0"/>
              </a:rPr>
              <a:t>Инструкция </a:t>
            </a:r>
            <a:r>
              <a:rPr lang="en-US" dirty="0">
                <a:latin typeface="Montserrat" pitchFamily="2" charset="0"/>
              </a:rPr>
              <a:t>ENTRYPOINT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8668"/>
            <a:ext cx="10515600" cy="4420658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000" dirty="0">
                <a:solidFill>
                  <a:srgbClr val="333333"/>
                </a:solidFill>
                <a:latin typeface="Montserrat Light" panose="00000400000000000000"/>
              </a:rPr>
              <a:t>Инструкция </a:t>
            </a:r>
            <a:r>
              <a:rPr lang="ru-RU" altLang="ru-RU" sz="2000" b="1" dirty="0">
                <a:solidFill>
                  <a:srgbClr val="333333"/>
                </a:solidFill>
                <a:latin typeface="Montserrat Light" panose="00000400000000000000"/>
              </a:rPr>
              <a:t>ENTRYPOINT</a:t>
            </a:r>
            <a:r>
              <a:rPr lang="ru-RU" altLang="ru-RU" sz="2000" dirty="0">
                <a:solidFill>
                  <a:srgbClr val="333333"/>
                </a:solidFill>
                <a:latin typeface="Montserrat Light" panose="00000400000000000000"/>
              </a:rPr>
              <a:t> позволяет задавать команду с аргументами, которая должна выполняться при запуске контейнера. Она похожа на команду </a:t>
            </a:r>
            <a:r>
              <a:rPr lang="ru-RU" altLang="ru-RU" sz="2000" b="1" dirty="0">
                <a:solidFill>
                  <a:srgbClr val="333333"/>
                </a:solidFill>
                <a:latin typeface="Montserrat Light" panose="00000400000000000000"/>
              </a:rPr>
              <a:t>CMD</a:t>
            </a:r>
            <a:r>
              <a:rPr lang="ru-RU" altLang="ru-RU" sz="2000" dirty="0">
                <a:solidFill>
                  <a:srgbClr val="333333"/>
                </a:solidFill>
                <a:latin typeface="Montserrat Light" panose="00000400000000000000"/>
              </a:rPr>
              <a:t>, но параметры, задаваемые в </a:t>
            </a:r>
            <a:r>
              <a:rPr lang="ru-RU" altLang="ru-RU" sz="2000" b="1" dirty="0">
                <a:solidFill>
                  <a:srgbClr val="333333"/>
                </a:solidFill>
                <a:latin typeface="Montserrat Light" panose="00000400000000000000"/>
              </a:rPr>
              <a:t>ENTRYPOINT</a:t>
            </a:r>
            <a:r>
              <a:rPr lang="ru-RU" altLang="ru-RU" sz="2000" dirty="0">
                <a:solidFill>
                  <a:srgbClr val="333333"/>
                </a:solidFill>
                <a:latin typeface="Montserrat Light" panose="00000400000000000000"/>
              </a:rPr>
              <a:t>, не перезаписываются в том случае, если контейнер запускают с параметрами командной строки.</a:t>
            </a:r>
            <a:br>
              <a:rPr lang="ru-RU" altLang="ru-RU" sz="2000" dirty="0">
                <a:solidFill>
                  <a:srgbClr val="333333"/>
                </a:solidFill>
                <a:latin typeface="Montserrat Light" panose="00000400000000000000"/>
              </a:rPr>
            </a:br>
            <a:r>
              <a:rPr lang="ru-RU" altLang="ru-RU" sz="2000" dirty="0">
                <a:solidFill>
                  <a:srgbClr val="333333"/>
                </a:solidFill>
                <a:latin typeface="Montserrat Light" panose="00000400000000000000"/>
              </a:rPr>
              <a:t/>
            </a:r>
            <a:br>
              <a:rPr lang="ru-RU" altLang="ru-RU" sz="2000" dirty="0">
                <a:solidFill>
                  <a:srgbClr val="333333"/>
                </a:solidFill>
                <a:latin typeface="Montserrat Light" panose="00000400000000000000"/>
              </a:rPr>
            </a:br>
            <a:r>
              <a:rPr lang="ru-RU" altLang="ru-RU" sz="2000" dirty="0">
                <a:solidFill>
                  <a:srgbClr val="333333"/>
                </a:solidFill>
                <a:latin typeface="Montserrat Light" panose="00000400000000000000"/>
              </a:rPr>
              <a:t>Вместо этого аргументы командной строки, передаваемые в конструкции вида </a:t>
            </a:r>
            <a:r>
              <a:rPr lang="ru-RU" altLang="ru-RU" sz="2000" dirty="0" err="1">
                <a:solidFill>
                  <a:srgbClr val="333333"/>
                </a:solidFill>
                <a:latin typeface="Montserrat Light" panose="00000400000000000000"/>
              </a:rPr>
              <a:t>docker</a:t>
            </a:r>
            <a:r>
              <a:rPr lang="ru-RU" altLang="ru-RU" sz="2000" dirty="0">
                <a:solidFill>
                  <a:srgbClr val="333333"/>
                </a:solidFill>
                <a:latin typeface="Montserrat Light" panose="00000400000000000000"/>
              </a:rPr>
              <a:t> </a:t>
            </a:r>
            <a:r>
              <a:rPr lang="ru-RU" altLang="ru-RU" sz="2000" dirty="0" err="1">
                <a:solidFill>
                  <a:srgbClr val="333333"/>
                </a:solidFill>
                <a:latin typeface="Montserrat Light" panose="00000400000000000000"/>
              </a:rPr>
              <a:t>run</a:t>
            </a:r>
            <a:r>
              <a:rPr lang="ru-RU" altLang="ru-RU" sz="2000" dirty="0">
                <a:solidFill>
                  <a:srgbClr val="333333"/>
                </a:solidFill>
                <a:latin typeface="Montserrat Light" panose="00000400000000000000"/>
              </a:rPr>
              <a:t> </a:t>
            </a:r>
            <a:r>
              <a:rPr lang="ru-RU" altLang="ru-RU" sz="2000" dirty="0" err="1">
                <a:solidFill>
                  <a:srgbClr val="333333"/>
                </a:solidFill>
                <a:latin typeface="Montserrat Light" panose="00000400000000000000"/>
              </a:rPr>
              <a:t>my_image_name</a:t>
            </a:r>
            <a:r>
              <a:rPr lang="ru-RU" altLang="ru-RU" sz="2000" dirty="0">
                <a:solidFill>
                  <a:srgbClr val="333333"/>
                </a:solidFill>
                <a:latin typeface="Montserrat Light" panose="00000400000000000000"/>
              </a:rPr>
              <a:t>, добавляются к аргументам, задаваемым инструкцией ENTRYPOINT. </a:t>
            </a:r>
            <a:endParaRPr lang="ru-RU" altLang="ru-RU" sz="2000" dirty="0" smtClean="0">
              <a:solidFill>
                <a:srgbClr val="333333"/>
              </a:solidFill>
              <a:latin typeface="Montserrat Light" panose="0000040000000000000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000" dirty="0" smtClean="0">
                <a:solidFill>
                  <a:srgbClr val="333333"/>
                </a:solidFill>
                <a:latin typeface="Montserrat Light" panose="00000400000000000000"/>
              </a:rPr>
              <a:t>Например</a:t>
            </a:r>
            <a:r>
              <a:rPr lang="ru-RU" altLang="ru-RU" sz="2000" dirty="0">
                <a:solidFill>
                  <a:srgbClr val="333333"/>
                </a:solidFill>
                <a:latin typeface="Montserrat Light" panose="00000400000000000000"/>
              </a:rPr>
              <a:t>, после выполнения команды вида </a:t>
            </a:r>
            <a:r>
              <a:rPr lang="ru-RU" altLang="ru-RU" sz="2000" dirty="0" err="1">
                <a:solidFill>
                  <a:srgbClr val="333333"/>
                </a:solidFill>
                <a:latin typeface="Montserrat Light" panose="00000400000000000000"/>
              </a:rPr>
              <a:t>docker</a:t>
            </a:r>
            <a:r>
              <a:rPr lang="ru-RU" altLang="ru-RU" sz="2000" dirty="0">
                <a:solidFill>
                  <a:srgbClr val="333333"/>
                </a:solidFill>
                <a:latin typeface="Montserrat Light" panose="00000400000000000000"/>
              </a:rPr>
              <a:t> </a:t>
            </a:r>
            <a:r>
              <a:rPr lang="ru-RU" altLang="ru-RU" sz="2000" dirty="0" err="1">
                <a:solidFill>
                  <a:srgbClr val="333333"/>
                </a:solidFill>
                <a:latin typeface="Montserrat Light" panose="00000400000000000000"/>
              </a:rPr>
              <a:t>run</a:t>
            </a:r>
            <a:r>
              <a:rPr lang="ru-RU" altLang="ru-RU" sz="2000" dirty="0">
                <a:solidFill>
                  <a:srgbClr val="333333"/>
                </a:solidFill>
                <a:latin typeface="Montserrat Light" panose="00000400000000000000"/>
              </a:rPr>
              <a:t> </a:t>
            </a:r>
            <a:r>
              <a:rPr lang="ru-RU" altLang="ru-RU" sz="2000" dirty="0" err="1">
                <a:solidFill>
                  <a:srgbClr val="333333"/>
                </a:solidFill>
                <a:latin typeface="Montserrat Light" panose="00000400000000000000"/>
              </a:rPr>
              <a:t>my_image</a:t>
            </a:r>
            <a:r>
              <a:rPr lang="ru-RU" altLang="ru-RU" sz="2000" dirty="0">
                <a:solidFill>
                  <a:srgbClr val="333333"/>
                </a:solidFill>
                <a:latin typeface="Montserrat Light" panose="00000400000000000000"/>
              </a:rPr>
              <a:t> </a:t>
            </a:r>
            <a:r>
              <a:rPr lang="ru-RU" altLang="ru-RU" sz="2000" dirty="0" err="1">
                <a:solidFill>
                  <a:srgbClr val="333333"/>
                </a:solidFill>
                <a:latin typeface="Montserrat Light" panose="00000400000000000000"/>
              </a:rPr>
              <a:t>bash</a:t>
            </a:r>
            <a:r>
              <a:rPr lang="ru-RU" altLang="ru-RU" sz="2000" dirty="0">
                <a:solidFill>
                  <a:srgbClr val="333333"/>
                </a:solidFill>
                <a:latin typeface="Montserrat Light" panose="00000400000000000000"/>
              </a:rPr>
              <a:t> аргумент </a:t>
            </a:r>
            <a:r>
              <a:rPr lang="ru-RU" altLang="ru-RU" sz="2000" dirty="0" err="1">
                <a:solidFill>
                  <a:srgbClr val="333333"/>
                </a:solidFill>
                <a:latin typeface="Montserrat Light" panose="00000400000000000000"/>
              </a:rPr>
              <a:t>bash</a:t>
            </a:r>
            <a:r>
              <a:rPr lang="ru-RU" altLang="ru-RU" sz="2000" dirty="0">
                <a:solidFill>
                  <a:srgbClr val="333333"/>
                </a:solidFill>
                <a:latin typeface="Montserrat Light" panose="00000400000000000000"/>
              </a:rPr>
              <a:t> добавится в конец списка аргументов, заданных с помощью </a:t>
            </a:r>
            <a:r>
              <a:rPr lang="ru-RU" altLang="ru-RU" sz="2000" b="1" dirty="0">
                <a:solidFill>
                  <a:srgbClr val="333333"/>
                </a:solidFill>
                <a:latin typeface="Montserrat Light" panose="00000400000000000000"/>
              </a:rPr>
              <a:t>ENTRYPOINT</a:t>
            </a:r>
            <a:r>
              <a:rPr lang="ru-RU" altLang="ru-RU" sz="2000" dirty="0">
                <a:solidFill>
                  <a:srgbClr val="333333"/>
                </a:solidFill>
                <a:latin typeface="Montserrat Light" panose="00000400000000000000"/>
              </a:rPr>
              <a:t>. </a:t>
            </a:r>
            <a:endParaRPr lang="ru-RU" altLang="ru-RU" sz="2000" dirty="0" smtClean="0">
              <a:solidFill>
                <a:srgbClr val="333333"/>
              </a:solidFill>
              <a:latin typeface="Montserrat Light" panose="0000040000000000000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2000" dirty="0" smtClean="0">
              <a:solidFill>
                <a:srgbClr val="333333"/>
              </a:solidFill>
              <a:latin typeface="Montserrat Light" panose="0000040000000000000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000" dirty="0" smtClean="0">
                <a:solidFill>
                  <a:srgbClr val="333333"/>
                </a:solidFill>
                <a:latin typeface="Montserrat Light" panose="00000400000000000000"/>
              </a:rPr>
              <a:t>Готовя </a:t>
            </a:r>
            <a:r>
              <a:rPr lang="ru-RU" altLang="ru-RU" sz="2000" dirty="0" err="1">
                <a:solidFill>
                  <a:srgbClr val="333333"/>
                </a:solidFill>
                <a:latin typeface="Montserrat Light" panose="00000400000000000000"/>
              </a:rPr>
              <a:t>Dockerfile</a:t>
            </a:r>
            <a:r>
              <a:rPr lang="ru-RU" altLang="ru-RU" sz="2000" dirty="0">
                <a:solidFill>
                  <a:srgbClr val="333333"/>
                </a:solidFill>
                <a:latin typeface="Montserrat Light" panose="00000400000000000000"/>
              </a:rPr>
              <a:t>, не </a:t>
            </a:r>
            <a:r>
              <a:rPr lang="ru-RU" altLang="ru-RU" sz="2000" dirty="0" smtClean="0">
                <a:solidFill>
                  <a:srgbClr val="333333"/>
                </a:solidFill>
                <a:latin typeface="Montserrat Light" panose="00000400000000000000"/>
              </a:rPr>
              <a:t>забывать </a:t>
            </a:r>
            <a:r>
              <a:rPr lang="ru-RU" altLang="ru-RU" sz="2000" dirty="0">
                <a:solidFill>
                  <a:srgbClr val="333333"/>
                </a:solidFill>
                <a:latin typeface="Montserrat Light" panose="00000400000000000000"/>
              </a:rPr>
              <a:t>об инструкции CMD или ENTRYPOINT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1800" dirty="0">
              <a:solidFill>
                <a:srgbClr val="333333"/>
              </a:solidFill>
              <a:latin typeface="Montserrat Light" panose="000004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1303681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dirty="0">
                <a:latin typeface="Montserrat" pitchFamily="2" charset="0"/>
              </a:rPr>
              <a:t>Инструкция </a:t>
            </a:r>
            <a:r>
              <a:rPr lang="en-US" dirty="0">
                <a:latin typeface="Montserrat" pitchFamily="2" charset="0"/>
              </a:rPr>
              <a:t>ENTRYPOINT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0214"/>
            <a:ext cx="10515600" cy="4420658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В документации к </a:t>
            </a:r>
            <a:r>
              <a:rPr lang="ru-RU" altLang="ru-RU" sz="2200" dirty="0" err="1">
                <a:solidFill>
                  <a:srgbClr val="333333"/>
                </a:solidFill>
                <a:latin typeface="Montserrat Light" panose="00000400000000000000"/>
              </a:rPr>
              <a:t>Docker</a:t>
            </a: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 есть несколько рекомендаций, касающихся того, какую инструкцию, </a:t>
            </a:r>
            <a:r>
              <a:rPr lang="ru-RU" altLang="ru-RU" sz="2200" b="1" dirty="0">
                <a:solidFill>
                  <a:srgbClr val="333333"/>
                </a:solidFill>
                <a:latin typeface="Montserrat Light" panose="00000400000000000000"/>
              </a:rPr>
              <a:t>CMD</a:t>
            </a: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 или </a:t>
            </a:r>
            <a:r>
              <a:rPr lang="ru-RU" altLang="ru-RU" sz="2200" b="1" dirty="0">
                <a:solidFill>
                  <a:srgbClr val="333333"/>
                </a:solidFill>
                <a:latin typeface="Montserrat Light" panose="00000400000000000000"/>
              </a:rPr>
              <a:t>ENTRYPOINT</a:t>
            </a: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, стоит выбрать в качестве инструмента для выполнения команд при запуске контейнера:</a:t>
            </a:r>
            <a:b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</a:br>
            <a:endParaRPr lang="ru-RU" altLang="ru-RU" sz="2200" dirty="0">
              <a:solidFill>
                <a:srgbClr val="333333"/>
              </a:solidFill>
              <a:latin typeface="Montserrat Light" panose="00000400000000000000"/>
            </a:endParaRPr>
          </a:p>
          <a:p>
            <a:pPr marL="0" indent="360363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Если при каждом запуске контейнера нужно выполнять одну и ту же команду — используйте </a:t>
            </a:r>
            <a:r>
              <a:rPr lang="ru-RU" altLang="ru-RU" sz="2200" b="1" dirty="0">
                <a:solidFill>
                  <a:srgbClr val="333333"/>
                </a:solidFill>
                <a:latin typeface="Montserrat Light" panose="00000400000000000000"/>
              </a:rPr>
              <a:t>ENTRYPOINT</a:t>
            </a: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.</a:t>
            </a:r>
          </a:p>
          <a:p>
            <a:pPr marL="0" indent="360363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Если контейнер будет использоваться в роли приложения — используйте </a:t>
            </a:r>
            <a:r>
              <a:rPr lang="ru-RU" altLang="ru-RU" sz="2200" b="1" dirty="0">
                <a:solidFill>
                  <a:srgbClr val="333333"/>
                </a:solidFill>
                <a:latin typeface="Montserrat Light" panose="00000400000000000000"/>
              </a:rPr>
              <a:t>ENTRYPOINT</a:t>
            </a: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.</a:t>
            </a:r>
          </a:p>
          <a:p>
            <a:pPr marL="0" indent="360363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Если вы знаете, что при запуске контейнера вам понадобится передавать ему аргументы, которые могут перезаписывать аргументы, указанные в </a:t>
            </a:r>
            <a:r>
              <a:rPr lang="ru-RU" altLang="ru-RU" sz="2200" dirty="0" err="1">
                <a:solidFill>
                  <a:srgbClr val="333333"/>
                </a:solidFill>
                <a:latin typeface="Montserrat Light" panose="00000400000000000000"/>
              </a:rPr>
              <a:t>Dockerfile</a:t>
            </a:r>
            <a:r>
              <a:rPr lang="ru-RU" altLang="ru-RU" sz="2200" dirty="0">
                <a:solidFill>
                  <a:srgbClr val="333333"/>
                </a:solidFill>
                <a:latin typeface="Montserrat Light" panose="00000400000000000000"/>
              </a:rPr>
              <a:t>, используйте </a:t>
            </a:r>
            <a:r>
              <a:rPr lang="ru-RU" altLang="ru-RU" sz="2200" b="1" dirty="0">
                <a:solidFill>
                  <a:srgbClr val="333333"/>
                </a:solidFill>
                <a:latin typeface="Montserrat Light" panose="00000400000000000000"/>
              </a:rPr>
              <a:t>CMD</a:t>
            </a:r>
            <a:r>
              <a:rPr lang="ru-RU" altLang="ru-RU" sz="2200" dirty="0" smtClean="0">
                <a:solidFill>
                  <a:srgbClr val="333333"/>
                </a:solidFill>
                <a:latin typeface="Montserrat Light" panose="00000400000000000000"/>
              </a:rPr>
              <a:t>.</a:t>
            </a:r>
            <a:endParaRPr lang="ru-RU" altLang="ru-RU" sz="2200" dirty="0">
              <a:solidFill>
                <a:srgbClr val="333333"/>
              </a:solidFill>
              <a:latin typeface="Montserrat Light" panose="000004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1332796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dirty="0">
                <a:latin typeface="Montserrat" pitchFamily="2" charset="0"/>
              </a:rPr>
              <a:t>Инструкция </a:t>
            </a:r>
            <a:r>
              <a:rPr lang="en-US" dirty="0">
                <a:latin typeface="Montserrat" pitchFamily="2" charset="0"/>
              </a:rPr>
              <a:t>EXPOSE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8668"/>
            <a:ext cx="10515600" cy="4420658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400" dirty="0">
                <a:solidFill>
                  <a:srgbClr val="333333"/>
                </a:solidFill>
                <a:latin typeface="Montserrat Light" panose="00000400000000000000"/>
              </a:rPr>
              <a:t>Инструкция EXPOSE указывает на то, какие порты планируется открыть для того, чтобы через них можно было бы связаться с работающим контейнером. Эта инструкция не открывает порты. Она, скорее, играет роль документации к образу, средством общения того, кто собирает образ, и того, кто запускает контейнер.</a:t>
            </a:r>
            <a:br>
              <a:rPr lang="ru-RU" altLang="ru-RU" sz="2400" dirty="0">
                <a:solidFill>
                  <a:srgbClr val="333333"/>
                </a:solidFill>
                <a:latin typeface="Montserrat Light" panose="00000400000000000000"/>
              </a:rPr>
            </a:br>
            <a:r>
              <a:rPr lang="ru-RU" altLang="ru-RU" sz="2400" dirty="0">
                <a:solidFill>
                  <a:srgbClr val="333333"/>
                </a:solidFill>
                <a:latin typeface="Montserrat Light" panose="00000400000000000000"/>
              </a:rPr>
              <a:t/>
            </a:r>
            <a:br>
              <a:rPr lang="ru-RU" altLang="ru-RU" sz="2400" dirty="0">
                <a:solidFill>
                  <a:srgbClr val="333333"/>
                </a:solidFill>
                <a:latin typeface="Montserrat Light" panose="00000400000000000000"/>
              </a:rPr>
            </a:br>
            <a:r>
              <a:rPr lang="ru-RU" altLang="ru-RU" sz="2400" dirty="0">
                <a:solidFill>
                  <a:srgbClr val="333333"/>
                </a:solidFill>
                <a:latin typeface="Montserrat Light" panose="00000400000000000000"/>
              </a:rPr>
              <a:t>Для того чтобы открыть порт (или порты) и настроить перенаправление портов, нужно выполнить команду </a:t>
            </a:r>
            <a:r>
              <a:rPr lang="ru-RU" altLang="ru-RU" sz="2400" dirty="0" err="1">
                <a:solidFill>
                  <a:srgbClr val="333333"/>
                </a:solidFill>
                <a:latin typeface="Montserrat Light" panose="00000400000000000000"/>
              </a:rPr>
              <a:t>docker</a:t>
            </a:r>
            <a:r>
              <a:rPr lang="ru-RU" altLang="ru-RU" sz="2400" dirty="0">
                <a:solidFill>
                  <a:srgbClr val="333333"/>
                </a:solidFill>
                <a:latin typeface="Montserrat Light" panose="00000400000000000000"/>
              </a:rPr>
              <a:t> </a:t>
            </a:r>
            <a:r>
              <a:rPr lang="ru-RU" altLang="ru-RU" sz="2400" dirty="0" err="1">
                <a:solidFill>
                  <a:srgbClr val="333333"/>
                </a:solidFill>
                <a:latin typeface="Montserrat Light" panose="00000400000000000000"/>
              </a:rPr>
              <a:t>run</a:t>
            </a:r>
            <a:r>
              <a:rPr lang="ru-RU" altLang="ru-RU" sz="2400" dirty="0">
                <a:solidFill>
                  <a:srgbClr val="333333"/>
                </a:solidFill>
                <a:latin typeface="Montserrat Light" panose="00000400000000000000"/>
              </a:rPr>
              <a:t> с ключом -p. Если использовать ключ в виде -P (с заглавной буквой P), то открыты будут все порты, указанные в инструкции EXPOSE.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1800" dirty="0">
              <a:solidFill>
                <a:srgbClr val="333333"/>
              </a:solidFill>
              <a:latin typeface="Montserrat Light" panose="000004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548247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r>
              <a:rPr lang="ru-RU" dirty="0">
                <a:latin typeface="Montserrat" pitchFamily="2" charset="0"/>
              </a:rPr>
              <a:t>Инструкция </a:t>
            </a:r>
            <a:r>
              <a:rPr lang="en-US" dirty="0">
                <a:latin typeface="Montserrat" pitchFamily="2" charset="0"/>
              </a:rPr>
              <a:t>VOLUME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20658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400" dirty="0">
                <a:solidFill>
                  <a:srgbClr val="333333"/>
                </a:solidFill>
                <a:latin typeface="Montserrat Light" panose="00000400000000000000"/>
              </a:rPr>
              <a:t>Инструкция VOLUME позволяет указать место, которое контейнер будет использовать для постоянного хранения файлов и для работы с такими файлами.</a:t>
            </a:r>
          </a:p>
        </p:txBody>
      </p:sp>
    </p:spTree>
    <p:extLst>
      <p:ext uri="{BB962C8B-B14F-4D97-AF65-F5344CB8AC3E}">
        <p14:creationId xmlns:p14="http://schemas.microsoft.com/office/powerpoint/2010/main" val="310751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8668"/>
            <a:ext cx="10515600" cy="4420658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1800" dirty="0">
              <a:solidFill>
                <a:srgbClr val="333333"/>
              </a:solidFill>
              <a:latin typeface="Montserrat Light" panose="000004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430511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E3458-FC10-9842-AC9F-B9D133F8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71"/>
            <a:ext cx="10515600" cy="925917"/>
          </a:xfrm>
        </p:spPr>
        <p:txBody>
          <a:bodyPr anchor="ctr"/>
          <a:lstStyle/>
          <a:p>
            <a:pPr algn="ctr"/>
            <a:endParaRPr lang="ru-RU" dirty="0">
              <a:latin typeface="Montserrat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8668"/>
            <a:ext cx="10515600" cy="4420658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1800" dirty="0">
              <a:solidFill>
                <a:srgbClr val="333333"/>
              </a:solidFill>
              <a:latin typeface="Montserrat Light" panose="000004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2750110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1FFA91-7752-8C4B-9F81-A7F28379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8490"/>
            <a:ext cx="10515600" cy="4351338"/>
          </a:xfrm>
        </p:spPr>
        <p:txBody>
          <a:bodyPr>
            <a:no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dirty="0" smtClean="0">
                <a:latin typeface="Montserrat Light" panose="00000400000000000000"/>
              </a:rPr>
              <a:t>Источники: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dirty="0">
                <a:latin typeface="Montserrat Light" panose="00000400000000000000"/>
              </a:rPr>
              <a:t>Изучаем </a:t>
            </a:r>
            <a:r>
              <a:rPr lang="ru-RU" dirty="0" err="1">
                <a:latin typeface="Montserrat Light" panose="00000400000000000000"/>
              </a:rPr>
              <a:t>Docker</a:t>
            </a:r>
            <a:r>
              <a:rPr lang="ru-RU" dirty="0">
                <a:latin typeface="Montserrat Light" panose="00000400000000000000"/>
              </a:rPr>
              <a:t>, </a:t>
            </a:r>
            <a:r>
              <a:rPr lang="ru-RU" dirty="0" smtClean="0">
                <a:latin typeface="Montserrat Light" panose="00000400000000000000"/>
              </a:rPr>
              <a:t>часть </a:t>
            </a:r>
            <a:r>
              <a:rPr lang="ru-RU" dirty="0">
                <a:latin typeface="Montserrat Light" panose="00000400000000000000"/>
              </a:rPr>
              <a:t>6: работа с данными / </a:t>
            </a:r>
            <a:r>
              <a:rPr lang="ru-RU" dirty="0" err="1">
                <a:latin typeface="Montserrat Light" panose="00000400000000000000"/>
              </a:rPr>
              <a:t>Хабр</a:t>
            </a:r>
            <a:r>
              <a:rPr lang="ru-RU" dirty="0">
                <a:latin typeface="Montserrat Light" panose="00000400000000000000"/>
              </a:rPr>
              <a:t> (habr.com</a:t>
            </a:r>
            <a:r>
              <a:rPr lang="ru-RU" dirty="0" smtClean="0">
                <a:latin typeface="Montserrat Light" panose="00000400000000000000"/>
              </a:rPr>
              <a:t>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dirty="0">
                <a:latin typeface="Montserrat Light" panose="00000400000000000000"/>
              </a:rPr>
              <a:t>Сети </a:t>
            </a:r>
            <a:r>
              <a:rPr lang="en-US" dirty="0"/>
              <a:t>Docker </a:t>
            </a:r>
            <a:r>
              <a:rPr lang="ru-RU" dirty="0">
                <a:latin typeface="Montserrat Light" panose="00000400000000000000"/>
              </a:rPr>
              <a:t>изнутри: как </a:t>
            </a:r>
            <a:r>
              <a:rPr lang="en-US" dirty="0"/>
              <a:t>Docker </a:t>
            </a:r>
            <a:r>
              <a:rPr lang="ru-RU" dirty="0">
                <a:latin typeface="Montserrat Light" panose="00000400000000000000"/>
              </a:rPr>
              <a:t>использует </a:t>
            </a:r>
            <a:r>
              <a:rPr lang="en-US" dirty="0" err="1"/>
              <a:t>iptables</a:t>
            </a:r>
            <a:r>
              <a:rPr lang="en-US" dirty="0"/>
              <a:t> </a:t>
            </a:r>
            <a:r>
              <a:rPr lang="ru-RU" dirty="0">
                <a:latin typeface="Montserrat Light" panose="00000400000000000000"/>
              </a:rPr>
              <a:t>и интерфейсы </a:t>
            </a:r>
            <a:r>
              <a:rPr lang="en-US" dirty="0"/>
              <a:t>Linux / </a:t>
            </a:r>
            <a:r>
              <a:rPr lang="ru-RU" dirty="0" err="1">
                <a:latin typeface="Montserrat Light" panose="00000400000000000000"/>
              </a:rPr>
              <a:t>Хабр</a:t>
            </a:r>
            <a:r>
              <a:rPr lang="ru-RU" dirty="0">
                <a:latin typeface="Montserrat Light" panose="00000400000000000000"/>
              </a:rPr>
              <a:t> (</a:t>
            </a:r>
            <a:r>
              <a:rPr lang="en-US" dirty="0"/>
              <a:t>habr.com</a:t>
            </a:r>
            <a:r>
              <a:rPr lang="en-US" dirty="0" smtClean="0"/>
              <a:t>)</a:t>
            </a:r>
            <a:endParaRPr lang="ru-RU" dirty="0" smtClean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dirty="0">
                <a:latin typeface="Montserrat Light" panose="00000400000000000000"/>
              </a:rPr>
              <a:t>Изучаем </a:t>
            </a:r>
            <a:r>
              <a:rPr lang="en-US" dirty="0"/>
              <a:t>Docker, </a:t>
            </a:r>
            <a:r>
              <a:rPr lang="ru-RU" dirty="0">
                <a:latin typeface="Montserrat Light" panose="00000400000000000000"/>
              </a:rPr>
              <a:t>часть 3: файлы </a:t>
            </a:r>
            <a:r>
              <a:rPr lang="en-US" dirty="0" err="1"/>
              <a:t>Dockerfile</a:t>
            </a:r>
            <a:r>
              <a:rPr lang="en-US" dirty="0"/>
              <a:t> / </a:t>
            </a:r>
            <a:r>
              <a:rPr lang="ru-RU" dirty="0" err="1">
                <a:latin typeface="Montserrat Light" panose="00000400000000000000"/>
              </a:rPr>
              <a:t>Хабр</a:t>
            </a:r>
            <a:r>
              <a:rPr lang="ru-RU" dirty="0">
                <a:latin typeface="Montserrat Light" panose="00000400000000000000"/>
              </a:rPr>
              <a:t> (</a:t>
            </a:r>
            <a:r>
              <a:rPr lang="en-US" dirty="0"/>
              <a:t>habr.com</a:t>
            </a:r>
            <a:r>
              <a:rPr lang="en-US" dirty="0" smtClean="0"/>
              <a:t>)</a:t>
            </a:r>
            <a:endParaRPr lang="ru-RU" dirty="0" smtClean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dirty="0">
                <a:latin typeface="Montserrat Light" panose="00000400000000000000"/>
              </a:rPr>
              <a:t>Руководство по </a:t>
            </a:r>
            <a:r>
              <a:rPr lang="ru-RU" dirty="0" err="1">
                <a:latin typeface="Montserrat Light" panose="00000400000000000000"/>
              </a:rPr>
              <a:t>Docker</a:t>
            </a:r>
            <a:r>
              <a:rPr lang="ru-RU" dirty="0">
                <a:latin typeface="Montserrat Light" panose="00000400000000000000"/>
              </a:rPr>
              <a:t> </a:t>
            </a:r>
            <a:r>
              <a:rPr lang="ru-RU" dirty="0" err="1">
                <a:latin typeface="Montserrat Light" panose="00000400000000000000"/>
              </a:rPr>
              <a:t>Compose</a:t>
            </a:r>
            <a:r>
              <a:rPr lang="ru-RU" dirty="0">
                <a:latin typeface="Montserrat Light" panose="00000400000000000000"/>
              </a:rPr>
              <a:t> для начинающих / </a:t>
            </a:r>
            <a:r>
              <a:rPr lang="ru-RU" dirty="0" err="1">
                <a:latin typeface="Montserrat Light" panose="00000400000000000000"/>
              </a:rPr>
              <a:t>Хабр</a:t>
            </a:r>
            <a:r>
              <a:rPr lang="ru-RU" dirty="0">
                <a:latin typeface="Montserrat Light" panose="00000400000000000000"/>
              </a:rPr>
              <a:t> (habr.com</a:t>
            </a:r>
            <a:r>
              <a:rPr lang="ru-RU" dirty="0" smtClean="0">
                <a:latin typeface="Montserrat Light" panose="00000400000000000000"/>
              </a:rPr>
              <a:t>)</a:t>
            </a:r>
            <a:endParaRPr lang="ru-RU" dirty="0">
              <a:latin typeface="Montserrat Light" panose="000004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2242822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1069</TotalTime>
  <Words>4016</Words>
  <Application>Microsoft Office PowerPoint</Application>
  <PresentationFormat>Произвольный</PresentationFormat>
  <Paragraphs>440</Paragraphs>
  <Slides>88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88</vt:i4>
      </vt:variant>
    </vt:vector>
  </HeadingPairs>
  <TitlesOfParts>
    <vt:vector size="89" baseType="lpstr">
      <vt:lpstr>Тема Office</vt:lpstr>
      <vt:lpstr>ОСНОВЫ РАБОТЫ С DOCKER</vt:lpstr>
      <vt:lpstr>Введение</vt:lpstr>
      <vt:lpstr>Введение</vt:lpstr>
      <vt:lpstr>Введение</vt:lpstr>
      <vt:lpstr>Введение</vt:lpstr>
      <vt:lpstr>Введение</vt:lpstr>
      <vt:lpstr>Введение</vt:lpstr>
      <vt:lpstr>Введение</vt:lpstr>
      <vt:lpstr>Введение</vt:lpstr>
      <vt:lpstr>Введение</vt:lpstr>
      <vt:lpstr>Введение</vt:lpstr>
      <vt:lpstr>Определения</vt:lpstr>
      <vt:lpstr>Определения</vt:lpstr>
      <vt:lpstr>Определения</vt:lpstr>
      <vt:lpstr>Введение</vt:lpstr>
      <vt:lpstr>Введение</vt:lpstr>
      <vt:lpstr>Установка Docker</vt:lpstr>
      <vt:lpstr>Настройка репозитория</vt:lpstr>
      <vt:lpstr>Установка Engine</vt:lpstr>
      <vt:lpstr>Hello-World образ</vt:lpstr>
      <vt:lpstr>Hello-World образ</vt:lpstr>
      <vt:lpstr>Создание образа Docker</vt:lpstr>
      <vt:lpstr>Введение</vt:lpstr>
      <vt:lpstr>Синтаксис команды docker run</vt:lpstr>
      <vt:lpstr>Синтаксис команды docker run</vt:lpstr>
      <vt:lpstr>Синтаксис команды docker run</vt:lpstr>
      <vt:lpstr>Синтаксис команды docker run</vt:lpstr>
      <vt:lpstr>Синтаксис команды docker run</vt:lpstr>
      <vt:lpstr>Синтаксис команды docker run</vt:lpstr>
      <vt:lpstr>Синтаксис команды docker run</vt:lpstr>
      <vt:lpstr>Синтаксис команды docker run</vt:lpstr>
      <vt:lpstr>Синтаксис команды docker run</vt:lpstr>
      <vt:lpstr>Сети в Docker</vt:lpstr>
      <vt:lpstr>Введение</vt:lpstr>
      <vt:lpstr>Введение</vt:lpstr>
      <vt:lpstr>Введение</vt:lpstr>
      <vt:lpstr>Сети типа мост (bridge)</vt:lpstr>
      <vt:lpstr>Сети типа мост (bridge)</vt:lpstr>
      <vt:lpstr>Сети типа мост (bridge)</vt:lpstr>
      <vt:lpstr>Bridge-интерфейсы в Linux</vt:lpstr>
      <vt:lpstr>Итог</vt:lpstr>
      <vt:lpstr>Docker volumes</vt:lpstr>
      <vt:lpstr>Введение</vt:lpstr>
      <vt:lpstr>Введение</vt:lpstr>
      <vt:lpstr>Постоянное хранение данных</vt:lpstr>
      <vt:lpstr>Постоянное хранение данных</vt:lpstr>
      <vt:lpstr>Тома Docker</vt:lpstr>
      <vt:lpstr>Тома Docker</vt:lpstr>
      <vt:lpstr>Тома Docker</vt:lpstr>
      <vt:lpstr>Тома Docker</vt:lpstr>
      <vt:lpstr>Тома Docker</vt:lpstr>
      <vt:lpstr>Тома Docker</vt:lpstr>
      <vt:lpstr>Тома Docker</vt:lpstr>
      <vt:lpstr>Docker compose</vt:lpstr>
      <vt:lpstr>Введение</vt:lpstr>
      <vt:lpstr>Введение</vt:lpstr>
      <vt:lpstr>Введение</vt:lpstr>
      <vt:lpstr> Создание проекта</vt:lpstr>
      <vt:lpstr>Синтаксис</vt:lpstr>
      <vt:lpstr>Введение</vt:lpstr>
      <vt:lpstr>Презентация PowerPoint</vt:lpstr>
      <vt:lpstr>Введение</vt:lpstr>
      <vt:lpstr>Dockefile</vt:lpstr>
      <vt:lpstr>Введение</vt:lpstr>
      <vt:lpstr>Введение</vt:lpstr>
      <vt:lpstr>Введение</vt:lpstr>
      <vt:lpstr>Введение</vt:lpstr>
      <vt:lpstr>инструкции Dockerfile</vt:lpstr>
      <vt:lpstr>инструкции Dockerfile</vt:lpstr>
      <vt:lpstr>Пример</vt:lpstr>
      <vt:lpstr>Инструкция FROM</vt:lpstr>
      <vt:lpstr>Инструкция FROM</vt:lpstr>
      <vt:lpstr>Инструкция FROM</vt:lpstr>
      <vt:lpstr>Инструкция LABEL</vt:lpstr>
      <vt:lpstr>Инструкция ENV</vt:lpstr>
      <vt:lpstr>Инструкция RUN</vt:lpstr>
      <vt:lpstr>Инструкция COPY</vt:lpstr>
      <vt:lpstr>Инструкция ADD</vt:lpstr>
      <vt:lpstr>Инструкция CMD</vt:lpstr>
      <vt:lpstr>Инструкция WORKDIR</vt:lpstr>
      <vt:lpstr>Инструкция ARG</vt:lpstr>
      <vt:lpstr>Инструкция ENTRYPOINT</vt:lpstr>
      <vt:lpstr>Инструкция ENTRYPOINT</vt:lpstr>
      <vt:lpstr>Инструкция EXPOSE</vt:lpstr>
      <vt:lpstr>Инструкция VOLUME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РАБОТЫ С LINUX</dc:title>
  <dc:creator>Yakov Bederdinov</dc:creator>
  <cp:lastModifiedBy>Вологжанин Никита Андреевич</cp:lastModifiedBy>
  <cp:revision>44</cp:revision>
  <dcterms:created xsi:type="dcterms:W3CDTF">2022-10-01T12:44:41Z</dcterms:created>
  <dcterms:modified xsi:type="dcterms:W3CDTF">2026-04-03T06:25:47Z</dcterms:modified>
</cp:coreProperties>
</file>